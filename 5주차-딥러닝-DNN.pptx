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87" r:id="rId2"/>
    <p:sldId id="492" r:id="rId3"/>
    <p:sldId id="493" r:id="rId4"/>
    <p:sldId id="494" r:id="rId5"/>
    <p:sldId id="495" r:id="rId6"/>
    <p:sldId id="496" r:id="rId7"/>
    <p:sldId id="497" r:id="rId8"/>
    <p:sldId id="508" r:id="rId9"/>
    <p:sldId id="509" r:id="rId10"/>
    <p:sldId id="510" r:id="rId11"/>
    <p:sldId id="511" r:id="rId12"/>
    <p:sldId id="512" r:id="rId13"/>
    <p:sldId id="498" r:id="rId14"/>
    <p:sldId id="513" r:id="rId15"/>
    <p:sldId id="514" r:id="rId16"/>
    <p:sldId id="515" r:id="rId17"/>
    <p:sldId id="516" r:id="rId18"/>
    <p:sldId id="517" r:id="rId19"/>
    <p:sldId id="518" r:id="rId20"/>
    <p:sldId id="520" r:id="rId21"/>
    <p:sldId id="519" r:id="rId22"/>
    <p:sldId id="521" r:id="rId23"/>
    <p:sldId id="522" r:id="rId24"/>
    <p:sldId id="523" r:id="rId25"/>
    <p:sldId id="526" r:id="rId26"/>
    <p:sldId id="438" r:id="rId27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1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DE57BD7-6E0A-4654-8A8E-45C9B546C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90836C-64D8-4B00-AF23-4EC6ECD071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A3DF36-72CB-4BD0-95EF-0A4C8AB0C029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CE8BD2C-751C-4D6A-BAA0-6B48B088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19AC6DE-15A7-4637-BE2A-1F6A92DAA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6FB4F-BC62-43BA-8162-7B34D70C09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F8414-35E0-440F-9014-C342F8BBA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53F1AAE-D5E4-44D4-AE0C-3A0245E2814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991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573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997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424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070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833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246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189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464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240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701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765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661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65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923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541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24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3116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721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56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169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5476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155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4274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>
            <a:extLst>
              <a:ext uri="{FF2B5EF4-FFF2-40B4-BE49-F238E27FC236}">
                <a16:creationId xmlns:a16="http://schemas.microsoft.com/office/drawing/2014/main" id="{7D134615-8354-4988-90A3-ACC602B44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>
            <a:extLst>
              <a:ext uri="{FF2B5EF4-FFF2-40B4-BE49-F238E27FC236}">
                <a16:creationId xmlns:a16="http://schemas.microsoft.com/office/drawing/2014/main" id="{09D80C2F-1DF4-4032-9AAC-F267E4782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9332" name="슬라이드 번호 개체 틀 3">
            <a:extLst>
              <a:ext uri="{FF2B5EF4-FFF2-40B4-BE49-F238E27FC236}">
                <a16:creationId xmlns:a16="http://schemas.microsoft.com/office/drawing/2014/main" id="{B606F641-B9C1-42A4-B9E0-4AE21EF710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78118F-0833-4CE6-ACF9-EDCD7E8F2FDC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168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3E70D-639B-4F24-9546-1A1D88E92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29BD01-DB6D-481D-8812-AC619E82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B16EF-AF43-443C-964F-E3637FED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93F610-EC9F-49AF-BEE7-BFECFBEE6B62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4EA2F-911D-48DE-8BEF-3CAA8C66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EBBB8-3312-4ED0-8229-46139B8B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58AB4F4-AAE8-4439-8C60-54BA36FC84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4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769A8-9AF7-406A-9493-ABFDEEB6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DFD6-07A0-4F2E-AAA4-B8EBF1FD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2C10F-8AD1-4CEE-B22F-D5531E7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7DEF653-2431-4A0E-9654-9ACB9D51FBE7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35EECA-72DC-4BD4-B0AB-FA64181B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0EC19-3B01-4402-96B5-C499BD89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4E1167C-F991-4836-8C18-AE230C6BF58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6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4FECC-54DA-4AE7-A17E-22058E2C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DFE1E-F1FA-45E7-983F-80552D737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EA5F0-8154-43A8-8D33-471531B1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F262E2-F89F-4A75-B54F-D6A8EF2BF1D9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14E77-F129-48B9-AC09-211BAEF7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B410-842C-48FF-BFF7-119062E7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938400F-1A3B-4F2D-8A86-FE81616170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64CD-C159-42EE-9204-80C8CA9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E1860-5D8C-4122-8171-2DF7F74BE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30E9D-78D7-42AB-BE75-DCC781A2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BC3B4-068C-4788-9769-E92FD962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3B8D971-5704-4145-A919-9D554FEA486D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FBA1-12A0-4947-A3CD-1A8E91F7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A3913B-B113-47D4-84EA-EB643657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363F4B-481F-40B9-AF0B-5BC614D296D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0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7A24-C952-4A9A-B023-1E809E30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70054-A956-453B-ADB4-760D845B6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8F5E92-8FF3-47E1-B76E-9ED7E685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61E73-1E7C-48BE-A066-63000949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D66483-D5D0-4515-BE36-5F119859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514F2B-EEC2-4AB0-B950-A46D79B5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B7BDD3F-43B3-4C4F-8D08-A54CB3D7E68D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24F9E2-F0E1-41AA-BCF4-EE8BAA01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F09759-156F-4647-9F42-84D66ABF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5DD5644-BEC7-463E-B6D9-F45E0D6469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BF5D4-9CC4-443F-A94E-0956745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FE8C62-0803-48ED-A0C0-4641E342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3355378-CBBB-46C3-9CB1-42FDE5043C5B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B9E311-E6EA-4E0E-908C-3C6DB9F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0BB1C2-B304-4BA4-8AC9-50C1E26F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12DAEF-D8BE-4A95-9621-3C7C61594A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610685-5AA5-4BCE-A1A5-33921F02192B}"/>
              </a:ext>
            </a:extLst>
          </p:cNvPr>
          <p:cNvSpPr/>
          <p:nvPr userDrawn="1"/>
        </p:nvSpPr>
        <p:spPr>
          <a:xfrm>
            <a:off x="0" y="0"/>
            <a:ext cx="12192000" cy="90646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37423A-65A9-4B83-BDCA-3F6F474D4956}"/>
              </a:ext>
            </a:extLst>
          </p:cNvPr>
          <p:cNvSpPr/>
          <p:nvPr userDrawn="1"/>
        </p:nvSpPr>
        <p:spPr>
          <a:xfrm>
            <a:off x="0" y="6375400"/>
            <a:ext cx="12192000" cy="5159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바닥글 개체 틀 2">
            <a:extLst>
              <a:ext uri="{FF2B5EF4-FFF2-40B4-BE49-F238E27FC236}">
                <a16:creationId xmlns:a16="http://schemas.microsoft.com/office/drawing/2014/main" id="{03C89755-87E1-4D6C-B740-03B4E772C406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빅데이터분석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737D079-2C0D-4521-A876-B9F4A5FA5F09}"/>
              </a:ext>
            </a:extLst>
          </p:cNvPr>
          <p:cNvSpPr txBox="1">
            <a:spLocks/>
          </p:cNvSpPr>
          <p:nvPr userDrawn="1"/>
        </p:nvSpPr>
        <p:spPr>
          <a:xfrm>
            <a:off x="9281720" y="645242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A57A4BD-6EDC-46A2-834B-61CF7CE0EBB4}" type="slidenum">
              <a:rPr lang="ko-KR" altLang="en-US" sz="1400" b="1" smtClean="0">
                <a:highlight>
                  <a:srgbClr val="FFFF00"/>
                </a:highlight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4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9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E6E4C-8DC1-4A6E-90F7-4279984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BCDBD-ABFC-4B82-96DF-BB8BEE9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6CFB77-90F2-48E2-8A9E-01A4DBE30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036D9-3BB3-46E6-B802-D293EB26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58422B7-24C4-472A-88B6-6AA6CE96B749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36836-273F-4845-A376-2720054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74232-E956-49BA-BDA5-BA77544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0B0596-D5FC-4448-AEED-9D0327509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98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7DCA-43CC-47A7-88FB-A41ECEC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237996-607D-4B3D-BAC5-25D979EA0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9851F2-09B6-4956-9BF0-DFEF038C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C56C3-12A8-4759-8E4A-40EA84B3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7EDF4F-80DE-426F-943F-FF36A6E1559A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A47C3B-8032-4D3E-A47B-4B42405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CFC89-AEEF-4956-BE87-8BC4DE09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96D3F32-FF73-4782-9A44-4690EBFCA6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1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2C7B6-4FA9-4E7B-80EB-4943C2A9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FEE5A-6421-4F73-841B-000457CED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BDD94-E9E6-406E-A82E-C020B841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8A923E1-B626-4A76-A4A7-3115B0A6081E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FED8-F9E0-4F82-881D-E9B65891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BB101-8682-41CF-889C-33F581D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FA2CD7F-A1BC-4C3E-B760-D215897D13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9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15334E-4487-4417-967C-1054F7FAA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C0DBE-A6CA-4D05-A2C8-13FBC03B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B6FFD-80C7-4D3E-B5D7-444EFD0C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945837B-DF37-466E-9BF2-3F16DC998E80}" type="datetimeFigureOut">
              <a:rPr lang="ko-KR" altLang="en-US"/>
              <a:pPr>
                <a:defRPr/>
              </a:pPr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3EF1A-449A-4DB3-9434-6F6DB43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CB683-FD5A-4B72-BD46-BFF8BD5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A05E1FA-DA96-4D65-98BA-2FD6AD4227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0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86BCFE-0854-406E-BAA5-E392B5800975}"/>
              </a:ext>
            </a:extLst>
          </p:cNvPr>
          <p:cNvSpPr/>
          <p:nvPr userDrawn="1"/>
        </p:nvSpPr>
        <p:spPr>
          <a:xfrm>
            <a:off x="0" y="0"/>
            <a:ext cx="12192000" cy="7635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A93F6A-40FD-4B81-A662-D35E24C518E6}"/>
              </a:ext>
            </a:extLst>
          </p:cNvPr>
          <p:cNvSpPr/>
          <p:nvPr userDrawn="1"/>
        </p:nvSpPr>
        <p:spPr>
          <a:xfrm>
            <a:off x="0" y="6411913"/>
            <a:ext cx="12192000" cy="44608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바닥글 개체 틀 2">
            <a:extLst>
              <a:ext uri="{FF2B5EF4-FFF2-40B4-BE49-F238E27FC236}">
                <a16:creationId xmlns:a16="http://schemas.microsoft.com/office/drawing/2014/main" id="{AF16C193-7CA1-46B5-A79B-0B26BD580F18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딥러닝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1B77644E-9142-4F20-8A5E-A4B49795C21C}"/>
              </a:ext>
            </a:extLst>
          </p:cNvPr>
          <p:cNvSpPr txBox="1">
            <a:spLocks/>
          </p:cNvSpPr>
          <p:nvPr userDrawn="1"/>
        </p:nvSpPr>
        <p:spPr>
          <a:xfrm>
            <a:off x="9344025" y="6453188"/>
            <a:ext cx="2743200" cy="365125"/>
          </a:xfrm>
          <a:prstGeom prst="rect">
            <a:avLst/>
          </a:prstGeom>
          <a:noFill/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C3584EE-FCFA-4EFB-96C3-7202F341AB65}" type="slidenum">
              <a:rPr lang="ko-KR" altLang="en-US" sz="1600" b="1" smtClean="0">
                <a:solidFill>
                  <a:schemeClr val="bg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600" b="1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">
            <a:extLst>
              <a:ext uri="{FF2B5EF4-FFF2-40B4-BE49-F238E27FC236}">
                <a16:creationId xmlns:a16="http://schemas.microsoft.com/office/drawing/2014/main" id="{A7751103-04CE-4552-8DD0-29E3DCA86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6110" y="1281392"/>
            <a:ext cx="224773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ko-KR" altLang="en-US" sz="4800" b="1">
                <a:solidFill>
                  <a:srgbClr val="7030A0"/>
                </a:solidFill>
              </a:rPr>
              <a:t>딥러닝 </a:t>
            </a:r>
            <a:endParaRPr lang="ko-KR" altLang="en-US" sz="4800" b="1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0D86E-DDC0-41BE-B7BB-DEBBACD16BF7}"/>
              </a:ext>
            </a:extLst>
          </p:cNvPr>
          <p:cNvSpPr txBox="1"/>
          <p:nvPr/>
        </p:nvSpPr>
        <p:spPr>
          <a:xfrm>
            <a:off x="2907764" y="2209381"/>
            <a:ext cx="6376472" cy="156966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err="1">
                <a:solidFill>
                  <a:srgbClr val="002060"/>
                </a:solidFill>
                <a:latin typeface="+mn-lt"/>
                <a:ea typeface="+mn-ea"/>
              </a:rPr>
              <a:t>머신러닝</a:t>
            </a: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 기본 개념 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err="1">
                <a:solidFill>
                  <a:srgbClr val="002060"/>
                </a:solidFill>
                <a:latin typeface="+mn-lt"/>
                <a:ea typeface="+mn-ea"/>
              </a:rPr>
              <a:t>머신러닝</a:t>
            </a: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 기술원리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err="1">
                <a:solidFill>
                  <a:srgbClr val="002060"/>
                </a:solidFill>
                <a:latin typeface="+mn-lt"/>
                <a:ea typeface="+mn-ea"/>
              </a:rPr>
              <a:t>머신러닝</a:t>
            </a: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 주요 알고리즘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(DNN)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파이썬 실습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2937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 개념</a:t>
            </a:r>
            <a:r>
              <a:rPr lang="en-US" altLang="ko-KR" sz="2800" b="1">
                <a:solidFill>
                  <a:schemeClr val="bg1"/>
                </a:solidFill>
              </a:rPr>
              <a:t>(1/3)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DD4C81F-B3D8-4C3F-ADDD-7EC8E3DBC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12" y="1170526"/>
            <a:ext cx="7371122" cy="44324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FD8CA-1144-4F5C-85FE-FFD57F8904AD}"/>
              </a:ext>
            </a:extLst>
          </p:cNvPr>
          <p:cNvSpPr txBox="1"/>
          <p:nvPr/>
        </p:nvSpPr>
        <p:spPr>
          <a:xfrm>
            <a:off x="8355106" y="1290916"/>
            <a:ext cx="3244799" cy="923330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ko-KR" altLang="en-US"/>
              <a:t>귀</a:t>
            </a:r>
            <a:r>
              <a:rPr lang="en-US" altLang="ko-KR"/>
              <a:t>, </a:t>
            </a:r>
            <a:r>
              <a:rPr lang="ko-KR" altLang="en-US"/>
              <a:t>수염</a:t>
            </a:r>
            <a:r>
              <a:rPr lang="en-US" altLang="ko-KR"/>
              <a:t>, </a:t>
            </a:r>
            <a:r>
              <a:rPr lang="ko-KR" altLang="en-US"/>
              <a:t>입모양 등 특징</a:t>
            </a:r>
            <a:r>
              <a:rPr lang="en-US" altLang="ko-KR"/>
              <a:t>/</a:t>
            </a:r>
            <a:r>
              <a:rPr lang="ko-KR" altLang="en-US"/>
              <a:t>패턴</a:t>
            </a:r>
            <a:endParaRPr lang="en-US" altLang="ko-KR"/>
          </a:p>
          <a:p>
            <a:r>
              <a:rPr lang="ko-KR" altLang="en-US"/>
              <a:t>학습</a:t>
            </a:r>
            <a:endParaRPr lang="en-US" altLang="ko-KR"/>
          </a:p>
          <a:p>
            <a:r>
              <a:rPr lang="en-US" altLang="ko-KR"/>
              <a:t>=&gt; </a:t>
            </a:r>
            <a:r>
              <a:rPr lang="ko-KR" altLang="en-US"/>
              <a:t>딥러닝</a:t>
            </a:r>
            <a:r>
              <a:rPr lang="en-US" altLang="ko-KR"/>
              <a:t>/</a:t>
            </a:r>
            <a:r>
              <a:rPr lang="ko-KR" altLang="en-US"/>
              <a:t>머신러닝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6685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A88AB7-900F-4B00-AEFE-2341FE4BCE50}"/>
              </a:ext>
            </a:extLst>
          </p:cNvPr>
          <p:cNvSpPr txBox="1"/>
          <p:nvPr/>
        </p:nvSpPr>
        <p:spPr>
          <a:xfrm>
            <a:off x="4731684" y="134467"/>
            <a:ext cx="2937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 개념</a:t>
            </a:r>
            <a:r>
              <a:rPr lang="en-US" altLang="ko-KR" sz="2800" b="1">
                <a:solidFill>
                  <a:schemeClr val="bg1"/>
                </a:solidFill>
              </a:rPr>
              <a:t>(2/3)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3B325E7-EF9C-4845-8B84-3C3B37CB3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28" y="1199358"/>
            <a:ext cx="4893748" cy="1925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0C148F-6FEA-4742-9A14-A37480DC93AA}"/>
              </a:ext>
            </a:extLst>
          </p:cNvPr>
          <p:cNvSpPr txBox="1"/>
          <p:nvPr/>
        </p:nvSpPr>
        <p:spPr>
          <a:xfrm>
            <a:off x="1532965" y="329719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7030A0"/>
                </a:solidFill>
              </a:rPr>
              <a:t>머신러닝의 목표와 동일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EF066-3489-476E-A53E-2C7BEC079BD5}"/>
              </a:ext>
            </a:extLst>
          </p:cNvPr>
          <p:cNvSpPr txBox="1"/>
          <p:nvPr/>
        </p:nvSpPr>
        <p:spPr>
          <a:xfrm>
            <a:off x="2168949" y="3975859"/>
            <a:ext cx="170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solidFill>
                  <a:srgbClr val="00B050"/>
                </a:solidFill>
              </a:rPr>
              <a:t>y</a:t>
            </a:r>
            <a:r>
              <a:rPr lang="ko-KR" altLang="en-US" sz="3600" b="1"/>
              <a:t> </a:t>
            </a:r>
            <a:r>
              <a:rPr lang="en-US" altLang="ko-KR" sz="3600" b="1"/>
              <a:t>=</a:t>
            </a:r>
            <a:r>
              <a:rPr lang="ko-KR" altLang="en-US" sz="3600" b="1"/>
              <a:t> </a:t>
            </a:r>
            <a:r>
              <a:rPr lang="en-US" altLang="ko-KR" sz="3600" b="1" i="1">
                <a:solidFill>
                  <a:srgbClr val="FF0000"/>
                </a:solidFill>
              </a:rPr>
              <a:t>w</a:t>
            </a:r>
            <a:r>
              <a:rPr lang="en-US" altLang="ko-KR" sz="3600" b="1"/>
              <a:t>x</a:t>
            </a:r>
            <a:endParaRPr lang="ko-KR" altLang="en-US" sz="3600" b="1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7273DE-95BD-4CDC-BCA6-96161DC89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194" y="1606356"/>
            <a:ext cx="4571813" cy="3008219"/>
          </a:xfrm>
          <a:prstGeom prst="rect">
            <a:avLst/>
          </a:prstGeom>
        </p:spPr>
      </p:pic>
      <p:sp>
        <p:nvSpPr>
          <p:cNvPr id="9" name="화살표: 위쪽 8">
            <a:extLst>
              <a:ext uri="{FF2B5EF4-FFF2-40B4-BE49-F238E27FC236}">
                <a16:creationId xmlns:a16="http://schemas.microsoft.com/office/drawing/2014/main" id="{88595F22-4586-4AF2-827B-04E1FBA5306E}"/>
              </a:ext>
            </a:extLst>
          </p:cNvPr>
          <p:cNvSpPr/>
          <p:nvPr/>
        </p:nvSpPr>
        <p:spPr>
          <a:xfrm>
            <a:off x="8252511" y="4464423"/>
            <a:ext cx="489077" cy="42134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F32F4-B121-49CC-815E-3C71E41D79E8}"/>
              </a:ext>
            </a:extLst>
          </p:cNvPr>
          <p:cNvSpPr txBox="1"/>
          <p:nvPr/>
        </p:nvSpPr>
        <p:spPr>
          <a:xfrm>
            <a:off x="8741588" y="4764728"/>
            <a:ext cx="433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/>
              <a:t>x</a:t>
            </a:r>
            <a:endParaRPr lang="ko-KR" altLang="en-US" sz="36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7DF485-3ACE-4B3C-9E35-1BBD5D7A4128}"/>
              </a:ext>
            </a:extLst>
          </p:cNvPr>
          <p:cNvSpPr txBox="1"/>
          <p:nvPr/>
        </p:nvSpPr>
        <p:spPr>
          <a:xfrm>
            <a:off x="8419617" y="1027451"/>
            <a:ext cx="433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solidFill>
                  <a:srgbClr val="00B050"/>
                </a:solidFill>
              </a:rPr>
              <a:t>y</a:t>
            </a:r>
            <a:endParaRPr lang="ko-KR" altLang="en-US" sz="3600" b="1">
              <a:solidFill>
                <a:srgbClr val="00B05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38E16A-DD67-43E2-A78D-26D57BBC68F7}"/>
              </a:ext>
            </a:extLst>
          </p:cNvPr>
          <p:cNvSpPr/>
          <p:nvPr/>
        </p:nvSpPr>
        <p:spPr>
          <a:xfrm>
            <a:off x="8312543" y="3490857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>
                <a:solidFill>
                  <a:srgbClr val="FF0000"/>
                </a:solidFill>
              </a:rPr>
              <a:t>w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BAD096-3B88-4823-91A4-52447A825477}"/>
              </a:ext>
            </a:extLst>
          </p:cNvPr>
          <p:cNvSpPr/>
          <p:nvPr/>
        </p:nvSpPr>
        <p:spPr>
          <a:xfrm>
            <a:off x="8301595" y="2465141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1">
                <a:solidFill>
                  <a:srgbClr val="FF0000"/>
                </a:solidFill>
              </a:rPr>
              <a:t>w</a:t>
            </a: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79EE9B-933C-41B5-B7FB-3F05A2C77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680" y="4943780"/>
            <a:ext cx="523875" cy="457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BB37A4-748D-40C6-8DB0-AAE164AC34AD}"/>
              </a:ext>
            </a:extLst>
          </p:cNvPr>
          <p:cNvSpPr txBox="1"/>
          <p:nvPr/>
        </p:nvSpPr>
        <p:spPr>
          <a:xfrm>
            <a:off x="8010564" y="831132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1(</a:t>
            </a:r>
            <a:r>
              <a:rPr lang="ko-KR" altLang="en-US"/>
              <a:t>고양이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68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2937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 개념</a:t>
            </a:r>
            <a:r>
              <a:rPr lang="en-US" altLang="ko-KR" sz="2800" b="1">
                <a:solidFill>
                  <a:schemeClr val="bg1"/>
                </a:solidFill>
              </a:rPr>
              <a:t>(3/3)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C6B8EEC-E235-4073-BD73-5CAFA2A8D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5" y="1080261"/>
            <a:ext cx="7046259" cy="3596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025CF0-D2AC-4F35-87C7-75D445F486B4}"/>
              </a:ext>
            </a:extLst>
          </p:cNvPr>
          <p:cNvSpPr txBox="1"/>
          <p:nvPr/>
        </p:nvSpPr>
        <p:spPr>
          <a:xfrm>
            <a:off x="7521973" y="2026547"/>
            <a:ext cx="1745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/>
              <a:t>Cost function</a:t>
            </a:r>
          </a:p>
          <a:p>
            <a:endParaRPr lang="ko-KR" altLang="en-US" sz="2000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3DFF9574-1D9E-43B2-9D89-322DB2BCA11D}"/>
              </a:ext>
            </a:extLst>
          </p:cNvPr>
          <p:cNvSpPr/>
          <p:nvPr/>
        </p:nvSpPr>
        <p:spPr>
          <a:xfrm>
            <a:off x="9681882" y="4249271"/>
            <a:ext cx="1596602" cy="1425388"/>
          </a:xfrm>
          <a:custGeom>
            <a:avLst/>
            <a:gdLst>
              <a:gd name="connsiteX0" fmla="*/ 26894 w 1596602"/>
              <a:gd name="connsiteY0" fmla="*/ 0 h 1425388"/>
              <a:gd name="connsiteX1" fmla="*/ 17930 w 1596602"/>
              <a:gd name="connsiteY1" fmla="*/ 53788 h 1425388"/>
              <a:gd name="connsiteX2" fmla="*/ 8965 w 1596602"/>
              <a:gd name="connsiteY2" fmla="*/ 98611 h 1425388"/>
              <a:gd name="connsiteX3" fmla="*/ 0 w 1596602"/>
              <a:gd name="connsiteY3" fmla="*/ 233082 h 1425388"/>
              <a:gd name="connsiteX4" fmla="*/ 8965 w 1596602"/>
              <a:gd name="connsiteY4" fmla="*/ 430305 h 1425388"/>
              <a:gd name="connsiteX5" fmla="*/ 26894 w 1596602"/>
              <a:gd name="connsiteY5" fmla="*/ 493058 h 1425388"/>
              <a:gd name="connsiteX6" fmla="*/ 44824 w 1596602"/>
              <a:gd name="connsiteY6" fmla="*/ 555811 h 1425388"/>
              <a:gd name="connsiteX7" fmla="*/ 53789 w 1596602"/>
              <a:gd name="connsiteY7" fmla="*/ 609600 h 1425388"/>
              <a:gd name="connsiteX8" fmla="*/ 71718 w 1596602"/>
              <a:gd name="connsiteY8" fmla="*/ 663388 h 1425388"/>
              <a:gd name="connsiteX9" fmla="*/ 89647 w 1596602"/>
              <a:gd name="connsiteY9" fmla="*/ 788894 h 1425388"/>
              <a:gd name="connsiteX10" fmla="*/ 98612 w 1596602"/>
              <a:gd name="connsiteY10" fmla="*/ 833717 h 1425388"/>
              <a:gd name="connsiteX11" fmla="*/ 125506 w 1596602"/>
              <a:gd name="connsiteY11" fmla="*/ 914400 h 1425388"/>
              <a:gd name="connsiteX12" fmla="*/ 134471 w 1596602"/>
              <a:gd name="connsiteY12" fmla="*/ 941294 h 1425388"/>
              <a:gd name="connsiteX13" fmla="*/ 143436 w 1596602"/>
              <a:gd name="connsiteY13" fmla="*/ 968188 h 1425388"/>
              <a:gd name="connsiteX14" fmla="*/ 179294 w 1596602"/>
              <a:gd name="connsiteY14" fmla="*/ 1039905 h 1425388"/>
              <a:gd name="connsiteX15" fmla="*/ 197224 w 1596602"/>
              <a:gd name="connsiteY15" fmla="*/ 1066800 h 1425388"/>
              <a:gd name="connsiteX16" fmla="*/ 233083 w 1596602"/>
              <a:gd name="connsiteY16" fmla="*/ 1147482 h 1425388"/>
              <a:gd name="connsiteX17" fmla="*/ 259977 w 1596602"/>
              <a:gd name="connsiteY17" fmla="*/ 1174376 h 1425388"/>
              <a:gd name="connsiteX18" fmla="*/ 295836 w 1596602"/>
              <a:gd name="connsiteY18" fmla="*/ 1228164 h 1425388"/>
              <a:gd name="connsiteX19" fmla="*/ 313765 w 1596602"/>
              <a:gd name="connsiteY19" fmla="*/ 1255058 h 1425388"/>
              <a:gd name="connsiteX20" fmla="*/ 340659 w 1596602"/>
              <a:gd name="connsiteY20" fmla="*/ 1272988 h 1425388"/>
              <a:gd name="connsiteX21" fmla="*/ 358589 w 1596602"/>
              <a:gd name="connsiteY21" fmla="*/ 1290917 h 1425388"/>
              <a:gd name="connsiteX22" fmla="*/ 412377 w 1596602"/>
              <a:gd name="connsiteY22" fmla="*/ 1326776 h 1425388"/>
              <a:gd name="connsiteX23" fmla="*/ 439271 w 1596602"/>
              <a:gd name="connsiteY23" fmla="*/ 1344705 h 1425388"/>
              <a:gd name="connsiteX24" fmla="*/ 475130 w 1596602"/>
              <a:gd name="connsiteY24" fmla="*/ 1353670 h 1425388"/>
              <a:gd name="connsiteX25" fmla="*/ 573742 w 1596602"/>
              <a:gd name="connsiteY25" fmla="*/ 1380564 h 1425388"/>
              <a:gd name="connsiteX26" fmla="*/ 654424 w 1596602"/>
              <a:gd name="connsiteY26" fmla="*/ 1389529 h 1425388"/>
              <a:gd name="connsiteX27" fmla="*/ 681318 w 1596602"/>
              <a:gd name="connsiteY27" fmla="*/ 1398494 h 1425388"/>
              <a:gd name="connsiteX28" fmla="*/ 806824 w 1596602"/>
              <a:gd name="connsiteY28" fmla="*/ 1416423 h 1425388"/>
              <a:gd name="connsiteX29" fmla="*/ 842683 w 1596602"/>
              <a:gd name="connsiteY29" fmla="*/ 1425388 h 1425388"/>
              <a:gd name="connsiteX30" fmla="*/ 1030942 w 1596602"/>
              <a:gd name="connsiteY30" fmla="*/ 1416423 h 1425388"/>
              <a:gd name="connsiteX31" fmla="*/ 1075765 w 1596602"/>
              <a:gd name="connsiteY31" fmla="*/ 1380564 h 1425388"/>
              <a:gd name="connsiteX32" fmla="*/ 1102659 w 1596602"/>
              <a:gd name="connsiteY32" fmla="*/ 1362635 h 1425388"/>
              <a:gd name="connsiteX33" fmla="*/ 1129553 w 1596602"/>
              <a:gd name="connsiteY33" fmla="*/ 1335741 h 1425388"/>
              <a:gd name="connsiteX34" fmla="*/ 1183342 w 1596602"/>
              <a:gd name="connsiteY34" fmla="*/ 1299882 h 1425388"/>
              <a:gd name="connsiteX35" fmla="*/ 1210236 w 1596602"/>
              <a:gd name="connsiteY35" fmla="*/ 1281953 h 1425388"/>
              <a:gd name="connsiteX36" fmla="*/ 1272989 w 1596602"/>
              <a:gd name="connsiteY36" fmla="*/ 1237129 h 1425388"/>
              <a:gd name="connsiteX37" fmla="*/ 1290918 w 1596602"/>
              <a:gd name="connsiteY37" fmla="*/ 1210235 h 1425388"/>
              <a:gd name="connsiteX38" fmla="*/ 1335742 w 1596602"/>
              <a:gd name="connsiteY38" fmla="*/ 1174376 h 1425388"/>
              <a:gd name="connsiteX39" fmla="*/ 1371600 w 1596602"/>
              <a:gd name="connsiteY39" fmla="*/ 1120588 h 1425388"/>
              <a:gd name="connsiteX40" fmla="*/ 1389530 w 1596602"/>
              <a:gd name="connsiteY40" fmla="*/ 1093694 h 1425388"/>
              <a:gd name="connsiteX41" fmla="*/ 1407459 w 1596602"/>
              <a:gd name="connsiteY41" fmla="*/ 1030941 h 1425388"/>
              <a:gd name="connsiteX42" fmla="*/ 1443318 w 1596602"/>
              <a:gd name="connsiteY42" fmla="*/ 959223 h 1425388"/>
              <a:gd name="connsiteX43" fmla="*/ 1461247 w 1596602"/>
              <a:gd name="connsiteY43" fmla="*/ 905435 h 1425388"/>
              <a:gd name="connsiteX44" fmla="*/ 1497106 w 1596602"/>
              <a:gd name="connsiteY44" fmla="*/ 824753 h 1425388"/>
              <a:gd name="connsiteX45" fmla="*/ 1506071 w 1596602"/>
              <a:gd name="connsiteY45" fmla="*/ 797858 h 1425388"/>
              <a:gd name="connsiteX46" fmla="*/ 1532965 w 1596602"/>
              <a:gd name="connsiteY46" fmla="*/ 609600 h 1425388"/>
              <a:gd name="connsiteX47" fmla="*/ 1550894 w 1596602"/>
              <a:gd name="connsiteY47" fmla="*/ 466164 h 1425388"/>
              <a:gd name="connsiteX48" fmla="*/ 1568824 w 1596602"/>
              <a:gd name="connsiteY48" fmla="*/ 367553 h 1425388"/>
              <a:gd name="connsiteX49" fmla="*/ 1577789 w 1596602"/>
              <a:gd name="connsiteY49" fmla="*/ 268941 h 1425388"/>
              <a:gd name="connsiteX50" fmla="*/ 1595718 w 1596602"/>
              <a:gd name="connsiteY50" fmla="*/ 188258 h 1425388"/>
              <a:gd name="connsiteX51" fmla="*/ 1595718 w 1596602"/>
              <a:gd name="connsiteY51" fmla="*/ 80682 h 1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596602" h="1425388">
                <a:moveTo>
                  <a:pt x="26894" y="0"/>
                </a:moveTo>
                <a:cubicBezTo>
                  <a:pt x="23906" y="17929"/>
                  <a:pt x="21181" y="35905"/>
                  <a:pt x="17930" y="53788"/>
                </a:cubicBezTo>
                <a:cubicBezTo>
                  <a:pt x="15204" y="68779"/>
                  <a:pt x="10481" y="83450"/>
                  <a:pt x="8965" y="98611"/>
                </a:cubicBezTo>
                <a:cubicBezTo>
                  <a:pt x="4495" y="143311"/>
                  <a:pt x="2988" y="188258"/>
                  <a:pt x="0" y="233082"/>
                </a:cubicBezTo>
                <a:cubicBezTo>
                  <a:pt x="2988" y="298823"/>
                  <a:pt x="3918" y="364690"/>
                  <a:pt x="8965" y="430305"/>
                </a:cubicBezTo>
                <a:cubicBezTo>
                  <a:pt x="10440" y="449474"/>
                  <a:pt x="21537" y="474307"/>
                  <a:pt x="26894" y="493058"/>
                </a:cubicBezTo>
                <a:cubicBezTo>
                  <a:pt x="49399" y="571828"/>
                  <a:pt x="23336" y="491349"/>
                  <a:pt x="44824" y="555811"/>
                </a:cubicBezTo>
                <a:cubicBezTo>
                  <a:pt x="47812" y="573741"/>
                  <a:pt x="49380" y="591966"/>
                  <a:pt x="53789" y="609600"/>
                </a:cubicBezTo>
                <a:cubicBezTo>
                  <a:pt x="58373" y="627935"/>
                  <a:pt x="71718" y="663388"/>
                  <a:pt x="71718" y="663388"/>
                </a:cubicBezTo>
                <a:cubicBezTo>
                  <a:pt x="79508" y="725707"/>
                  <a:pt x="79310" y="732040"/>
                  <a:pt x="89647" y="788894"/>
                </a:cubicBezTo>
                <a:cubicBezTo>
                  <a:pt x="92373" y="803885"/>
                  <a:pt x="94426" y="819066"/>
                  <a:pt x="98612" y="833717"/>
                </a:cubicBezTo>
                <a:cubicBezTo>
                  <a:pt x="106400" y="860975"/>
                  <a:pt x="116541" y="887506"/>
                  <a:pt x="125506" y="914400"/>
                </a:cubicBezTo>
                <a:lnTo>
                  <a:pt x="134471" y="941294"/>
                </a:lnTo>
                <a:cubicBezTo>
                  <a:pt x="137459" y="950259"/>
                  <a:pt x="138194" y="960325"/>
                  <a:pt x="143436" y="968188"/>
                </a:cubicBezTo>
                <a:cubicBezTo>
                  <a:pt x="184976" y="1030499"/>
                  <a:pt x="135431" y="952179"/>
                  <a:pt x="179294" y="1039905"/>
                </a:cubicBezTo>
                <a:cubicBezTo>
                  <a:pt x="184113" y="1049542"/>
                  <a:pt x="192405" y="1057163"/>
                  <a:pt x="197224" y="1066800"/>
                </a:cubicBezTo>
                <a:cubicBezTo>
                  <a:pt x="208941" y="1090233"/>
                  <a:pt x="217237" y="1125298"/>
                  <a:pt x="233083" y="1147482"/>
                </a:cubicBezTo>
                <a:cubicBezTo>
                  <a:pt x="240452" y="1157798"/>
                  <a:pt x="252193" y="1164369"/>
                  <a:pt x="259977" y="1174376"/>
                </a:cubicBezTo>
                <a:cubicBezTo>
                  <a:pt x="273207" y="1191385"/>
                  <a:pt x="283883" y="1210235"/>
                  <a:pt x="295836" y="1228164"/>
                </a:cubicBezTo>
                <a:cubicBezTo>
                  <a:pt x="301812" y="1237129"/>
                  <a:pt x="304800" y="1249081"/>
                  <a:pt x="313765" y="1255058"/>
                </a:cubicBezTo>
                <a:cubicBezTo>
                  <a:pt x="322730" y="1261035"/>
                  <a:pt x="332246" y="1266257"/>
                  <a:pt x="340659" y="1272988"/>
                </a:cubicBezTo>
                <a:cubicBezTo>
                  <a:pt x="347259" y="1278268"/>
                  <a:pt x="351827" y="1285846"/>
                  <a:pt x="358589" y="1290917"/>
                </a:cubicBezTo>
                <a:cubicBezTo>
                  <a:pt x="375828" y="1303846"/>
                  <a:pt x="394448" y="1314823"/>
                  <a:pt x="412377" y="1326776"/>
                </a:cubicBezTo>
                <a:cubicBezTo>
                  <a:pt x="421342" y="1332752"/>
                  <a:pt x="428819" y="1342092"/>
                  <a:pt x="439271" y="1344705"/>
                </a:cubicBezTo>
                <a:cubicBezTo>
                  <a:pt x="451224" y="1347693"/>
                  <a:pt x="463283" y="1350285"/>
                  <a:pt x="475130" y="1353670"/>
                </a:cubicBezTo>
                <a:cubicBezTo>
                  <a:pt x="514441" y="1364902"/>
                  <a:pt x="521437" y="1374752"/>
                  <a:pt x="573742" y="1380564"/>
                </a:cubicBezTo>
                <a:lnTo>
                  <a:pt x="654424" y="1389529"/>
                </a:lnTo>
                <a:cubicBezTo>
                  <a:pt x="663389" y="1392517"/>
                  <a:pt x="672093" y="1396444"/>
                  <a:pt x="681318" y="1398494"/>
                </a:cubicBezTo>
                <a:cubicBezTo>
                  <a:pt x="732091" y="1409777"/>
                  <a:pt x="752564" y="1407379"/>
                  <a:pt x="806824" y="1416423"/>
                </a:cubicBezTo>
                <a:cubicBezTo>
                  <a:pt x="818977" y="1418449"/>
                  <a:pt x="830730" y="1422400"/>
                  <a:pt x="842683" y="1425388"/>
                </a:cubicBezTo>
                <a:cubicBezTo>
                  <a:pt x="905436" y="1422400"/>
                  <a:pt x="968603" y="1424215"/>
                  <a:pt x="1030942" y="1416423"/>
                </a:cubicBezTo>
                <a:cubicBezTo>
                  <a:pt x="1047296" y="1414379"/>
                  <a:pt x="1064003" y="1389974"/>
                  <a:pt x="1075765" y="1380564"/>
                </a:cubicBezTo>
                <a:cubicBezTo>
                  <a:pt x="1084178" y="1373833"/>
                  <a:pt x="1094382" y="1369532"/>
                  <a:pt x="1102659" y="1362635"/>
                </a:cubicBezTo>
                <a:cubicBezTo>
                  <a:pt x="1112399" y="1354519"/>
                  <a:pt x="1119546" y="1343524"/>
                  <a:pt x="1129553" y="1335741"/>
                </a:cubicBezTo>
                <a:cubicBezTo>
                  <a:pt x="1146563" y="1322511"/>
                  <a:pt x="1165412" y="1311835"/>
                  <a:pt x="1183342" y="1299882"/>
                </a:cubicBezTo>
                <a:cubicBezTo>
                  <a:pt x="1192307" y="1293906"/>
                  <a:pt x="1202618" y="1289572"/>
                  <a:pt x="1210236" y="1281953"/>
                </a:cubicBezTo>
                <a:cubicBezTo>
                  <a:pt x="1240486" y="1251702"/>
                  <a:pt x="1220917" y="1268371"/>
                  <a:pt x="1272989" y="1237129"/>
                </a:cubicBezTo>
                <a:cubicBezTo>
                  <a:pt x="1278965" y="1228164"/>
                  <a:pt x="1283300" y="1217854"/>
                  <a:pt x="1290918" y="1210235"/>
                </a:cubicBezTo>
                <a:cubicBezTo>
                  <a:pt x="1326197" y="1174955"/>
                  <a:pt x="1309132" y="1209856"/>
                  <a:pt x="1335742" y="1174376"/>
                </a:cubicBezTo>
                <a:cubicBezTo>
                  <a:pt x="1348671" y="1157137"/>
                  <a:pt x="1359647" y="1138517"/>
                  <a:pt x="1371600" y="1120588"/>
                </a:cubicBezTo>
                <a:lnTo>
                  <a:pt x="1389530" y="1093694"/>
                </a:lnTo>
                <a:cubicBezTo>
                  <a:pt x="1393335" y="1078472"/>
                  <a:pt x="1400312" y="1046664"/>
                  <a:pt x="1407459" y="1030941"/>
                </a:cubicBezTo>
                <a:cubicBezTo>
                  <a:pt x="1418519" y="1006609"/>
                  <a:pt x="1434866" y="984579"/>
                  <a:pt x="1443318" y="959223"/>
                </a:cubicBezTo>
                <a:cubicBezTo>
                  <a:pt x="1449294" y="941294"/>
                  <a:pt x="1450763" y="921160"/>
                  <a:pt x="1461247" y="905435"/>
                </a:cubicBezTo>
                <a:cubicBezTo>
                  <a:pt x="1489661" y="862816"/>
                  <a:pt x="1475770" y="888763"/>
                  <a:pt x="1497106" y="824753"/>
                </a:cubicBezTo>
                <a:cubicBezTo>
                  <a:pt x="1500094" y="815788"/>
                  <a:pt x="1504381" y="807156"/>
                  <a:pt x="1506071" y="797858"/>
                </a:cubicBezTo>
                <a:cubicBezTo>
                  <a:pt x="1535127" y="638048"/>
                  <a:pt x="1515503" y="760942"/>
                  <a:pt x="1532965" y="609600"/>
                </a:cubicBezTo>
                <a:cubicBezTo>
                  <a:pt x="1538488" y="561734"/>
                  <a:pt x="1539207" y="512909"/>
                  <a:pt x="1550894" y="466164"/>
                </a:cubicBezTo>
                <a:cubicBezTo>
                  <a:pt x="1562486" y="419796"/>
                  <a:pt x="1562400" y="425370"/>
                  <a:pt x="1568824" y="367553"/>
                </a:cubicBezTo>
                <a:cubicBezTo>
                  <a:pt x="1572469" y="334749"/>
                  <a:pt x="1573121" y="301616"/>
                  <a:pt x="1577789" y="268941"/>
                </a:cubicBezTo>
                <a:cubicBezTo>
                  <a:pt x="1591885" y="170265"/>
                  <a:pt x="1586383" y="356276"/>
                  <a:pt x="1595718" y="188258"/>
                </a:cubicBezTo>
                <a:cubicBezTo>
                  <a:pt x="1597707" y="152455"/>
                  <a:pt x="1595718" y="116541"/>
                  <a:pt x="1595718" y="80682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93736F9-E1E3-4A44-A475-EDBA236914E0}"/>
              </a:ext>
            </a:extLst>
          </p:cNvPr>
          <p:cNvSpPr/>
          <p:nvPr/>
        </p:nvSpPr>
        <p:spPr>
          <a:xfrm>
            <a:off x="10791755" y="4769224"/>
            <a:ext cx="396198" cy="744070"/>
          </a:xfrm>
          <a:custGeom>
            <a:avLst/>
            <a:gdLst>
              <a:gd name="connsiteX0" fmla="*/ 396198 w 396198"/>
              <a:gd name="connsiteY0" fmla="*/ 80682 h 744070"/>
              <a:gd name="connsiteX1" fmla="*/ 351374 w 396198"/>
              <a:gd name="connsiteY1" fmla="*/ 53788 h 744070"/>
              <a:gd name="connsiteX2" fmla="*/ 333445 w 396198"/>
              <a:gd name="connsiteY2" fmla="*/ 35858 h 744070"/>
              <a:gd name="connsiteX3" fmla="*/ 297586 w 396198"/>
              <a:gd name="connsiteY3" fmla="*/ 26894 h 744070"/>
              <a:gd name="connsiteX4" fmla="*/ 243798 w 396198"/>
              <a:gd name="connsiteY4" fmla="*/ 8964 h 744070"/>
              <a:gd name="connsiteX5" fmla="*/ 216904 w 396198"/>
              <a:gd name="connsiteY5" fmla="*/ 0 h 744070"/>
              <a:gd name="connsiteX6" fmla="*/ 190010 w 396198"/>
              <a:gd name="connsiteY6" fmla="*/ 17929 h 744070"/>
              <a:gd name="connsiteX7" fmla="*/ 243798 w 396198"/>
              <a:gd name="connsiteY7" fmla="*/ 170329 h 744070"/>
              <a:gd name="connsiteX8" fmla="*/ 279657 w 396198"/>
              <a:gd name="connsiteY8" fmla="*/ 197223 h 744070"/>
              <a:gd name="connsiteX9" fmla="*/ 333445 w 396198"/>
              <a:gd name="connsiteY9" fmla="*/ 215152 h 744070"/>
              <a:gd name="connsiteX10" fmla="*/ 306551 w 396198"/>
              <a:gd name="connsiteY10" fmla="*/ 224117 h 744070"/>
              <a:gd name="connsiteX11" fmla="*/ 243798 w 396198"/>
              <a:gd name="connsiteY11" fmla="*/ 206188 h 744070"/>
              <a:gd name="connsiteX12" fmla="*/ 225869 w 396198"/>
              <a:gd name="connsiteY12" fmla="*/ 259976 h 744070"/>
              <a:gd name="connsiteX13" fmla="*/ 216904 w 396198"/>
              <a:gd name="connsiteY13" fmla="*/ 286870 h 744070"/>
              <a:gd name="connsiteX14" fmla="*/ 243798 w 396198"/>
              <a:gd name="connsiteY14" fmla="*/ 376517 h 744070"/>
              <a:gd name="connsiteX15" fmla="*/ 270692 w 396198"/>
              <a:gd name="connsiteY15" fmla="*/ 403411 h 744070"/>
              <a:gd name="connsiteX16" fmla="*/ 297586 w 396198"/>
              <a:gd name="connsiteY16" fmla="*/ 421341 h 744070"/>
              <a:gd name="connsiteX17" fmla="*/ 216904 w 396198"/>
              <a:gd name="connsiteY17" fmla="*/ 403411 h 744070"/>
              <a:gd name="connsiteX18" fmla="*/ 109327 w 396198"/>
              <a:gd name="connsiteY18" fmla="*/ 412376 h 744070"/>
              <a:gd name="connsiteX19" fmla="*/ 127257 w 396198"/>
              <a:gd name="connsiteY19" fmla="*/ 519952 h 744070"/>
              <a:gd name="connsiteX20" fmla="*/ 145186 w 396198"/>
              <a:gd name="connsiteY20" fmla="*/ 537882 h 744070"/>
              <a:gd name="connsiteX21" fmla="*/ 172080 w 396198"/>
              <a:gd name="connsiteY21" fmla="*/ 546847 h 744070"/>
              <a:gd name="connsiteX22" fmla="*/ 198974 w 396198"/>
              <a:gd name="connsiteY22" fmla="*/ 564776 h 744070"/>
              <a:gd name="connsiteX23" fmla="*/ 145186 w 396198"/>
              <a:gd name="connsiteY23" fmla="*/ 546847 h 744070"/>
              <a:gd name="connsiteX24" fmla="*/ 118292 w 396198"/>
              <a:gd name="connsiteY24" fmla="*/ 537882 h 744070"/>
              <a:gd name="connsiteX25" fmla="*/ 37610 w 396198"/>
              <a:gd name="connsiteY25" fmla="*/ 555811 h 744070"/>
              <a:gd name="connsiteX26" fmla="*/ 19680 w 396198"/>
              <a:gd name="connsiteY26" fmla="*/ 573741 h 744070"/>
              <a:gd name="connsiteX27" fmla="*/ 10716 w 396198"/>
              <a:gd name="connsiteY27" fmla="*/ 690282 h 744070"/>
              <a:gd name="connsiteX28" fmla="*/ 37610 w 396198"/>
              <a:gd name="connsiteY28" fmla="*/ 717176 h 744070"/>
              <a:gd name="connsiteX29" fmla="*/ 64504 w 396198"/>
              <a:gd name="connsiteY29" fmla="*/ 744070 h 74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198" h="744070">
                <a:moveTo>
                  <a:pt x="396198" y="80682"/>
                </a:moveTo>
                <a:cubicBezTo>
                  <a:pt x="381257" y="71717"/>
                  <a:pt x="365553" y="63916"/>
                  <a:pt x="351374" y="53788"/>
                </a:cubicBezTo>
                <a:cubicBezTo>
                  <a:pt x="344496" y="48875"/>
                  <a:pt x="341005" y="39638"/>
                  <a:pt x="333445" y="35858"/>
                </a:cubicBezTo>
                <a:cubicBezTo>
                  <a:pt x="322425" y="30348"/>
                  <a:pt x="309387" y="30434"/>
                  <a:pt x="297586" y="26894"/>
                </a:cubicBezTo>
                <a:cubicBezTo>
                  <a:pt x="279484" y="21463"/>
                  <a:pt x="261727" y="14940"/>
                  <a:pt x="243798" y="8964"/>
                </a:cubicBezTo>
                <a:lnTo>
                  <a:pt x="216904" y="0"/>
                </a:lnTo>
                <a:cubicBezTo>
                  <a:pt x="207939" y="5976"/>
                  <a:pt x="191534" y="7263"/>
                  <a:pt x="190010" y="17929"/>
                </a:cubicBezTo>
                <a:cubicBezTo>
                  <a:pt x="178309" y="99832"/>
                  <a:pt x="186696" y="127503"/>
                  <a:pt x="243798" y="170329"/>
                </a:cubicBezTo>
                <a:cubicBezTo>
                  <a:pt x="255751" y="179294"/>
                  <a:pt x="266293" y="190541"/>
                  <a:pt x="279657" y="197223"/>
                </a:cubicBezTo>
                <a:cubicBezTo>
                  <a:pt x="296561" y="205675"/>
                  <a:pt x="333445" y="215152"/>
                  <a:pt x="333445" y="215152"/>
                </a:cubicBezTo>
                <a:cubicBezTo>
                  <a:pt x="324480" y="218140"/>
                  <a:pt x="316001" y="224117"/>
                  <a:pt x="306551" y="224117"/>
                </a:cubicBezTo>
                <a:cubicBezTo>
                  <a:pt x="295298" y="224117"/>
                  <a:pt x="256478" y="210414"/>
                  <a:pt x="243798" y="206188"/>
                </a:cubicBezTo>
                <a:lnTo>
                  <a:pt x="225869" y="259976"/>
                </a:lnTo>
                <a:lnTo>
                  <a:pt x="216904" y="286870"/>
                </a:lnTo>
                <a:cubicBezTo>
                  <a:pt x="224385" y="339234"/>
                  <a:pt x="215682" y="342778"/>
                  <a:pt x="243798" y="376517"/>
                </a:cubicBezTo>
                <a:cubicBezTo>
                  <a:pt x="251914" y="386257"/>
                  <a:pt x="260953" y="395295"/>
                  <a:pt x="270692" y="403411"/>
                </a:cubicBezTo>
                <a:cubicBezTo>
                  <a:pt x="278969" y="410309"/>
                  <a:pt x="307223" y="416522"/>
                  <a:pt x="297586" y="421341"/>
                </a:cubicBezTo>
                <a:cubicBezTo>
                  <a:pt x="293793" y="423238"/>
                  <a:pt x="224598" y="405335"/>
                  <a:pt x="216904" y="403411"/>
                </a:cubicBezTo>
                <a:cubicBezTo>
                  <a:pt x="181045" y="406399"/>
                  <a:pt x="135953" y="388171"/>
                  <a:pt x="109327" y="412376"/>
                </a:cubicBezTo>
                <a:cubicBezTo>
                  <a:pt x="106804" y="414669"/>
                  <a:pt x="114111" y="498042"/>
                  <a:pt x="127257" y="519952"/>
                </a:cubicBezTo>
                <a:cubicBezTo>
                  <a:pt x="131605" y="527200"/>
                  <a:pt x="137939" y="533533"/>
                  <a:pt x="145186" y="537882"/>
                </a:cubicBezTo>
                <a:cubicBezTo>
                  <a:pt x="153289" y="542744"/>
                  <a:pt x="163628" y="542621"/>
                  <a:pt x="172080" y="546847"/>
                </a:cubicBezTo>
                <a:cubicBezTo>
                  <a:pt x="181717" y="551665"/>
                  <a:pt x="209748" y="564776"/>
                  <a:pt x="198974" y="564776"/>
                </a:cubicBezTo>
                <a:cubicBezTo>
                  <a:pt x="180075" y="564776"/>
                  <a:pt x="163115" y="552823"/>
                  <a:pt x="145186" y="546847"/>
                </a:cubicBezTo>
                <a:lnTo>
                  <a:pt x="118292" y="537882"/>
                </a:lnTo>
                <a:cubicBezTo>
                  <a:pt x="107435" y="539692"/>
                  <a:pt x="54584" y="545627"/>
                  <a:pt x="37610" y="555811"/>
                </a:cubicBezTo>
                <a:cubicBezTo>
                  <a:pt x="30362" y="560160"/>
                  <a:pt x="25657" y="567764"/>
                  <a:pt x="19680" y="573741"/>
                </a:cubicBezTo>
                <a:cubicBezTo>
                  <a:pt x="3585" y="622026"/>
                  <a:pt x="-10443" y="637384"/>
                  <a:pt x="10716" y="690282"/>
                </a:cubicBezTo>
                <a:cubicBezTo>
                  <a:pt x="15424" y="702053"/>
                  <a:pt x="27870" y="709060"/>
                  <a:pt x="37610" y="717176"/>
                </a:cubicBezTo>
                <a:cubicBezTo>
                  <a:pt x="66990" y="741660"/>
                  <a:pt x="64504" y="722973"/>
                  <a:pt x="64504" y="74407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7A76D1-175B-468A-9AA2-AB7F172D9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5160" y="1233125"/>
            <a:ext cx="1350368" cy="400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17C539-5477-4204-B633-3AFC5A0B49B4}"/>
              </a:ext>
            </a:extLst>
          </p:cNvPr>
          <p:cNvSpPr txBox="1"/>
          <p:nvPr/>
        </p:nvSpPr>
        <p:spPr>
          <a:xfrm>
            <a:off x="7342094" y="127069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가설 모델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06F65-EDB2-442C-8892-64552004F8FC}"/>
              </a:ext>
            </a:extLst>
          </p:cNvPr>
          <p:cNvSpPr txBox="1"/>
          <p:nvPr/>
        </p:nvSpPr>
        <p:spPr>
          <a:xfrm>
            <a:off x="7565810" y="3154868"/>
            <a:ext cx="1800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/>
          </a:p>
          <a:p>
            <a:r>
              <a:rPr lang="ko-KR" altLang="en-US"/>
              <a:t>경사하강법으로</a:t>
            </a:r>
            <a:endParaRPr lang="en-US" altLang="ko-KR"/>
          </a:p>
          <a:p>
            <a:r>
              <a:rPr lang="ko-KR" altLang="en-US"/>
              <a:t>최적 </a:t>
            </a:r>
            <a:r>
              <a:rPr lang="en-US" altLang="ko-KR"/>
              <a:t>w </a:t>
            </a:r>
            <a:r>
              <a:rPr lang="ko-KR" altLang="en-US"/>
              <a:t>찾음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FA507-B482-49CF-ACDD-F59C0EBBA04D}"/>
              </a:ext>
            </a:extLst>
          </p:cNvPr>
          <p:cNvSpPr txBox="1"/>
          <p:nvPr/>
        </p:nvSpPr>
        <p:spPr>
          <a:xfrm>
            <a:off x="10336598" y="757095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rgbClr val="00B050"/>
                </a:solidFill>
              </a:rPr>
              <a:t>y</a:t>
            </a:r>
            <a:r>
              <a:rPr lang="ko-KR" altLang="en-US" sz="2800" b="1"/>
              <a:t> </a:t>
            </a:r>
            <a:r>
              <a:rPr lang="en-US" altLang="ko-KR" sz="2800" b="1"/>
              <a:t>=</a:t>
            </a:r>
            <a:r>
              <a:rPr lang="ko-KR" altLang="en-US" sz="2800" b="1"/>
              <a:t> </a:t>
            </a:r>
            <a:r>
              <a:rPr lang="en-US" altLang="ko-KR" sz="2800" b="1" i="1">
                <a:solidFill>
                  <a:srgbClr val="FF0000"/>
                </a:solidFill>
              </a:rPr>
              <a:t>w</a:t>
            </a:r>
            <a:r>
              <a:rPr lang="en-US" altLang="ko-KR" sz="2800" b="1"/>
              <a:t>x</a:t>
            </a:r>
            <a:endParaRPr lang="ko-KR" altLang="en-US" sz="2800" b="1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49E22F7-7AAD-4695-880E-41552200A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7421" y="2446907"/>
            <a:ext cx="1638300" cy="6381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26DF6B-AE10-46AA-B6CE-7237732D4A25}"/>
              </a:ext>
            </a:extLst>
          </p:cNvPr>
          <p:cNvSpPr txBox="1"/>
          <p:nvPr/>
        </p:nvSpPr>
        <p:spPr>
          <a:xfrm>
            <a:off x="9400349" y="2026547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C(w) =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41D0F4-4156-45B9-A88E-9242B6A967C4}"/>
              </a:ext>
            </a:extLst>
          </p:cNvPr>
          <p:cNvSpPr/>
          <p:nvPr/>
        </p:nvSpPr>
        <p:spPr>
          <a:xfrm>
            <a:off x="8866094" y="1080261"/>
            <a:ext cx="1470504" cy="6381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FA7E834-F1A4-4464-B4B2-3511DD354508}"/>
              </a:ext>
            </a:extLst>
          </p:cNvPr>
          <p:cNvSpPr/>
          <p:nvPr/>
        </p:nvSpPr>
        <p:spPr>
          <a:xfrm>
            <a:off x="9400348" y="1800268"/>
            <a:ext cx="2523479" cy="13334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CDF96B-4423-4B71-806D-660E8FF88B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4054" y="1911175"/>
            <a:ext cx="1371600" cy="6000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01B6BC-B105-40FD-90C6-C1E78D53DE58}"/>
              </a:ext>
            </a:extLst>
          </p:cNvPr>
          <p:cNvSpPr txBox="1"/>
          <p:nvPr/>
        </p:nvSpPr>
        <p:spPr>
          <a:xfrm>
            <a:off x="9824659" y="258012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=</a:t>
            </a:r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4E9441F-0C85-41BC-91B4-83406C92620B}"/>
              </a:ext>
            </a:extLst>
          </p:cNvPr>
          <p:cNvCxnSpPr>
            <a:cxnSpLocks/>
          </p:cNvCxnSpPr>
          <p:nvPr/>
        </p:nvCxnSpPr>
        <p:spPr>
          <a:xfrm flipH="1" flipV="1">
            <a:off x="9267964" y="4249271"/>
            <a:ext cx="132384" cy="1528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876B754-041F-40CE-A69B-91916FF124AC}"/>
              </a:ext>
            </a:extLst>
          </p:cNvPr>
          <p:cNvCxnSpPr/>
          <p:nvPr/>
        </p:nvCxnSpPr>
        <p:spPr>
          <a:xfrm>
            <a:off x="9474923" y="5777739"/>
            <a:ext cx="240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22EE9AF-E594-480A-A0E3-05E973D19511}"/>
              </a:ext>
            </a:extLst>
          </p:cNvPr>
          <p:cNvSpPr txBox="1"/>
          <p:nvPr/>
        </p:nvSpPr>
        <p:spPr>
          <a:xfrm>
            <a:off x="8611193" y="439989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Cost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E6CCF0-6D61-46CD-A69B-4DCC020FD66C}"/>
              </a:ext>
            </a:extLst>
          </p:cNvPr>
          <p:cNvSpPr txBox="1"/>
          <p:nvPr/>
        </p:nvSpPr>
        <p:spPr>
          <a:xfrm>
            <a:off x="11675654" y="5731573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w</a:t>
            </a:r>
            <a:endParaRPr lang="ko-KR" altLang="en-US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9E46F99-0AD2-4DF5-8C1A-75E08C1496F9}"/>
              </a:ext>
            </a:extLst>
          </p:cNvPr>
          <p:cNvCxnSpPr/>
          <p:nvPr/>
        </p:nvCxnSpPr>
        <p:spPr>
          <a:xfrm>
            <a:off x="10080698" y="5674659"/>
            <a:ext cx="110725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2FE54D2-3A95-48D1-B0C3-CB24706CFF4E}"/>
              </a:ext>
            </a:extLst>
          </p:cNvPr>
          <p:cNvCxnSpPr>
            <a:cxnSpLocks/>
          </p:cNvCxnSpPr>
          <p:nvPr/>
        </p:nvCxnSpPr>
        <p:spPr>
          <a:xfrm flipV="1">
            <a:off x="10567532" y="4961965"/>
            <a:ext cx="901955" cy="815774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C270143-BD5E-47E2-B499-C96377E6CC5B}"/>
              </a:ext>
            </a:extLst>
          </p:cNvPr>
          <p:cNvCxnSpPr>
            <a:cxnSpLocks/>
          </p:cNvCxnSpPr>
          <p:nvPr/>
        </p:nvCxnSpPr>
        <p:spPr>
          <a:xfrm flipV="1">
            <a:off x="11099487" y="3669439"/>
            <a:ext cx="312689" cy="1866482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28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194851" y="116538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(1/14)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0D9CFB4-171B-4FDB-BD39-9CCAC85FC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986" y="1446515"/>
            <a:ext cx="5169274" cy="3767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099331-B5CB-497A-84D4-C0432DF4AE0E}"/>
              </a:ext>
            </a:extLst>
          </p:cNvPr>
          <p:cNvSpPr txBox="1"/>
          <p:nvPr/>
        </p:nvSpPr>
        <p:spPr>
          <a:xfrm>
            <a:off x="6561637" y="1341436"/>
            <a:ext cx="5440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C00000"/>
                </a:solidFill>
              </a:rPr>
              <a:t>퍼셉트론</a:t>
            </a:r>
            <a:r>
              <a:rPr lang="ko-KR" altLang="en-US"/>
              <a:t>은 사람 뇌의 </a:t>
            </a:r>
            <a:r>
              <a:rPr lang="ko-KR" altLang="en-US" b="1">
                <a:solidFill>
                  <a:srgbClr val="7030A0"/>
                </a:solidFill>
              </a:rPr>
              <a:t>뉴런</a:t>
            </a:r>
            <a:r>
              <a:rPr lang="en-US" altLang="ko-KR"/>
              <a:t>(Neuron)</a:t>
            </a:r>
            <a:r>
              <a:rPr lang="ko-KR" altLang="en-US"/>
              <a:t>을 모델링한 것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8DD568-ADA4-40EB-BF8F-46DB91900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205" y="2799719"/>
            <a:ext cx="3033712" cy="14355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F48EAC62-8B16-43F5-BD97-F5A6A125B9B4}"/>
              </a:ext>
            </a:extLst>
          </p:cNvPr>
          <p:cNvSpPr/>
          <p:nvPr/>
        </p:nvSpPr>
        <p:spPr>
          <a:xfrm>
            <a:off x="8908547" y="2268059"/>
            <a:ext cx="1149853" cy="744083"/>
          </a:xfrm>
          <a:custGeom>
            <a:avLst/>
            <a:gdLst>
              <a:gd name="connsiteX0" fmla="*/ 181664 w 1149853"/>
              <a:gd name="connsiteY0" fmla="*/ 744083 h 744083"/>
              <a:gd name="connsiteX1" fmla="*/ 83053 w 1149853"/>
              <a:gd name="connsiteY1" fmla="*/ 699259 h 744083"/>
              <a:gd name="connsiteX2" fmla="*/ 56159 w 1149853"/>
              <a:gd name="connsiteY2" fmla="*/ 690295 h 744083"/>
              <a:gd name="connsiteX3" fmla="*/ 38229 w 1149853"/>
              <a:gd name="connsiteY3" fmla="*/ 672365 h 744083"/>
              <a:gd name="connsiteX4" fmla="*/ 2370 w 1149853"/>
              <a:gd name="connsiteY4" fmla="*/ 609612 h 744083"/>
              <a:gd name="connsiteX5" fmla="*/ 29264 w 1149853"/>
              <a:gd name="connsiteY5" fmla="*/ 430318 h 744083"/>
              <a:gd name="connsiteX6" fmla="*/ 56159 w 1149853"/>
              <a:gd name="connsiteY6" fmla="*/ 412389 h 744083"/>
              <a:gd name="connsiteX7" fmla="*/ 540253 w 1149853"/>
              <a:gd name="connsiteY7" fmla="*/ 412389 h 744083"/>
              <a:gd name="connsiteX8" fmla="*/ 549217 w 1149853"/>
              <a:gd name="connsiteY8" fmla="*/ 367565 h 744083"/>
              <a:gd name="connsiteX9" fmla="*/ 522323 w 1149853"/>
              <a:gd name="connsiteY9" fmla="*/ 197236 h 744083"/>
              <a:gd name="connsiteX10" fmla="*/ 504394 w 1149853"/>
              <a:gd name="connsiteY10" fmla="*/ 170342 h 744083"/>
              <a:gd name="connsiteX11" fmla="*/ 486464 w 1149853"/>
              <a:gd name="connsiteY11" fmla="*/ 116553 h 744083"/>
              <a:gd name="connsiteX12" fmla="*/ 504394 w 1149853"/>
              <a:gd name="connsiteY12" fmla="*/ 53800 h 744083"/>
              <a:gd name="connsiteX13" fmla="*/ 531288 w 1149853"/>
              <a:gd name="connsiteY13" fmla="*/ 44836 h 744083"/>
              <a:gd name="connsiteX14" fmla="*/ 656794 w 1149853"/>
              <a:gd name="connsiteY14" fmla="*/ 17942 h 744083"/>
              <a:gd name="connsiteX15" fmla="*/ 1105029 w 1149853"/>
              <a:gd name="connsiteY15" fmla="*/ 8977 h 744083"/>
              <a:gd name="connsiteX16" fmla="*/ 1149853 w 1149853"/>
              <a:gd name="connsiteY16" fmla="*/ 12 h 74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9853" h="744083">
                <a:moveTo>
                  <a:pt x="181664" y="744083"/>
                </a:moveTo>
                <a:cubicBezTo>
                  <a:pt x="120638" y="707467"/>
                  <a:pt x="153368" y="722697"/>
                  <a:pt x="83053" y="699259"/>
                </a:cubicBezTo>
                <a:lnTo>
                  <a:pt x="56159" y="690295"/>
                </a:lnTo>
                <a:cubicBezTo>
                  <a:pt x="50182" y="684318"/>
                  <a:pt x="43509" y="678965"/>
                  <a:pt x="38229" y="672365"/>
                </a:cubicBezTo>
                <a:cubicBezTo>
                  <a:pt x="21336" y="651248"/>
                  <a:pt x="14639" y="634149"/>
                  <a:pt x="2370" y="609612"/>
                </a:cubicBezTo>
                <a:cubicBezTo>
                  <a:pt x="5154" y="562282"/>
                  <a:pt x="-15450" y="475031"/>
                  <a:pt x="29264" y="430318"/>
                </a:cubicBezTo>
                <a:cubicBezTo>
                  <a:pt x="36883" y="422699"/>
                  <a:pt x="47194" y="418365"/>
                  <a:pt x="56159" y="412389"/>
                </a:cubicBezTo>
                <a:cubicBezTo>
                  <a:pt x="80207" y="413118"/>
                  <a:pt x="466508" y="432501"/>
                  <a:pt x="540253" y="412389"/>
                </a:cubicBezTo>
                <a:cubicBezTo>
                  <a:pt x="554953" y="408380"/>
                  <a:pt x="546229" y="382506"/>
                  <a:pt x="549217" y="367565"/>
                </a:cubicBezTo>
                <a:cubicBezTo>
                  <a:pt x="541775" y="255925"/>
                  <a:pt x="559626" y="262517"/>
                  <a:pt x="522323" y="197236"/>
                </a:cubicBezTo>
                <a:cubicBezTo>
                  <a:pt x="516978" y="187881"/>
                  <a:pt x="508770" y="180188"/>
                  <a:pt x="504394" y="170342"/>
                </a:cubicBezTo>
                <a:cubicBezTo>
                  <a:pt x="496718" y="153071"/>
                  <a:pt x="486464" y="116553"/>
                  <a:pt x="486464" y="116553"/>
                </a:cubicBezTo>
                <a:cubicBezTo>
                  <a:pt x="492441" y="95635"/>
                  <a:pt x="492864" y="72248"/>
                  <a:pt x="504394" y="53800"/>
                </a:cubicBezTo>
                <a:cubicBezTo>
                  <a:pt x="509402" y="45787"/>
                  <a:pt x="522836" y="49062"/>
                  <a:pt x="531288" y="44836"/>
                </a:cubicBezTo>
                <a:cubicBezTo>
                  <a:pt x="600598" y="10181"/>
                  <a:pt x="501643" y="23029"/>
                  <a:pt x="656794" y="17942"/>
                </a:cubicBezTo>
                <a:cubicBezTo>
                  <a:pt x="806155" y="13045"/>
                  <a:pt x="955617" y="11965"/>
                  <a:pt x="1105029" y="8977"/>
                </a:cubicBezTo>
                <a:cubicBezTo>
                  <a:pt x="1143787" y="-713"/>
                  <a:pt x="1128567" y="12"/>
                  <a:pt x="1149853" y="1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D6EE5-8E95-433F-ADA5-13B2C28F450F}"/>
              </a:ext>
            </a:extLst>
          </p:cNvPr>
          <p:cNvSpPr txBox="1"/>
          <p:nvPr/>
        </p:nvSpPr>
        <p:spPr>
          <a:xfrm>
            <a:off x="10058400" y="2020226"/>
            <a:ext cx="1308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Perceptron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DE60B-39B0-4EDF-9B32-FD090A2C0C39}"/>
              </a:ext>
            </a:extLst>
          </p:cNvPr>
          <p:cNvSpPr txBox="1"/>
          <p:nvPr/>
        </p:nvSpPr>
        <p:spPr>
          <a:xfrm>
            <a:off x="7485529" y="21168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rgbClr val="00B050"/>
                </a:solidFill>
              </a:rPr>
              <a:t>y</a:t>
            </a:r>
            <a:r>
              <a:rPr lang="ko-KR" altLang="en-US" sz="2800" b="1"/>
              <a:t> </a:t>
            </a:r>
            <a:r>
              <a:rPr lang="en-US" altLang="ko-KR" sz="2800" b="1"/>
              <a:t>=</a:t>
            </a:r>
            <a:r>
              <a:rPr lang="ko-KR" altLang="en-US" sz="2800" b="1"/>
              <a:t> </a:t>
            </a:r>
            <a:r>
              <a:rPr lang="en-US" altLang="ko-KR" sz="2800" b="1" i="1">
                <a:solidFill>
                  <a:srgbClr val="FF0000"/>
                </a:solidFill>
              </a:rPr>
              <a:t>w</a:t>
            </a:r>
            <a:r>
              <a:rPr lang="en-US" altLang="ko-KR" sz="2800" b="1"/>
              <a:t>x</a:t>
            </a:r>
            <a:endParaRPr lang="ko-KR" altLang="en-US" sz="2800" b="1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FD13D7BE-0B6B-4AB9-AADD-6FEB70B770BE}"/>
              </a:ext>
            </a:extLst>
          </p:cNvPr>
          <p:cNvSpPr/>
          <p:nvPr/>
        </p:nvSpPr>
        <p:spPr>
          <a:xfrm>
            <a:off x="7324164" y="3424518"/>
            <a:ext cx="322730" cy="3415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73D9399-3DE0-424F-9837-3CAB5F11C974}"/>
              </a:ext>
            </a:extLst>
          </p:cNvPr>
          <p:cNvSpPr/>
          <p:nvPr/>
        </p:nvSpPr>
        <p:spPr>
          <a:xfrm>
            <a:off x="10926193" y="3406119"/>
            <a:ext cx="322730" cy="3415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5DE00-AE4E-4165-B96F-A8064F3A5BB4}"/>
              </a:ext>
            </a:extLst>
          </p:cNvPr>
          <p:cNvSpPr txBox="1"/>
          <p:nvPr/>
        </p:nvSpPr>
        <p:spPr>
          <a:xfrm>
            <a:off x="11376199" y="33922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B050"/>
                </a:solidFill>
              </a:rPr>
              <a:t>y</a:t>
            </a:r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0F9A9E07-E1F8-4783-BFDE-750A0A76447C}"/>
              </a:ext>
            </a:extLst>
          </p:cNvPr>
          <p:cNvSpPr/>
          <p:nvPr/>
        </p:nvSpPr>
        <p:spPr>
          <a:xfrm>
            <a:off x="11438964" y="3487271"/>
            <a:ext cx="188259" cy="134471"/>
          </a:xfrm>
          <a:custGeom>
            <a:avLst/>
            <a:gdLst>
              <a:gd name="connsiteX0" fmla="*/ 0 w 188259"/>
              <a:gd name="connsiteY0" fmla="*/ 134471 h 134471"/>
              <a:gd name="connsiteX1" fmla="*/ 44824 w 188259"/>
              <a:gd name="connsiteY1" fmla="*/ 53788 h 134471"/>
              <a:gd name="connsiteX2" fmla="*/ 62753 w 188259"/>
              <a:gd name="connsiteY2" fmla="*/ 26894 h 134471"/>
              <a:gd name="connsiteX3" fmla="*/ 71718 w 188259"/>
              <a:gd name="connsiteY3" fmla="*/ 0 h 134471"/>
              <a:gd name="connsiteX4" fmla="*/ 170330 w 188259"/>
              <a:gd name="connsiteY4" fmla="*/ 62753 h 134471"/>
              <a:gd name="connsiteX5" fmla="*/ 188259 w 188259"/>
              <a:gd name="connsiteY5" fmla="*/ 80683 h 13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259" h="134471">
                <a:moveTo>
                  <a:pt x="0" y="134471"/>
                </a:moveTo>
                <a:cubicBezTo>
                  <a:pt x="76060" y="39395"/>
                  <a:pt x="10288" y="134373"/>
                  <a:pt x="44824" y="53788"/>
                </a:cubicBezTo>
                <a:cubicBezTo>
                  <a:pt x="49068" y="43885"/>
                  <a:pt x="57935" y="36531"/>
                  <a:pt x="62753" y="26894"/>
                </a:cubicBezTo>
                <a:cubicBezTo>
                  <a:pt x="66979" y="18442"/>
                  <a:pt x="68730" y="8965"/>
                  <a:pt x="71718" y="0"/>
                </a:cubicBezTo>
                <a:cubicBezTo>
                  <a:pt x="141405" y="13938"/>
                  <a:pt x="105769" y="-1809"/>
                  <a:pt x="170330" y="62753"/>
                </a:cubicBezTo>
                <a:lnTo>
                  <a:pt x="188259" y="8068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1C3486-E475-460D-873C-8BF2855262CE}"/>
              </a:ext>
            </a:extLst>
          </p:cNvPr>
          <p:cNvSpPr txBox="1"/>
          <p:nvPr/>
        </p:nvSpPr>
        <p:spPr>
          <a:xfrm>
            <a:off x="6746882" y="3415158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/>
              <a:t>x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868785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BBC97F-EF38-43FF-B421-2BF8D528ACB0}"/>
              </a:ext>
            </a:extLst>
          </p:cNvPr>
          <p:cNvSpPr txBox="1"/>
          <p:nvPr/>
        </p:nvSpPr>
        <p:spPr>
          <a:xfrm>
            <a:off x="4257603" y="125502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(2/14)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65244E6-027B-4529-8B58-543475747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776" y="1101613"/>
            <a:ext cx="8928847" cy="41992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8FC2D9-08E8-4156-B4AB-2F4DFC3E11A4}"/>
              </a:ext>
            </a:extLst>
          </p:cNvPr>
          <p:cNvSpPr txBox="1"/>
          <p:nvPr/>
        </p:nvSpPr>
        <p:spPr>
          <a:xfrm>
            <a:off x="5791199" y="5569128"/>
            <a:ext cx="492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y = </a:t>
            </a:r>
            <a:r>
              <a:rPr lang="ko-KR" altLang="en-US"/>
              <a:t>활성함수</a:t>
            </a:r>
            <a:r>
              <a:rPr lang="en-US" altLang="ko-KR"/>
              <a:t>(w</a:t>
            </a:r>
            <a:r>
              <a:rPr lang="en-US" altLang="ko-KR" baseline="-25000"/>
              <a:t>0</a:t>
            </a:r>
            <a:r>
              <a:rPr lang="en-US" altLang="ko-KR"/>
              <a:t>*x</a:t>
            </a:r>
            <a:r>
              <a:rPr lang="en-US" altLang="ko-KR" baseline="-25000"/>
              <a:t>0</a:t>
            </a:r>
            <a:r>
              <a:rPr lang="en-US" altLang="ko-KR"/>
              <a:t> + w</a:t>
            </a:r>
            <a:r>
              <a:rPr lang="en-US" altLang="ko-KR" baseline="-25000"/>
              <a:t>1</a:t>
            </a:r>
            <a:r>
              <a:rPr lang="en-US" altLang="ko-KR"/>
              <a:t>*x</a:t>
            </a:r>
            <a:r>
              <a:rPr lang="en-US" altLang="ko-KR" baseline="-25000"/>
              <a:t>1</a:t>
            </a:r>
            <a:r>
              <a:rPr lang="en-US" altLang="ko-KR"/>
              <a:t> + w</a:t>
            </a:r>
            <a:r>
              <a:rPr lang="en-US" altLang="ko-KR" baseline="-25000"/>
              <a:t>2</a:t>
            </a:r>
            <a:r>
              <a:rPr lang="en-US" altLang="ko-KR"/>
              <a:t>*x</a:t>
            </a:r>
            <a:r>
              <a:rPr lang="en-US" altLang="ko-KR" baseline="-25000"/>
              <a:t>2</a:t>
            </a:r>
            <a:r>
              <a:rPr lang="en-US" altLang="ko-KR"/>
              <a:t> + w</a:t>
            </a:r>
            <a:r>
              <a:rPr lang="en-US" altLang="ko-KR" baseline="-25000"/>
              <a:t>3</a:t>
            </a:r>
            <a:r>
              <a:rPr lang="en-US" altLang="ko-KR"/>
              <a:t>*x</a:t>
            </a:r>
            <a:r>
              <a:rPr lang="en-US" altLang="ko-KR" baseline="-25000"/>
              <a:t>3</a:t>
            </a:r>
            <a:r>
              <a:rPr lang="en-US" altLang="ko-KR"/>
              <a:t> )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3507A-CA53-4EBB-AD6D-B8B1AB523930}"/>
              </a:ext>
            </a:extLst>
          </p:cNvPr>
          <p:cNvSpPr txBox="1"/>
          <p:nvPr/>
        </p:nvSpPr>
        <p:spPr>
          <a:xfrm>
            <a:off x="6418731" y="264797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수상돌기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DD99D3-7A86-4B42-AFCA-92EEEFACF2C1}"/>
              </a:ext>
            </a:extLst>
          </p:cNvPr>
          <p:cNvSpPr txBox="1"/>
          <p:nvPr/>
        </p:nvSpPr>
        <p:spPr>
          <a:xfrm>
            <a:off x="3935506" y="566146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7D387-BED1-4FD0-847B-A665DBFA1455}"/>
              </a:ext>
            </a:extLst>
          </p:cNvPr>
          <p:cNvSpPr txBox="1"/>
          <p:nvPr/>
        </p:nvSpPr>
        <p:spPr>
          <a:xfrm>
            <a:off x="8075712" y="347825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세포체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3B63A-8699-460A-9556-67B61CB108A9}"/>
              </a:ext>
            </a:extLst>
          </p:cNvPr>
          <p:cNvSpPr txBox="1"/>
          <p:nvPr/>
        </p:nvSpPr>
        <p:spPr>
          <a:xfrm>
            <a:off x="8842502" y="320125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세포체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BAEFD-6732-4D44-9ECD-5AF74B362206}"/>
              </a:ext>
            </a:extLst>
          </p:cNvPr>
          <p:cNvSpPr txBox="1"/>
          <p:nvPr/>
        </p:nvSpPr>
        <p:spPr>
          <a:xfrm>
            <a:off x="9724960" y="320125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축삭돌기</a:t>
            </a:r>
          </a:p>
        </p:txBody>
      </p:sp>
    </p:spTree>
    <p:extLst>
      <p:ext uri="{BB962C8B-B14F-4D97-AF65-F5344CB8AC3E}">
        <p14:creationId xmlns:p14="http://schemas.microsoft.com/office/powerpoint/2010/main" val="344666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30091C-A316-4670-ABBD-9C60493A1022}"/>
              </a:ext>
            </a:extLst>
          </p:cNvPr>
          <p:cNvSpPr txBox="1"/>
          <p:nvPr/>
        </p:nvSpPr>
        <p:spPr>
          <a:xfrm>
            <a:off x="4257603" y="125502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(3/14)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BD26DFA-DE5F-47E0-945F-FC6D8F3F0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7" y="977809"/>
            <a:ext cx="6391835" cy="2935565"/>
          </a:xfrm>
          <a:prstGeom prst="rect">
            <a:avLst/>
          </a:prstGeom>
        </p:spPr>
      </p:pic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D6B9220A-DFB6-489F-B407-A4799A07FF52}"/>
              </a:ext>
            </a:extLst>
          </p:cNvPr>
          <p:cNvSpPr/>
          <p:nvPr/>
        </p:nvSpPr>
        <p:spPr>
          <a:xfrm>
            <a:off x="2492189" y="3666564"/>
            <a:ext cx="1039906" cy="753035"/>
          </a:xfrm>
          <a:custGeom>
            <a:avLst/>
            <a:gdLst>
              <a:gd name="connsiteX0" fmla="*/ 1039906 w 1039906"/>
              <a:gd name="connsiteY0" fmla="*/ 753035 h 753035"/>
              <a:gd name="connsiteX1" fmla="*/ 609600 w 1039906"/>
              <a:gd name="connsiteY1" fmla="*/ 726141 h 753035"/>
              <a:gd name="connsiteX2" fmla="*/ 582706 w 1039906"/>
              <a:gd name="connsiteY2" fmla="*/ 717176 h 753035"/>
              <a:gd name="connsiteX3" fmla="*/ 546847 w 1039906"/>
              <a:gd name="connsiteY3" fmla="*/ 708211 h 753035"/>
              <a:gd name="connsiteX4" fmla="*/ 502023 w 1039906"/>
              <a:gd name="connsiteY4" fmla="*/ 654423 h 753035"/>
              <a:gd name="connsiteX5" fmla="*/ 466165 w 1039906"/>
              <a:gd name="connsiteY5" fmla="*/ 627529 h 753035"/>
              <a:gd name="connsiteX6" fmla="*/ 457200 w 1039906"/>
              <a:gd name="connsiteY6" fmla="*/ 439270 h 753035"/>
              <a:gd name="connsiteX7" fmla="*/ 403412 w 1039906"/>
              <a:gd name="connsiteY7" fmla="*/ 385482 h 753035"/>
              <a:gd name="connsiteX8" fmla="*/ 358588 w 1039906"/>
              <a:gd name="connsiteY8" fmla="*/ 349623 h 753035"/>
              <a:gd name="connsiteX9" fmla="*/ 331694 w 1039906"/>
              <a:gd name="connsiteY9" fmla="*/ 340658 h 753035"/>
              <a:gd name="connsiteX10" fmla="*/ 277906 w 1039906"/>
              <a:gd name="connsiteY10" fmla="*/ 313764 h 753035"/>
              <a:gd name="connsiteX11" fmla="*/ 233082 w 1039906"/>
              <a:gd name="connsiteY11" fmla="*/ 304800 h 753035"/>
              <a:gd name="connsiteX12" fmla="*/ 134471 w 1039906"/>
              <a:gd name="connsiteY12" fmla="*/ 277906 h 753035"/>
              <a:gd name="connsiteX13" fmla="*/ 98612 w 1039906"/>
              <a:gd name="connsiteY13" fmla="*/ 259976 h 753035"/>
              <a:gd name="connsiteX14" fmla="*/ 80682 w 1039906"/>
              <a:gd name="connsiteY14" fmla="*/ 242047 h 753035"/>
              <a:gd name="connsiteX15" fmla="*/ 44823 w 1039906"/>
              <a:gd name="connsiteY15" fmla="*/ 215153 h 753035"/>
              <a:gd name="connsiteX16" fmla="*/ 17929 w 1039906"/>
              <a:gd name="connsiteY16" fmla="*/ 134470 h 753035"/>
              <a:gd name="connsiteX17" fmla="*/ 8965 w 1039906"/>
              <a:gd name="connsiteY17" fmla="*/ 107576 h 753035"/>
              <a:gd name="connsiteX18" fmla="*/ 0 w 1039906"/>
              <a:gd name="connsiteY18" fmla="*/ 0 h 75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39906" h="753035">
                <a:moveTo>
                  <a:pt x="1039906" y="753035"/>
                </a:moveTo>
                <a:cubicBezTo>
                  <a:pt x="862360" y="717525"/>
                  <a:pt x="1065915" y="755901"/>
                  <a:pt x="609600" y="726141"/>
                </a:cubicBezTo>
                <a:cubicBezTo>
                  <a:pt x="600170" y="725526"/>
                  <a:pt x="591792" y="719772"/>
                  <a:pt x="582706" y="717176"/>
                </a:cubicBezTo>
                <a:cubicBezTo>
                  <a:pt x="570859" y="713791"/>
                  <a:pt x="558800" y="711199"/>
                  <a:pt x="546847" y="708211"/>
                </a:cubicBezTo>
                <a:cubicBezTo>
                  <a:pt x="478270" y="662494"/>
                  <a:pt x="562681" y="725191"/>
                  <a:pt x="502023" y="654423"/>
                </a:cubicBezTo>
                <a:cubicBezTo>
                  <a:pt x="492300" y="643079"/>
                  <a:pt x="478118" y="636494"/>
                  <a:pt x="466165" y="627529"/>
                </a:cubicBezTo>
                <a:cubicBezTo>
                  <a:pt x="463177" y="564776"/>
                  <a:pt x="472966" y="500084"/>
                  <a:pt x="457200" y="439270"/>
                </a:cubicBezTo>
                <a:cubicBezTo>
                  <a:pt x="450837" y="414726"/>
                  <a:pt x="421341" y="403411"/>
                  <a:pt x="403412" y="385482"/>
                </a:cubicBezTo>
                <a:cubicBezTo>
                  <a:pt x="386738" y="368808"/>
                  <a:pt x="381202" y="360930"/>
                  <a:pt x="358588" y="349623"/>
                </a:cubicBezTo>
                <a:cubicBezTo>
                  <a:pt x="350136" y="345397"/>
                  <a:pt x="340146" y="344884"/>
                  <a:pt x="331694" y="340658"/>
                </a:cubicBezTo>
                <a:cubicBezTo>
                  <a:pt x="287877" y="318750"/>
                  <a:pt x="322967" y="325029"/>
                  <a:pt x="277906" y="313764"/>
                </a:cubicBezTo>
                <a:cubicBezTo>
                  <a:pt x="263124" y="310069"/>
                  <a:pt x="247782" y="308809"/>
                  <a:pt x="233082" y="304800"/>
                </a:cubicBezTo>
                <a:cubicBezTo>
                  <a:pt x="107966" y="270678"/>
                  <a:pt x="243678" y="299746"/>
                  <a:pt x="134471" y="277906"/>
                </a:cubicBezTo>
                <a:cubicBezTo>
                  <a:pt x="122518" y="271929"/>
                  <a:pt x="109731" y="267389"/>
                  <a:pt x="98612" y="259976"/>
                </a:cubicBezTo>
                <a:cubicBezTo>
                  <a:pt x="91579" y="255288"/>
                  <a:pt x="87175" y="247458"/>
                  <a:pt x="80682" y="242047"/>
                </a:cubicBezTo>
                <a:cubicBezTo>
                  <a:pt x="69204" y="232482"/>
                  <a:pt x="56776" y="224118"/>
                  <a:pt x="44823" y="215153"/>
                </a:cubicBezTo>
                <a:lnTo>
                  <a:pt x="17929" y="134470"/>
                </a:lnTo>
                <a:lnTo>
                  <a:pt x="8965" y="107576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FCB52-39E3-4331-BB5B-900E485F87A0}"/>
              </a:ext>
            </a:extLst>
          </p:cNvPr>
          <p:cNvSpPr txBox="1"/>
          <p:nvPr/>
        </p:nvSpPr>
        <p:spPr>
          <a:xfrm>
            <a:off x="3505474" y="4419598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곡선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B57D3D-CC15-4FB0-A098-981D727EE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230" y="977809"/>
            <a:ext cx="2515160" cy="15589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C5552A-4D79-4B0B-B4AA-6748F62AB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707" y="3232362"/>
            <a:ext cx="5496206" cy="23744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5372C3D-5EC0-4801-B096-C763567D1983}"/>
              </a:ext>
            </a:extLst>
          </p:cNvPr>
          <p:cNvSpPr/>
          <p:nvPr/>
        </p:nvSpPr>
        <p:spPr>
          <a:xfrm>
            <a:off x="8498541" y="842682"/>
            <a:ext cx="1882588" cy="19722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ECEF6-8A0E-42D1-A8D2-3C5461B9B128}"/>
              </a:ext>
            </a:extLst>
          </p:cNvPr>
          <p:cNvSpPr txBox="1"/>
          <p:nvPr/>
        </p:nvSpPr>
        <p:spPr>
          <a:xfrm>
            <a:off x="6848635" y="2793494"/>
            <a:ext cx="492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y = </a:t>
            </a:r>
            <a:r>
              <a:rPr lang="ko-KR" altLang="en-US"/>
              <a:t>활성함수</a:t>
            </a:r>
            <a:r>
              <a:rPr lang="en-US" altLang="ko-KR"/>
              <a:t>(w</a:t>
            </a:r>
            <a:r>
              <a:rPr lang="en-US" altLang="ko-KR" baseline="-25000"/>
              <a:t>0</a:t>
            </a:r>
            <a:r>
              <a:rPr lang="en-US" altLang="ko-KR"/>
              <a:t>*x</a:t>
            </a:r>
            <a:r>
              <a:rPr lang="en-US" altLang="ko-KR" baseline="-25000"/>
              <a:t>0</a:t>
            </a:r>
            <a:r>
              <a:rPr lang="en-US" altLang="ko-KR"/>
              <a:t> + w</a:t>
            </a:r>
            <a:r>
              <a:rPr lang="en-US" altLang="ko-KR" baseline="-25000"/>
              <a:t>1</a:t>
            </a:r>
            <a:r>
              <a:rPr lang="en-US" altLang="ko-KR"/>
              <a:t>*x</a:t>
            </a:r>
            <a:r>
              <a:rPr lang="en-US" altLang="ko-KR" baseline="-25000"/>
              <a:t>1</a:t>
            </a:r>
            <a:r>
              <a:rPr lang="en-US" altLang="ko-KR"/>
              <a:t> + w</a:t>
            </a:r>
            <a:r>
              <a:rPr lang="en-US" altLang="ko-KR" baseline="-25000"/>
              <a:t>2</a:t>
            </a:r>
            <a:r>
              <a:rPr lang="en-US" altLang="ko-KR"/>
              <a:t>*x</a:t>
            </a:r>
            <a:r>
              <a:rPr lang="en-US" altLang="ko-KR" baseline="-25000"/>
              <a:t>2</a:t>
            </a:r>
            <a:r>
              <a:rPr lang="en-US" altLang="ko-KR"/>
              <a:t> + w</a:t>
            </a:r>
            <a:r>
              <a:rPr lang="en-US" altLang="ko-KR" baseline="-25000"/>
              <a:t>3</a:t>
            </a:r>
            <a:r>
              <a:rPr lang="en-US" altLang="ko-KR"/>
              <a:t>*x</a:t>
            </a:r>
            <a:r>
              <a:rPr lang="en-US" altLang="ko-KR" baseline="-25000"/>
              <a:t>3</a:t>
            </a:r>
            <a:r>
              <a:rPr lang="en-US" altLang="ko-KR"/>
              <a:t> 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12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30091C-A316-4670-ABBD-9C60493A1022}"/>
              </a:ext>
            </a:extLst>
          </p:cNvPr>
          <p:cNvSpPr txBox="1"/>
          <p:nvPr/>
        </p:nvSpPr>
        <p:spPr>
          <a:xfrm>
            <a:off x="4257603" y="125502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(4/14)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E2956F6-69DA-4A63-B001-EEDB80961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908" y="1219802"/>
            <a:ext cx="7067940" cy="41757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3E9188-C976-4EEA-9C30-E5C4DE566676}"/>
              </a:ext>
            </a:extLst>
          </p:cNvPr>
          <p:cNvSpPr txBox="1"/>
          <p:nvPr/>
        </p:nvSpPr>
        <p:spPr>
          <a:xfrm>
            <a:off x="574658" y="2017059"/>
            <a:ext cx="13086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Perceptron</a:t>
            </a:r>
          </a:p>
          <a:p>
            <a:r>
              <a:rPr lang="ko-KR" altLang="en-US"/>
              <a:t>또는</a:t>
            </a:r>
            <a:endParaRPr lang="en-US" altLang="ko-KR"/>
          </a:p>
          <a:p>
            <a:r>
              <a:rPr lang="en-US" altLang="ko-KR">
                <a:solidFill>
                  <a:srgbClr val="0070C0"/>
                </a:solidFill>
              </a:rPr>
              <a:t>Unit</a:t>
            </a:r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4739C683-A9AB-4631-825F-6DE38DD247AC}"/>
              </a:ext>
            </a:extLst>
          </p:cNvPr>
          <p:cNvSpPr/>
          <p:nvPr/>
        </p:nvSpPr>
        <p:spPr>
          <a:xfrm>
            <a:off x="1586753" y="2248645"/>
            <a:ext cx="2590800" cy="369032"/>
          </a:xfrm>
          <a:custGeom>
            <a:avLst/>
            <a:gdLst>
              <a:gd name="connsiteX0" fmla="*/ 0 w 2590800"/>
              <a:gd name="connsiteY0" fmla="*/ 188259 h 369032"/>
              <a:gd name="connsiteX1" fmla="*/ 44823 w 2590800"/>
              <a:gd name="connsiteY1" fmla="*/ 215153 h 369032"/>
              <a:gd name="connsiteX2" fmla="*/ 98611 w 2590800"/>
              <a:gd name="connsiteY2" fmla="*/ 251011 h 369032"/>
              <a:gd name="connsiteX3" fmla="*/ 170329 w 2590800"/>
              <a:gd name="connsiteY3" fmla="*/ 268941 h 369032"/>
              <a:gd name="connsiteX4" fmla="*/ 502023 w 2590800"/>
              <a:gd name="connsiteY4" fmla="*/ 259976 h 369032"/>
              <a:gd name="connsiteX5" fmla="*/ 618564 w 2590800"/>
              <a:gd name="connsiteY5" fmla="*/ 224117 h 369032"/>
              <a:gd name="connsiteX6" fmla="*/ 672353 w 2590800"/>
              <a:gd name="connsiteY6" fmla="*/ 215153 h 369032"/>
              <a:gd name="connsiteX7" fmla="*/ 717176 w 2590800"/>
              <a:gd name="connsiteY7" fmla="*/ 206188 h 369032"/>
              <a:gd name="connsiteX8" fmla="*/ 762000 w 2590800"/>
              <a:gd name="connsiteY8" fmla="*/ 179294 h 369032"/>
              <a:gd name="connsiteX9" fmla="*/ 824753 w 2590800"/>
              <a:gd name="connsiteY9" fmla="*/ 161364 h 369032"/>
              <a:gd name="connsiteX10" fmla="*/ 869576 w 2590800"/>
              <a:gd name="connsiteY10" fmla="*/ 143435 h 369032"/>
              <a:gd name="connsiteX11" fmla="*/ 896470 w 2590800"/>
              <a:gd name="connsiteY11" fmla="*/ 134470 h 369032"/>
              <a:gd name="connsiteX12" fmla="*/ 932329 w 2590800"/>
              <a:gd name="connsiteY12" fmla="*/ 116541 h 369032"/>
              <a:gd name="connsiteX13" fmla="*/ 959223 w 2590800"/>
              <a:gd name="connsiteY13" fmla="*/ 98611 h 369032"/>
              <a:gd name="connsiteX14" fmla="*/ 995082 w 2590800"/>
              <a:gd name="connsiteY14" fmla="*/ 89647 h 369032"/>
              <a:gd name="connsiteX15" fmla="*/ 1030941 w 2590800"/>
              <a:gd name="connsiteY15" fmla="*/ 71717 h 369032"/>
              <a:gd name="connsiteX16" fmla="*/ 1084729 w 2590800"/>
              <a:gd name="connsiteY16" fmla="*/ 53788 h 369032"/>
              <a:gd name="connsiteX17" fmla="*/ 1120588 w 2590800"/>
              <a:gd name="connsiteY17" fmla="*/ 35859 h 369032"/>
              <a:gd name="connsiteX18" fmla="*/ 1174376 w 2590800"/>
              <a:gd name="connsiteY18" fmla="*/ 26894 h 369032"/>
              <a:gd name="connsiteX19" fmla="*/ 1210235 w 2590800"/>
              <a:gd name="connsiteY19" fmla="*/ 17929 h 369032"/>
              <a:gd name="connsiteX20" fmla="*/ 1281953 w 2590800"/>
              <a:gd name="connsiteY20" fmla="*/ 0 h 369032"/>
              <a:gd name="connsiteX21" fmla="*/ 1757082 w 2590800"/>
              <a:gd name="connsiteY21" fmla="*/ 8964 h 369032"/>
              <a:gd name="connsiteX22" fmla="*/ 1837764 w 2590800"/>
              <a:gd name="connsiteY22" fmla="*/ 35859 h 369032"/>
              <a:gd name="connsiteX23" fmla="*/ 1927411 w 2590800"/>
              <a:gd name="connsiteY23" fmla="*/ 53788 h 369032"/>
              <a:gd name="connsiteX24" fmla="*/ 1954306 w 2590800"/>
              <a:gd name="connsiteY24" fmla="*/ 71717 h 369032"/>
              <a:gd name="connsiteX25" fmla="*/ 2061882 w 2590800"/>
              <a:gd name="connsiteY25" fmla="*/ 98611 h 369032"/>
              <a:gd name="connsiteX26" fmla="*/ 2151529 w 2590800"/>
              <a:gd name="connsiteY26" fmla="*/ 143435 h 369032"/>
              <a:gd name="connsiteX27" fmla="*/ 2241176 w 2590800"/>
              <a:gd name="connsiteY27" fmla="*/ 179294 h 369032"/>
              <a:gd name="connsiteX28" fmla="*/ 2268070 w 2590800"/>
              <a:gd name="connsiteY28" fmla="*/ 197223 h 369032"/>
              <a:gd name="connsiteX29" fmla="*/ 2294964 w 2590800"/>
              <a:gd name="connsiteY29" fmla="*/ 206188 h 369032"/>
              <a:gd name="connsiteX30" fmla="*/ 2330823 w 2590800"/>
              <a:gd name="connsiteY30" fmla="*/ 224117 h 369032"/>
              <a:gd name="connsiteX31" fmla="*/ 2393576 w 2590800"/>
              <a:gd name="connsiteY31" fmla="*/ 259976 h 369032"/>
              <a:gd name="connsiteX32" fmla="*/ 2465294 w 2590800"/>
              <a:gd name="connsiteY32" fmla="*/ 286870 h 369032"/>
              <a:gd name="connsiteX33" fmla="*/ 2483223 w 2590800"/>
              <a:gd name="connsiteY33" fmla="*/ 313764 h 369032"/>
              <a:gd name="connsiteX34" fmla="*/ 2519082 w 2590800"/>
              <a:gd name="connsiteY34" fmla="*/ 331694 h 369032"/>
              <a:gd name="connsiteX35" fmla="*/ 2545976 w 2590800"/>
              <a:gd name="connsiteY35" fmla="*/ 349623 h 369032"/>
              <a:gd name="connsiteX36" fmla="*/ 2563906 w 2590800"/>
              <a:gd name="connsiteY36" fmla="*/ 367553 h 369032"/>
              <a:gd name="connsiteX37" fmla="*/ 2590800 w 2590800"/>
              <a:gd name="connsiteY37" fmla="*/ 367553 h 36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590800" h="369032">
                <a:moveTo>
                  <a:pt x="0" y="188259"/>
                </a:moveTo>
                <a:cubicBezTo>
                  <a:pt x="14941" y="197224"/>
                  <a:pt x="30644" y="205026"/>
                  <a:pt x="44823" y="215153"/>
                </a:cubicBezTo>
                <a:cubicBezTo>
                  <a:pt x="80721" y="240794"/>
                  <a:pt x="41726" y="232049"/>
                  <a:pt x="98611" y="251011"/>
                </a:cubicBezTo>
                <a:cubicBezTo>
                  <a:pt x="121988" y="258803"/>
                  <a:pt x="170329" y="268941"/>
                  <a:pt x="170329" y="268941"/>
                </a:cubicBezTo>
                <a:lnTo>
                  <a:pt x="502023" y="259976"/>
                </a:lnTo>
                <a:cubicBezTo>
                  <a:pt x="572560" y="256695"/>
                  <a:pt x="546240" y="246370"/>
                  <a:pt x="618564" y="224117"/>
                </a:cubicBezTo>
                <a:cubicBezTo>
                  <a:pt x="635937" y="218772"/>
                  <a:pt x="654469" y="218405"/>
                  <a:pt x="672353" y="215153"/>
                </a:cubicBezTo>
                <a:cubicBezTo>
                  <a:pt x="687344" y="212427"/>
                  <a:pt x="702235" y="209176"/>
                  <a:pt x="717176" y="206188"/>
                </a:cubicBezTo>
                <a:cubicBezTo>
                  <a:pt x="732117" y="197223"/>
                  <a:pt x="745916" y="185996"/>
                  <a:pt x="762000" y="179294"/>
                </a:cubicBezTo>
                <a:cubicBezTo>
                  <a:pt x="782081" y="170927"/>
                  <a:pt x="804115" y="168244"/>
                  <a:pt x="824753" y="161364"/>
                </a:cubicBezTo>
                <a:cubicBezTo>
                  <a:pt x="840019" y="156275"/>
                  <a:pt x="854509" y="149085"/>
                  <a:pt x="869576" y="143435"/>
                </a:cubicBezTo>
                <a:cubicBezTo>
                  <a:pt x="878424" y="140117"/>
                  <a:pt x="887784" y="138192"/>
                  <a:pt x="896470" y="134470"/>
                </a:cubicBezTo>
                <a:cubicBezTo>
                  <a:pt x="908753" y="129206"/>
                  <a:pt x="920726" y="123171"/>
                  <a:pt x="932329" y="116541"/>
                </a:cubicBezTo>
                <a:cubicBezTo>
                  <a:pt x="941684" y="111195"/>
                  <a:pt x="949320" y="102855"/>
                  <a:pt x="959223" y="98611"/>
                </a:cubicBezTo>
                <a:cubicBezTo>
                  <a:pt x="970548" y="93758"/>
                  <a:pt x="983129" y="92635"/>
                  <a:pt x="995082" y="89647"/>
                </a:cubicBezTo>
                <a:cubicBezTo>
                  <a:pt x="1007035" y="83670"/>
                  <a:pt x="1018533" y="76680"/>
                  <a:pt x="1030941" y="71717"/>
                </a:cubicBezTo>
                <a:cubicBezTo>
                  <a:pt x="1048488" y="64698"/>
                  <a:pt x="1067825" y="62240"/>
                  <a:pt x="1084729" y="53788"/>
                </a:cubicBezTo>
                <a:cubicBezTo>
                  <a:pt x="1096682" y="47812"/>
                  <a:pt x="1107788" y="39699"/>
                  <a:pt x="1120588" y="35859"/>
                </a:cubicBezTo>
                <a:cubicBezTo>
                  <a:pt x="1137998" y="30636"/>
                  <a:pt x="1156552" y="30459"/>
                  <a:pt x="1174376" y="26894"/>
                </a:cubicBezTo>
                <a:cubicBezTo>
                  <a:pt x="1186458" y="24478"/>
                  <a:pt x="1198208" y="20602"/>
                  <a:pt x="1210235" y="17929"/>
                </a:cubicBezTo>
                <a:cubicBezTo>
                  <a:pt x="1275146" y="3504"/>
                  <a:pt x="1233893" y="16019"/>
                  <a:pt x="1281953" y="0"/>
                </a:cubicBezTo>
                <a:lnTo>
                  <a:pt x="1757082" y="8964"/>
                </a:lnTo>
                <a:cubicBezTo>
                  <a:pt x="1824977" y="11305"/>
                  <a:pt x="1779537" y="19222"/>
                  <a:pt x="1837764" y="35859"/>
                </a:cubicBezTo>
                <a:cubicBezTo>
                  <a:pt x="1867066" y="44231"/>
                  <a:pt x="1927411" y="53788"/>
                  <a:pt x="1927411" y="53788"/>
                </a:cubicBezTo>
                <a:cubicBezTo>
                  <a:pt x="1936376" y="59764"/>
                  <a:pt x="1944084" y="68310"/>
                  <a:pt x="1954306" y="71717"/>
                </a:cubicBezTo>
                <a:cubicBezTo>
                  <a:pt x="2030840" y="97228"/>
                  <a:pt x="1986583" y="60961"/>
                  <a:pt x="2061882" y="98611"/>
                </a:cubicBezTo>
                <a:cubicBezTo>
                  <a:pt x="2091764" y="113552"/>
                  <a:pt x="2119834" y="132870"/>
                  <a:pt x="2151529" y="143435"/>
                </a:cubicBezTo>
                <a:cubicBezTo>
                  <a:pt x="2187299" y="155359"/>
                  <a:pt x="2200356" y="158884"/>
                  <a:pt x="2241176" y="179294"/>
                </a:cubicBezTo>
                <a:cubicBezTo>
                  <a:pt x="2250813" y="184112"/>
                  <a:pt x="2258433" y="192405"/>
                  <a:pt x="2268070" y="197223"/>
                </a:cubicBezTo>
                <a:cubicBezTo>
                  <a:pt x="2276522" y="201449"/>
                  <a:pt x="2286278" y="202466"/>
                  <a:pt x="2294964" y="206188"/>
                </a:cubicBezTo>
                <a:cubicBezTo>
                  <a:pt x="2307247" y="211452"/>
                  <a:pt x="2318870" y="218141"/>
                  <a:pt x="2330823" y="224117"/>
                </a:cubicBezTo>
                <a:cubicBezTo>
                  <a:pt x="2362345" y="255639"/>
                  <a:pt x="2336691" y="234693"/>
                  <a:pt x="2393576" y="259976"/>
                </a:cubicBezTo>
                <a:cubicBezTo>
                  <a:pt x="2453850" y="286765"/>
                  <a:pt x="2404121" y="271578"/>
                  <a:pt x="2465294" y="286870"/>
                </a:cubicBezTo>
                <a:cubicBezTo>
                  <a:pt x="2471270" y="295835"/>
                  <a:pt x="2474946" y="306867"/>
                  <a:pt x="2483223" y="313764"/>
                </a:cubicBezTo>
                <a:cubicBezTo>
                  <a:pt x="2493489" y="322319"/>
                  <a:pt x="2507479" y="325064"/>
                  <a:pt x="2519082" y="331694"/>
                </a:cubicBezTo>
                <a:cubicBezTo>
                  <a:pt x="2528437" y="337039"/>
                  <a:pt x="2537563" y="342892"/>
                  <a:pt x="2545976" y="349623"/>
                </a:cubicBezTo>
                <a:cubicBezTo>
                  <a:pt x="2552576" y="354903"/>
                  <a:pt x="2556058" y="364414"/>
                  <a:pt x="2563906" y="367553"/>
                </a:cubicBezTo>
                <a:cubicBezTo>
                  <a:pt x="2572229" y="370882"/>
                  <a:pt x="2581835" y="367553"/>
                  <a:pt x="2590800" y="367553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7B760-BAEA-4286-9695-ED1DDBB90F86}"/>
              </a:ext>
            </a:extLst>
          </p:cNvPr>
          <p:cNvSpPr txBox="1"/>
          <p:nvPr/>
        </p:nvSpPr>
        <p:spPr>
          <a:xfrm>
            <a:off x="9687967" y="2846035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결과값은 </a:t>
            </a:r>
            <a:r>
              <a:rPr lang="en-US" altLang="ko-KR">
                <a:solidFill>
                  <a:srgbClr val="FF0000"/>
                </a:solidFill>
              </a:rPr>
              <a:t>1</a:t>
            </a:r>
            <a:r>
              <a:rPr lang="ko-KR" altLang="en-US">
                <a:solidFill>
                  <a:srgbClr val="FF0000"/>
                </a:solidFill>
              </a:rPr>
              <a:t>개</a:t>
            </a:r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3D77B-E692-467D-80D2-03AF4F41E82F}"/>
              </a:ext>
            </a:extLst>
          </p:cNvPr>
          <p:cNvSpPr txBox="1"/>
          <p:nvPr/>
        </p:nvSpPr>
        <p:spPr>
          <a:xfrm>
            <a:off x="2133600" y="5638198"/>
            <a:ext cx="1827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Fully connected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24C6E2-409D-4113-9727-70ED2D7D1085}"/>
              </a:ext>
            </a:extLst>
          </p:cNvPr>
          <p:cNvSpPr txBox="1"/>
          <p:nvPr/>
        </p:nvSpPr>
        <p:spPr>
          <a:xfrm>
            <a:off x="3047311" y="2663997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w</a:t>
            </a:r>
            <a:r>
              <a:rPr lang="en-US" altLang="ko-KR" baseline="-25000"/>
              <a:t>0</a:t>
            </a:r>
            <a:endParaRPr lang="ko-KR" altLang="en-US" baseline="-25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815577-37C5-4FC6-AB43-1DCEA7D2E920}"/>
              </a:ext>
            </a:extLst>
          </p:cNvPr>
          <p:cNvSpPr txBox="1"/>
          <p:nvPr/>
        </p:nvSpPr>
        <p:spPr>
          <a:xfrm>
            <a:off x="3069689" y="2940389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w</a:t>
            </a:r>
            <a:r>
              <a:rPr lang="en-US" altLang="ko-KR" baseline="-25000"/>
              <a:t>1</a:t>
            </a:r>
            <a:endParaRPr lang="ko-KR" altLang="en-US" baseline="-25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872DB-5DCC-4185-A1A8-82F34FD59502}"/>
              </a:ext>
            </a:extLst>
          </p:cNvPr>
          <p:cNvSpPr txBox="1"/>
          <p:nvPr/>
        </p:nvSpPr>
        <p:spPr>
          <a:xfrm>
            <a:off x="5077783" y="2751241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w</a:t>
            </a:r>
            <a:r>
              <a:rPr lang="en-US" altLang="ko-KR" baseline="-25000"/>
              <a:t>i</a:t>
            </a:r>
            <a:endParaRPr lang="ko-KR" altLang="en-US" baseline="-25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0428B6-69FF-475D-8907-D4AFCF18C109}"/>
              </a:ext>
            </a:extLst>
          </p:cNvPr>
          <p:cNvSpPr txBox="1"/>
          <p:nvPr/>
        </p:nvSpPr>
        <p:spPr>
          <a:xfrm>
            <a:off x="5198350" y="3368096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w</a:t>
            </a:r>
            <a:r>
              <a:rPr lang="en-US" altLang="ko-KR" baseline="-25000"/>
              <a:t>j</a:t>
            </a:r>
            <a:endParaRPr lang="ko-KR" altLang="en-US" baseline="-25000"/>
          </a:p>
        </p:txBody>
      </p:sp>
    </p:spTree>
    <p:extLst>
      <p:ext uri="{BB962C8B-B14F-4D97-AF65-F5344CB8AC3E}">
        <p14:creationId xmlns:p14="http://schemas.microsoft.com/office/powerpoint/2010/main" val="2047767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30091C-A316-4670-ABBD-9C60493A1022}"/>
              </a:ext>
            </a:extLst>
          </p:cNvPr>
          <p:cNvSpPr txBox="1"/>
          <p:nvPr/>
        </p:nvSpPr>
        <p:spPr>
          <a:xfrm>
            <a:off x="4257603" y="125502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(5/14)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339E52E-B818-48F3-94DB-80D0B137A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47" y="999921"/>
            <a:ext cx="6612824" cy="4858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58E838-DB9C-4A18-9987-108FBD21E94C}"/>
              </a:ext>
            </a:extLst>
          </p:cNvPr>
          <p:cNvSpPr txBox="1"/>
          <p:nvPr/>
        </p:nvSpPr>
        <p:spPr>
          <a:xfrm>
            <a:off x="7243482" y="999921"/>
            <a:ext cx="4240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Step</a:t>
            </a:r>
            <a:r>
              <a:rPr lang="ko-KR" altLang="en-US"/>
              <a:t> </a:t>
            </a:r>
            <a:r>
              <a:rPr lang="en-US" altLang="ko-KR"/>
              <a:t>function</a:t>
            </a:r>
          </a:p>
          <a:p>
            <a:r>
              <a:rPr lang="en-US" altLang="ko-KR"/>
              <a:t> =&gt; activation function </a:t>
            </a:r>
            <a:r>
              <a:rPr lang="ko-KR" altLang="en-US"/>
              <a:t>유형 중의 하나</a:t>
            </a:r>
          </a:p>
        </p:txBody>
      </p:sp>
    </p:spTree>
    <p:extLst>
      <p:ext uri="{BB962C8B-B14F-4D97-AF65-F5344CB8AC3E}">
        <p14:creationId xmlns:p14="http://schemas.microsoft.com/office/powerpoint/2010/main" val="392153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30091C-A316-4670-ABBD-9C60493A1022}"/>
              </a:ext>
            </a:extLst>
          </p:cNvPr>
          <p:cNvSpPr txBox="1"/>
          <p:nvPr/>
        </p:nvSpPr>
        <p:spPr>
          <a:xfrm>
            <a:off x="4257603" y="125502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(6/14)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211C19-81AA-45BD-BBB4-815771223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954" y="954741"/>
            <a:ext cx="7853082" cy="43708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2340E1-9C17-4CC3-87F8-001862EC10BF}"/>
              </a:ext>
            </a:extLst>
          </p:cNvPr>
          <p:cNvSpPr txBox="1"/>
          <p:nvPr/>
        </p:nvSpPr>
        <p:spPr>
          <a:xfrm>
            <a:off x="9645942" y="2138571"/>
            <a:ext cx="1338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ReLU</a:t>
            </a:r>
            <a:r>
              <a:rPr lang="ko-KR" altLang="en-US"/>
              <a:t>와</a:t>
            </a:r>
            <a:endParaRPr lang="en-US" altLang="ko-KR"/>
          </a:p>
          <a:p>
            <a:r>
              <a:rPr lang="ko-KR" altLang="en-US"/>
              <a:t>시그모이드</a:t>
            </a:r>
            <a:endParaRPr lang="en-US" altLang="ko-KR"/>
          </a:p>
          <a:p>
            <a:r>
              <a:rPr lang="ko-KR" altLang="en-US"/>
              <a:t>많이 사용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49DE7-5CC5-49E7-9C70-62DF5BEE30DB}"/>
              </a:ext>
            </a:extLst>
          </p:cNvPr>
          <p:cNvSpPr txBox="1"/>
          <p:nvPr/>
        </p:nvSpPr>
        <p:spPr>
          <a:xfrm>
            <a:off x="4257603" y="385079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0</a:t>
            </a:r>
            <a:endParaRPr lang="ko-KR" alt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21DE0-53B0-4CDA-AAAF-59B5A1A3EAE7}"/>
              </a:ext>
            </a:extLst>
          </p:cNvPr>
          <p:cNvSpPr txBox="1"/>
          <p:nvPr/>
        </p:nvSpPr>
        <p:spPr>
          <a:xfrm>
            <a:off x="5576390" y="344358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DCFAF-1F7C-4D11-B5F6-E8E09517C2D3}"/>
              </a:ext>
            </a:extLst>
          </p:cNvPr>
          <p:cNvSpPr txBox="1"/>
          <p:nvPr/>
        </p:nvSpPr>
        <p:spPr>
          <a:xfrm>
            <a:off x="4221744" y="4639685"/>
            <a:ext cx="332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-1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D9C6D-8A93-4022-9579-7F96FD91BAE6}"/>
              </a:ext>
            </a:extLst>
          </p:cNvPr>
          <p:cNvSpPr txBox="1"/>
          <p:nvPr/>
        </p:nvSpPr>
        <p:spPr>
          <a:xfrm>
            <a:off x="5611906" y="4218340"/>
            <a:ext cx="224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5D4B5D-2005-4CE2-8894-B9C501F7023A}"/>
              </a:ext>
            </a:extLst>
          </p:cNvPr>
          <p:cNvSpPr txBox="1"/>
          <p:nvPr/>
        </p:nvSpPr>
        <p:spPr>
          <a:xfrm>
            <a:off x="5531222" y="5123774"/>
            <a:ext cx="224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x</a:t>
            </a:r>
            <a:endParaRPr lang="ko-KR" alt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D7CB3-07F2-468A-8B5E-0B665214A11C}"/>
              </a:ext>
            </a:extLst>
          </p:cNvPr>
          <p:cNvSpPr txBox="1"/>
          <p:nvPr/>
        </p:nvSpPr>
        <p:spPr>
          <a:xfrm>
            <a:off x="4221744" y="554084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0</a:t>
            </a:r>
            <a:endParaRPr lang="ko-KR" alt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BE9D9-6CDA-4BD1-B561-6F98C049A219}"/>
              </a:ext>
            </a:extLst>
          </p:cNvPr>
          <p:cNvSpPr txBox="1"/>
          <p:nvPr/>
        </p:nvSpPr>
        <p:spPr>
          <a:xfrm>
            <a:off x="4212595" y="306190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0</a:t>
            </a:r>
            <a:endParaRPr lang="ko-KR" altLang="en-US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918798-5258-489B-8CA2-8B173E88E760}"/>
              </a:ext>
            </a:extLst>
          </p:cNvPr>
          <p:cNvSpPr txBox="1"/>
          <p:nvPr/>
        </p:nvSpPr>
        <p:spPr>
          <a:xfrm>
            <a:off x="5333658" y="250681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59C41-712D-4551-A379-79A24B5BD7CC}"/>
              </a:ext>
            </a:extLst>
          </p:cNvPr>
          <p:cNvSpPr txBox="1"/>
          <p:nvPr/>
        </p:nvSpPr>
        <p:spPr>
          <a:xfrm>
            <a:off x="2841707" y="5540848"/>
            <a:ext cx="1370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계산할 때</a:t>
            </a:r>
            <a:endParaRPr lang="en-US" altLang="ko-KR" sz="1200"/>
          </a:p>
          <a:p>
            <a:r>
              <a:rPr lang="ko-KR" altLang="en-US" sz="1200"/>
              <a:t>연산효율 좋고</a:t>
            </a:r>
            <a:endParaRPr lang="en-US" altLang="ko-KR" sz="1200"/>
          </a:p>
          <a:p>
            <a:r>
              <a:rPr lang="ko-KR" altLang="en-US" sz="1200"/>
              <a:t>기울기 소실 적음</a:t>
            </a: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0BBB7D3D-4984-46DE-A197-0107D73DB6D7}"/>
              </a:ext>
            </a:extLst>
          </p:cNvPr>
          <p:cNvSpPr/>
          <p:nvPr/>
        </p:nvSpPr>
        <p:spPr>
          <a:xfrm>
            <a:off x="2250141" y="5334000"/>
            <a:ext cx="412377" cy="618565"/>
          </a:xfrm>
          <a:custGeom>
            <a:avLst/>
            <a:gdLst>
              <a:gd name="connsiteX0" fmla="*/ 412377 w 412377"/>
              <a:gd name="connsiteY0" fmla="*/ 618565 h 618565"/>
              <a:gd name="connsiteX1" fmla="*/ 358588 w 412377"/>
              <a:gd name="connsiteY1" fmla="*/ 609600 h 618565"/>
              <a:gd name="connsiteX2" fmla="*/ 295835 w 412377"/>
              <a:gd name="connsiteY2" fmla="*/ 591671 h 618565"/>
              <a:gd name="connsiteX3" fmla="*/ 277906 w 412377"/>
              <a:gd name="connsiteY3" fmla="*/ 573741 h 618565"/>
              <a:gd name="connsiteX4" fmla="*/ 251012 w 412377"/>
              <a:gd name="connsiteY4" fmla="*/ 564776 h 618565"/>
              <a:gd name="connsiteX5" fmla="*/ 242047 w 412377"/>
              <a:gd name="connsiteY5" fmla="*/ 528918 h 618565"/>
              <a:gd name="connsiteX6" fmla="*/ 224118 w 412377"/>
              <a:gd name="connsiteY6" fmla="*/ 493059 h 618565"/>
              <a:gd name="connsiteX7" fmla="*/ 206188 w 412377"/>
              <a:gd name="connsiteY7" fmla="*/ 412376 h 618565"/>
              <a:gd name="connsiteX8" fmla="*/ 215153 w 412377"/>
              <a:gd name="connsiteY8" fmla="*/ 358588 h 618565"/>
              <a:gd name="connsiteX9" fmla="*/ 242047 w 412377"/>
              <a:gd name="connsiteY9" fmla="*/ 349624 h 618565"/>
              <a:gd name="connsiteX10" fmla="*/ 268941 w 412377"/>
              <a:gd name="connsiteY10" fmla="*/ 331694 h 618565"/>
              <a:gd name="connsiteX11" fmla="*/ 286871 w 412377"/>
              <a:gd name="connsiteY11" fmla="*/ 313765 h 618565"/>
              <a:gd name="connsiteX12" fmla="*/ 313765 w 412377"/>
              <a:gd name="connsiteY12" fmla="*/ 304800 h 618565"/>
              <a:gd name="connsiteX13" fmla="*/ 322730 w 412377"/>
              <a:gd name="connsiteY13" fmla="*/ 277906 h 618565"/>
              <a:gd name="connsiteX14" fmla="*/ 295835 w 412377"/>
              <a:gd name="connsiteY14" fmla="*/ 259976 h 618565"/>
              <a:gd name="connsiteX15" fmla="*/ 215153 w 412377"/>
              <a:gd name="connsiteY15" fmla="*/ 251012 h 618565"/>
              <a:gd name="connsiteX16" fmla="*/ 152400 w 412377"/>
              <a:gd name="connsiteY16" fmla="*/ 224118 h 618565"/>
              <a:gd name="connsiteX17" fmla="*/ 98612 w 412377"/>
              <a:gd name="connsiteY17" fmla="*/ 197224 h 618565"/>
              <a:gd name="connsiteX18" fmla="*/ 53788 w 412377"/>
              <a:gd name="connsiteY18" fmla="*/ 134471 h 618565"/>
              <a:gd name="connsiteX19" fmla="*/ 26894 w 412377"/>
              <a:gd name="connsiteY19" fmla="*/ 98612 h 618565"/>
              <a:gd name="connsiteX20" fmla="*/ 8965 w 412377"/>
              <a:gd name="connsiteY20" fmla="*/ 26894 h 618565"/>
              <a:gd name="connsiteX21" fmla="*/ 0 w 412377"/>
              <a:gd name="connsiteY21" fmla="*/ 0 h 61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12377" h="618565">
                <a:moveTo>
                  <a:pt x="412377" y="618565"/>
                </a:moveTo>
                <a:cubicBezTo>
                  <a:pt x="394447" y="615577"/>
                  <a:pt x="376412" y="613165"/>
                  <a:pt x="358588" y="609600"/>
                </a:cubicBezTo>
                <a:cubicBezTo>
                  <a:pt x="330455" y="603973"/>
                  <a:pt x="321462" y="600212"/>
                  <a:pt x="295835" y="591671"/>
                </a:cubicBezTo>
                <a:cubicBezTo>
                  <a:pt x="289859" y="585694"/>
                  <a:pt x="285153" y="578090"/>
                  <a:pt x="277906" y="573741"/>
                </a:cubicBezTo>
                <a:cubicBezTo>
                  <a:pt x="269803" y="568879"/>
                  <a:pt x="256915" y="572155"/>
                  <a:pt x="251012" y="564776"/>
                </a:cubicBezTo>
                <a:cubicBezTo>
                  <a:pt x="243315" y="555155"/>
                  <a:pt x="246373" y="540454"/>
                  <a:pt x="242047" y="528918"/>
                </a:cubicBezTo>
                <a:cubicBezTo>
                  <a:pt x="237355" y="516405"/>
                  <a:pt x="228810" y="505572"/>
                  <a:pt x="224118" y="493059"/>
                </a:cubicBezTo>
                <a:cubicBezTo>
                  <a:pt x="218692" y="478589"/>
                  <a:pt x="208623" y="424549"/>
                  <a:pt x="206188" y="412376"/>
                </a:cubicBezTo>
                <a:cubicBezTo>
                  <a:pt x="209176" y="394447"/>
                  <a:pt x="206135" y="374370"/>
                  <a:pt x="215153" y="358588"/>
                </a:cubicBezTo>
                <a:cubicBezTo>
                  <a:pt x="219841" y="350384"/>
                  <a:pt x="233595" y="353850"/>
                  <a:pt x="242047" y="349624"/>
                </a:cubicBezTo>
                <a:cubicBezTo>
                  <a:pt x="251684" y="344806"/>
                  <a:pt x="260528" y="338425"/>
                  <a:pt x="268941" y="331694"/>
                </a:cubicBezTo>
                <a:cubicBezTo>
                  <a:pt x="275541" y="326414"/>
                  <a:pt x="279623" y="318113"/>
                  <a:pt x="286871" y="313765"/>
                </a:cubicBezTo>
                <a:cubicBezTo>
                  <a:pt x="294974" y="308903"/>
                  <a:pt x="304800" y="307788"/>
                  <a:pt x="313765" y="304800"/>
                </a:cubicBezTo>
                <a:cubicBezTo>
                  <a:pt x="316753" y="295835"/>
                  <a:pt x="326240" y="286680"/>
                  <a:pt x="322730" y="277906"/>
                </a:cubicBezTo>
                <a:cubicBezTo>
                  <a:pt x="318728" y="267902"/>
                  <a:pt x="306288" y="262589"/>
                  <a:pt x="295835" y="259976"/>
                </a:cubicBezTo>
                <a:cubicBezTo>
                  <a:pt x="269583" y="253413"/>
                  <a:pt x="242047" y="254000"/>
                  <a:pt x="215153" y="251012"/>
                </a:cubicBezTo>
                <a:cubicBezTo>
                  <a:pt x="152082" y="229987"/>
                  <a:pt x="229944" y="257351"/>
                  <a:pt x="152400" y="224118"/>
                </a:cubicBezTo>
                <a:cubicBezTo>
                  <a:pt x="100440" y="201850"/>
                  <a:pt x="150294" y="231678"/>
                  <a:pt x="98612" y="197224"/>
                </a:cubicBezTo>
                <a:cubicBezTo>
                  <a:pt x="10719" y="80032"/>
                  <a:pt x="119332" y="226231"/>
                  <a:pt x="53788" y="134471"/>
                </a:cubicBezTo>
                <a:cubicBezTo>
                  <a:pt x="45104" y="122313"/>
                  <a:pt x="35859" y="110565"/>
                  <a:pt x="26894" y="98612"/>
                </a:cubicBezTo>
                <a:cubicBezTo>
                  <a:pt x="20918" y="74706"/>
                  <a:pt x="16758" y="50271"/>
                  <a:pt x="8965" y="26894"/>
                </a:cubicBezTo>
                <a:lnTo>
                  <a:pt x="0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7F30855-CCC9-425A-8C13-67E9A8202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404" y="3678571"/>
            <a:ext cx="2662336" cy="165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3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30091C-A316-4670-ABBD-9C60493A1022}"/>
              </a:ext>
            </a:extLst>
          </p:cNvPr>
          <p:cNvSpPr txBox="1"/>
          <p:nvPr/>
        </p:nvSpPr>
        <p:spPr>
          <a:xfrm>
            <a:off x="4257603" y="125502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(7/14)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B5110D-3892-413B-ADA8-E7A104A02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288" y="1248285"/>
            <a:ext cx="6896100" cy="23073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3BA6B9-6A1F-465C-AC95-AA20B4633735}"/>
              </a:ext>
            </a:extLst>
          </p:cNvPr>
          <p:cNvSpPr txBox="1"/>
          <p:nvPr/>
        </p:nvSpPr>
        <p:spPr>
          <a:xfrm>
            <a:off x="9448800" y="1900518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Cost function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5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30091C-A316-4670-ABBD-9C60493A1022}"/>
              </a:ext>
            </a:extLst>
          </p:cNvPr>
          <p:cNvSpPr txBox="1"/>
          <p:nvPr/>
        </p:nvSpPr>
        <p:spPr>
          <a:xfrm>
            <a:off x="4257603" y="125502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(8/14)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BC313C-5A2F-4AD6-8DAC-50A4ADF9E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635" y="1350890"/>
            <a:ext cx="7476565" cy="37994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4D86DF-29A4-4632-8BDE-A7DCA7B9D81B}"/>
              </a:ext>
            </a:extLst>
          </p:cNvPr>
          <p:cNvSpPr txBox="1"/>
          <p:nvPr/>
        </p:nvSpPr>
        <p:spPr>
          <a:xfrm>
            <a:off x="9099176" y="1739153"/>
            <a:ext cx="2945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Cost Function</a:t>
            </a:r>
            <a:r>
              <a:rPr lang="ko-KR" altLang="en-US"/>
              <a:t>과 동일한 것</a:t>
            </a:r>
            <a:endParaRPr lang="en-US" altLang="ko-KR"/>
          </a:p>
          <a:p>
            <a:r>
              <a:rPr lang="ko-KR" altLang="en-US"/>
              <a:t>목적함수라고도 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23EE9-8361-4363-9D6F-1D35CBD7ED75}"/>
              </a:ext>
            </a:extLst>
          </p:cNvPr>
          <p:cNvSpPr txBox="1"/>
          <p:nvPr/>
        </p:nvSpPr>
        <p:spPr>
          <a:xfrm>
            <a:off x="1039905" y="5322444"/>
            <a:ext cx="187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Absolute </a:t>
            </a:r>
            <a:r>
              <a:rPr lang="ko-KR" altLang="en-US"/>
              <a:t>절대값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3F218D-A1E9-42B4-B784-2C48222E4068}"/>
              </a:ext>
            </a:extLst>
          </p:cNvPr>
          <p:cNvSpPr txBox="1"/>
          <p:nvPr/>
        </p:nvSpPr>
        <p:spPr>
          <a:xfrm>
            <a:off x="1846728" y="5779644"/>
            <a:ext cx="104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Squared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552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257603" y="125502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(9/14)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FBBD456-359A-4B71-BD5A-3F0A29074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66" y="1006778"/>
            <a:ext cx="7745506" cy="374244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E6A5B59-81BF-48C4-8140-21ADBD0FF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218" y="1087461"/>
            <a:ext cx="3033712" cy="14355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55597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257603" y="125502"/>
            <a:ext cx="4071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(10/14)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CAD0551-0323-4F81-AA55-667A89244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165" y="1135536"/>
            <a:ext cx="8256494" cy="401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5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257603" y="125502"/>
            <a:ext cx="4071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(10/14)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77627C0-9478-4F25-B262-AA0F0714F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321" y="1112721"/>
            <a:ext cx="6042491" cy="406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94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257603" y="125502"/>
            <a:ext cx="4071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(11/14)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0A59E7-AA96-4ABF-A769-D36F2508B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1" y="843120"/>
            <a:ext cx="6199589" cy="456303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04D7B6-7C96-44D0-A681-1099E0824323}"/>
              </a:ext>
            </a:extLst>
          </p:cNvPr>
          <p:cNvSpPr txBox="1"/>
          <p:nvPr/>
        </p:nvSpPr>
        <p:spPr>
          <a:xfrm>
            <a:off x="6930707" y="1999130"/>
            <a:ext cx="402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순전파</a:t>
            </a:r>
            <a:r>
              <a:rPr lang="ko-KR" altLang="en-US">
                <a:solidFill>
                  <a:srgbClr val="7030A0"/>
                </a:solidFill>
              </a:rPr>
              <a:t> </a:t>
            </a:r>
            <a:r>
              <a:rPr lang="en-US" altLang="ko-KR">
                <a:solidFill>
                  <a:srgbClr val="7030A0"/>
                </a:solidFill>
              </a:rPr>
              <a:t>: </a:t>
            </a:r>
            <a:r>
              <a:rPr lang="ko-KR" altLang="en-US">
                <a:solidFill>
                  <a:srgbClr val="7030A0"/>
                </a:solidFill>
              </a:rPr>
              <a:t>입력값으로부터 결과값 생성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402CE-A38B-4F1E-8670-9D06B0C189A6}"/>
              </a:ext>
            </a:extLst>
          </p:cNvPr>
          <p:cNvSpPr txBox="1"/>
          <p:nvPr/>
        </p:nvSpPr>
        <p:spPr>
          <a:xfrm>
            <a:off x="6256900" y="4918313"/>
            <a:ext cx="5500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역전파</a:t>
            </a:r>
            <a:r>
              <a:rPr lang="ko-KR" altLang="en-US">
                <a:solidFill>
                  <a:srgbClr val="7030A0"/>
                </a:solidFill>
              </a:rPr>
              <a:t> </a:t>
            </a:r>
            <a:r>
              <a:rPr lang="en-US" altLang="ko-KR">
                <a:solidFill>
                  <a:srgbClr val="7030A0"/>
                </a:solidFill>
              </a:rPr>
              <a:t>: </a:t>
            </a:r>
            <a:r>
              <a:rPr lang="ko-KR" altLang="en-US">
                <a:solidFill>
                  <a:srgbClr val="7030A0"/>
                </a:solidFill>
              </a:rPr>
              <a:t>정답과 예측값 사이의 차이</a:t>
            </a:r>
            <a:r>
              <a:rPr lang="en-US" altLang="ko-KR">
                <a:solidFill>
                  <a:srgbClr val="7030A0"/>
                </a:solidFill>
              </a:rPr>
              <a:t>(</a:t>
            </a:r>
            <a:r>
              <a:rPr lang="ko-KR" altLang="en-US">
                <a:solidFill>
                  <a:srgbClr val="7030A0"/>
                </a:solidFill>
              </a:rPr>
              <a:t>에러</a:t>
            </a:r>
            <a:r>
              <a:rPr lang="en-US" altLang="ko-KR">
                <a:solidFill>
                  <a:srgbClr val="7030A0"/>
                </a:solidFill>
              </a:rPr>
              <a:t>)</a:t>
            </a:r>
            <a:r>
              <a:rPr lang="ko-KR" altLang="en-US">
                <a:solidFill>
                  <a:srgbClr val="7030A0"/>
                </a:solidFill>
              </a:rPr>
              <a:t>를</a:t>
            </a:r>
            <a:endParaRPr lang="en-US" altLang="ko-KR">
              <a:solidFill>
                <a:srgbClr val="7030A0"/>
              </a:solidFill>
            </a:endParaRPr>
          </a:p>
          <a:p>
            <a:r>
              <a:rPr lang="ko-KR" altLang="en-US">
                <a:solidFill>
                  <a:srgbClr val="7030A0"/>
                </a:solidFill>
              </a:rPr>
              <a:t>줄이기 위해서 가중치를 업데이트</a:t>
            </a:r>
            <a:r>
              <a:rPr lang="en-US" altLang="ko-KR">
                <a:solidFill>
                  <a:srgbClr val="7030A0"/>
                </a:solidFill>
              </a:rPr>
              <a:t>(</a:t>
            </a:r>
            <a:r>
              <a:rPr lang="ko-KR" altLang="en-US">
                <a:solidFill>
                  <a:srgbClr val="7030A0"/>
                </a:solidFill>
              </a:rPr>
              <a:t>경사하강법 사용</a:t>
            </a:r>
            <a:r>
              <a:rPr lang="en-US" altLang="ko-KR">
                <a:solidFill>
                  <a:srgbClr val="7030A0"/>
                </a:solidFill>
              </a:rPr>
              <a:t>)</a:t>
            </a:r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ADABA-D6F2-4D17-B7A0-697A998C87AC}"/>
              </a:ext>
            </a:extLst>
          </p:cNvPr>
          <p:cNvSpPr txBox="1"/>
          <p:nvPr/>
        </p:nvSpPr>
        <p:spPr>
          <a:xfrm>
            <a:off x="7814527" y="24101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예측값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9349C6-3009-4260-8192-BE37D89AE77C}"/>
              </a:ext>
            </a:extLst>
          </p:cNvPr>
          <p:cNvSpPr txBox="1"/>
          <p:nvPr/>
        </p:nvSpPr>
        <p:spPr>
          <a:xfrm>
            <a:off x="9022570" y="238219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계산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869C92-5CFD-4BEA-B00B-D806FD14D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215" y="4493568"/>
            <a:ext cx="638175" cy="3714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6E71C2-E7AE-44C4-9ABF-88E955037381}"/>
              </a:ext>
            </a:extLst>
          </p:cNvPr>
          <p:cNvSpPr txBox="1"/>
          <p:nvPr/>
        </p:nvSpPr>
        <p:spPr>
          <a:xfrm>
            <a:off x="6427228" y="449571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에러값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22038-0792-4B0D-841C-9A02F2919CF7}"/>
              </a:ext>
            </a:extLst>
          </p:cNvPr>
          <p:cNvSpPr txBox="1"/>
          <p:nvPr/>
        </p:nvSpPr>
        <p:spPr>
          <a:xfrm>
            <a:off x="7981846" y="4536472"/>
            <a:ext cx="3995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을 최소화 시키기 위한 </a:t>
            </a:r>
            <a:r>
              <a:rPr lang="en-US" altLang="ko-KR"/>
              <a:t>w</a:t>
            </a:r>
            <a:r>
              <a:rPr lang="ko-KR" altLang="en-US"/>
              <a:t>값 업데이트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151CA05-78B4-4078-8D3D-9B53147E9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595" y="2380971"/>
            <a:ext cx="180975" cy="390525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126A2411-DBA8-4687-8A75-32706141C099}"/>
              </a:ext>
            </a:extLst>
          </p:cNvPr>
          <p:cNvSpPr/>
          <p:nvPr/>
        </p:nvSpPr>
        <p:spPr>
          <a:xfrm>
            <a:off x="6740290" y="1873624"/>
            <a:ext cx="4358016" cy="100404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B3A6A3D-0321-42BA-9A0B-1E557077D766}"/>
              </a:ext>
            </a:extLst>
          </p:cNvPr>
          <p:cNvSpPr/>
          <p:nvPr/>
        </p:nvSpPr>
        <p:spPr>
          <a:xfrm>
            <a:off x="5861747" y="4219114"/>
            <a:ext cx="6015670" cy="15884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A9CC7B0-9F64-41F1-B4CC-F0E13D66B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181" y="2751529"/>
            <a:ext cx="298445" cy="64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6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257603" y="125502"/>
            <a:ext cx="4071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(12/14)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B9C0DA-C5E7-40F8-B3D6-62B77BB71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" y="986127"/>
            <a:ext cx="6535271" cy="352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083372-20DB-44E3-83F5-C9D8D454FAE5}"/>
              </a:ext>
            </a:extLst>
          </p:cNvPr>
          <p:cNvSpPr txBox="1"/>
          <p:nvPr/>
        </p:nvSpPr>
        <p:spPr>
          <a:xfrm>
            <a:off x="7530353" y="1051574"/>
            <a:ext cx="34724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7030A0"/>
                </a:solidFill>
              </a:rPr>
              <a:t>GD</a:t>
            </a:r>
            <a:r>
              <a:rPr lang="en-US" altLang="ko-KR"/>
              <a:t>:</a:t>
            </a:r>
            <a:r>
              <a:rPr lang="ko-KR" altLang="en-US"/>
              <a:t> 학습데이터의 모든 행마다</a:t>
            </a:r>
            <a:endParaRPr lang="en-US" altLang="ko-KR"/>
          </a:p>
          <a:p>
            <a:r>
              <a:rPr lang="ko-KR" altLang="en-US"/>
              <a:t>가중치 업데이트</a:t>
            </a:r>
            <a:endParaRPr lang="en-US" altLang="ko-KR"/>
          </a:p>
          <a:p>
            <a:endParaRPr lang="en-US" altLang="ko-KR"/>
          </a:p>
          <a:p>
            <a:r>
              <a:rPr lang="en-US" altLang="ko-KR" b="1">
                <a:solidFill>
                  <a:srgbClr val="7030A0"/>
                </a:solidFill>
              </a:rPr>
              <a:t>SGD</a:t>
            </a:r>
            <a:r>
              <a:rPr lang="en-US" altLang="ko-KR"/>
              <a:t>: </a:t>
            </a:r>
            <a:r>
              <a:rPr lang="ko-KR" altLang="en-US"/>
              <a:t>배치마다 가중치 업데이트</a:t>
            </a:r>
            <a:endParaRPr lang="en-US" altLang="ko-KR"/>
          </a:p>
          <a:p>
            <a:r>
              <a:rPr lang="ko-KR" altLang="en-US"/>
              <a:t>배치는 여러개의 행으로 구성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6F316-EDAF-4C29-BEFF-49EA782932A8}"/>
              </a:ext>
            </a:extLst>
          </p:cNvPr>
          <p:cNvSpPr txBox="1"/>
          <p:nvPr/>
        </p:nvSpPr>
        <p:spPr>
          <a:xfrm>
            <a:off x="7473624" y="2746715"/>
            <a:ext cx="3015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7030A0"/>
                </a:solidFill>
              </a:rPr>
              <a:t>Adam</a:t>
            </a:r>
            <a:r>
              <a:rPr lang="en-US" altLang="ko-KR"/>
              <a:t> : SGD</a:t>
            </a:r>
            <a:r>
              <a:rPr lang="ko-KR" altLang="en-US"/>
              <a:t>의 고도화 버전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921D40-533A-49B9-9724-48023DF40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449" y="4377129"/>
            <a:ext cx="3854824" cy="19429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8CB93D1-78CA-469B-BD94-6F40CF59A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803" y="4317895"/>
            <a:ext cx="3271838" cy="178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40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257603" y="125502"/>
            <a:ext cx="4071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(13/14)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F272DA-9D75-4D99-A511-630BC6344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44" y="1205753"/>
            <a:ext cx="6728566" cy="38503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68C058-CC4F-4250-9FF8-1064DA275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84" y="1205753"/>
            <a:ext cx="3854824" cy="19429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B0F682-9510-4D6E-873C-D59E76C527C2}"/>
              </a:ext>
            </a:extLst>
          </p:cNvPr>
          <p:cNvSpPr txBox="1"/>
          <p:nvPr/>
        </p:nvSpPr>
        <p:spPr>
          <a:xfrm>
            <a:off x="2653552" y="4464424"/>
            <a:ext cx="1991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/>
              <a:t>(</a:t>
            </a:r>
            <a:r>
              <a:rPr lang="ko-KR" altLang="en-US" sz="1600"/>
              <a:t>한번의 </a:t>
            </a:r>
            <a:r>
              <a:rPr lang="en-US" altLang="ko-KR" sz="1600"/>
              <a:t>Batch </a:t>
            </a:r>
            <a:r>
              <a:rPr lang="ko-KR" altLang="en-US" sz="1600"/>
              <a:t>학습</a:t>
            </a:r>
            <a:r>
              <a:rPr lang="en-US" altLang="ko-KR" sz="1600"/>
              <a:t>)</a:t>
            </a:r>
            <a:endParaRPr lang="ko-KR" altLang="en-US" sz="16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CFF0C2-C412-4679-A63A-3354F7D10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23" y="4519401"/>
            <a:ext cx="2533650" cy="228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0CBA34-B04F-46E5-84DF-EC7422D781FE}"/>
              </a:ext>
            </a:extLst>
          </p:cNvPr>
          <p:cNvSpPr txBox="1"/>
          <p:nvPr/>
        </p:nvSpPr>
        <p:spPr>
          <a:xfrm>
            <a:off x="5297791" y="4748001"/>
            <a:ext cx="3024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/>
              <a:t>(batch size</a:t>
            </a:r>
            <a:r>
              <a:rPr lang="ko-KR" altLang="en-US" sz="1600"/>
              <a:t>만큼의 학습 데이터</a:t>
            </a:r>
            <a:r>
              <a:rPr lang="en-US" altLang="ko-KR" sz="1600"/>
              <a:t>)</a:t>
            </a:r>
            <a:endParaRPr lang="ko-KR" alt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11FF68-1DF7-4A28-B2A3-BDE805F67EA1}"/>
              </a:ext>
            </a:extLst>
          </p:cNvPr>
          <p:cNvSpPr txBox="1"/>
          <p:nvPr/>
        </p:nvSpPr>
        <p:spPr>
          <a:xfrm>
            <a:off x="8606118" y="3545713"/>
            <a:ext cx="2967159" cy="923330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ko-KR"/>
              <a:t>Batch size = 2 </a:t>
            </a:r>
            <a:r>
              <a:rPr lang="ko-KR" altLang="en-US"/>
              <a:t>라면</a:t>
            </a:r>
            <a:r>
              <a:rPr lang="en-US" altLang="ko-KR"/>
              <a:t>,</a:t>
            </a:r>
          </a:p>
          <a:p>
            <a:r>
              <a:rPr lang="en-US" altLang="ko-KR"/>
              <a:t>minibatch </a:t>
            </a:r>
            <a:r>
              <a:rPr lang="ko-KR" altLang="en-US"/>
              <a:t>는 </a:t>
            </a:r>
            <a:r>
              <a:rPr lang="en-US" altLang="ko-KR"/>
              <a:t>3</a:t>
            </a:r>
            <a:r>
              <a:rPr lang="ko-KR" altLang="en-US"/>
              <a:t>개 생성됨</a:t>
            </a:r>
            <a:r>
              <a:rPr lang="en-US" altLang="ko-KR"/>
              <a:t>.</a:t>
            </a:r>
          </a:p>
          <a:p>
            <a:r>
              <a:rPr lang="en-US" altLang="ko-KR"/>
              <a:t>1 Epoch </a:t>
            </a:r>
            <a:r>
              <a:rPr lang="ko-KR" altLang="en-US"/>
              <a:t>동안에 </a:t>
            </a:r>
            <a:r>
              <a:rPr lang="en-US" altLang="ko-KR"/>
              <a:t>3 Iteration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658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257603" y="125502"/>
            <a:ext cx="4071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딥러닝기술 원리</a:t>
            </a:r>
            <a:r>
              <a:rPr lang="en-US" altLang="ko-KR" sz="2800" b="1">
                <a:solidFill>
                  <a:schemeClr val="bg1"/>
                </a:solidFill>
              </a:rPr>
              <a:t>(14/14)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8EAFB97-A6E0-47D6-A1A5-1914C9EC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64" y="1241612"/>
            <a:ext cx="7321155" cy="437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18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141062" y="125502"/>
            <a:ext cx="3669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 주요 알고리즘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32BBF9-1A45-45F3-8BCF-B18DCE439BD6}"/>
              </a:ext>
            </a:extLst>
          </p:cNvPr>
          <p:cNvSpPr txBox="1"/>
          <p:nvPr/>
        </p:nvSpPr>
        <p:spPr>
          <a:xfrm>
            <a:off x="1255059" y="1156447"/>
            <a:ext cx="7772400" cy="1200329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>
                <a:solidFill>
                  <a:srgbClr val="0070C0"/>
                </a:solidFill>
              </a:rPr>
              <a:t>DNN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rgbClr val="0070C0"/>
                </a:solidFill>
              </a:rPr>
              <a:t> Deep Neural Network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rgbClr val="0070C0"/>
                </a:solidFill>
              </a:rPr>
              <a:t> </a:t>
            </a:r>
            <a:r>
              <a:rPr lang="ko-KR" altLang="en-US" b="1">
                <a:solidFill>
                  <a:srgbClr val="0070C0"/>
                </a:solidFill>
              </a:rPr>
              <a:t>심층신경망</a:t>
            </a:r>
            <a:endParaRPr lang="en-US" altLang="ko-KR" b="1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rgbClr val="0070C0"/>
                </a:solidFill>
              </a:rPr>
              <a:t> </a:t>
            </a:r>
            <a:r>
              <a:rPr lang="ko-KR" altLang="en-US" b="1">
                <a:solidFill>
                  <a:srgbClr val="0070C0"/>
                </a:solidFill>
              </a:rPr>
              <a:t>일반적인 데이터 학습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E2446-6CFE-43C7-ACC8-33B5349A9A54}"/>
              </a:ext>
            </a:extLst>
          </p:cNvPr>
          <p:cNvSpPr txBox="1"/>
          <p:nvPr/>
        </p:nvSpPr>
        <p:spPr>
          <a:xfrm>
            <a:off x="1255059" y="2505670"/>
            <a:ext cx="7772400" cy="120032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>
                <a:solidFill>
                  <a:schemeClr val="bg1"/>
                </a:solidFill>
              </a:rPr>
              <a:t>CNN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Convolutional Neural Network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</a:t>
            </a:r>
            <a:r>
              <a:rPr lang="ko-KR" altLang="en-US" b="1">
                <a:solidFill>
                  <a:schemeClr val="bg1"/>
                </a:solidFill>
              </a:rPr>
              <a:t>합성곱신경망</a:t>
            </a:r>
            <a:endParaRPr lang="en-US" altLang="ko-KR" b="1">
              <a:solidFill>
                <a:schemeClr val="bg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</a:t>
            </a:r>
            <a:r>
              <a:rPr lang="ko-KR" altLang="en-US" b="1">
                <a:solidFill>
                  <a:schemeClr val="bg1"/>
                </a:solidFill>
              </a:rPr>
              <a:t>이미지 학습에 특화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A2E14-DE51-40E4-8FFF-56F9D3BCC627}"/>
              </a:ext>
            </a:extLst>
          </p:cNvPr>
          <p:cNvSpPr txBox="1"/>
          <p:nvPr/>
        </p:nvSpPr>
        <p:spPr>
          <a:xfrm>
            <a:off x="1255059" y="4029670"/>
            <a:ext cx="7772400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>
                <a:solidFill>
                  <a:schemeClr val="bg1"/>
                </a:solidFill>
              </a:rPr>
              <a:t>RNN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Recurrent Neural Network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</a:t>
            </a:r>
            <a:r>
              <a:rPr lang="ko-KR" altLang="en-US" b="1">
                <a:solidFill>
                  <a:schemeClr val="bg1"/>
                </a:solidFill>
              </a:rPr>
              <a:t>순환신경망</a:t>
            </a:r>
            <a:endParaRPr lang="en-US" altLang="ko-KR" b="1">
              <a:solidFill>
                <a:schemeClr val="bg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</a:t>
            </a:r>
            <a:r>
              <a:rPr lang="ko-KR" altLang="en-US" b="1">
                <a:solidFill>
                  <a:schemeClr val="bg1"/>
                </a:solidFill>
              </a:rPr>
              <a:t>언어 문장 등 시계열 데이터에 특화</a:t>
            </a:r>
          </a:p>
        </p:txBody>
      </p:sp>
    </p:spTree>
    <p:extLst>
      <p:ext uri="{BB962C8B-B14F-4D97-AF65-F5344CB8AC3E}">
        <p14:creationId xmlns:p14="http://schemas.microsoft.com/office/powerpoint/2010/main" val="4279617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876168" y="143432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DNN(1/4)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4D79A2-ACFD-40F5-AA02-22401B464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805" y="1000683"/>
            <a:ext cx="7076208" cy="511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3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876168" y="143432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DNN(2/4)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BF9987-110B-419B-B22D-08969C0AE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53" y="1123340"/>
            <a:ext cx="9457765" cy="501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5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876168" y="143432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DNN(3/4)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607651-0818-473B-B640-D88EF3104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8" y="1048871"/>
            <a:ext cx="6875930" cy="275037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3BC67FC-4F83-4464-8EA1-8C048757D462}"/>
              </a:ext>
            </a:extLst>
          </p:cNvPr>
          <p:cNvSpPr/>
          <p:nvPr/>
        </p:nvSpPr>
        <p:spPr>
          <a:xfrm>
            <a:off x="7539318" y="1138518"/>
            <a:ext cx="4383741" cy="1004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FF373-27C1-48EB-A9E6-05ED07D679C0}"/>
              </a:ext>
            </a:extLst>
          </p:cNvPr>
          <p:cNvSpPr txBox="1"/>
          <p:nvPr/>
        </p:nvSpPr>
        <p:spPr>
          <a:xfrm>
            <a:off x="7144871" y="769186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Sequential </a:t>
            </a:r>
            <a:r>
              <a:rPr lang="ko-KR" altLang="en-US"/>
              <a:t>객체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534D84-AA34-427F-A57F-318F6C86F860}"/>
              </a:ext>
            </a:extLst>
          </p:cNvPr>
          <p:cNvSpPr/>
          <p:nvPr/>
        </p:nvSpPr>
        <p:spPr>
          <a:xfrm>
            <a:off x="7691717" y="1305263"/>
            <a:ext cx="986117" cy="6705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09589-A914-4247-B4F7-BD646A104F07}"/>
              </a:ext>
            </a:extLst>
          </p:cNvPr>
          <p:cNvSpPr txBox="1"/>
          <p:nvPr/>
        </p:nvSpPr>
        <p:spPr>
          <a:xfrm>
            <a:off x="7712505" y="131140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은닉층</a:t>
            </a:r>
            <a:r>
              <a:rPr lang="en-US" altLang="ko-KR" sz="1600"/>
              <a:t>1</a:t>
            </a:r>
          </a:p>
          <a:p>
            <a:r>
              <a:rPr lang="en-US" altLang="ko-KR" sz="1600"/>
              <a:t>(Dense)</a:t>
            </a:r>
            <a:endParaRPr lang="ko-KR" altLang="en-US" sz="16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59247E-0A3B-46DD-A138-6F4945248F9C}"/>
              </a:ext>
            </a:extLst>
          </p:cNvPr>
          <p:cNvSpPr/>
          <p:nvPr/>
        </p:nvSpPr>
        <p:spPr>
          <a:xfrm>
            <a:off x="8962997" y="1305263"/>
            <a:ext cx="986117" cy="6705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D252C-DA8A-44A8-BC03-4654D91FC0D6}"/>
              </a:ext>
            </a:extLst>
          </p:cNvPr>
          <p:cNvSpPr txBox="1"/>
          <p:nvPr/>
        </p:nvSpPr>
        <p:spPr>
          <a:xfrm>
            <a:off x="8983785" y="131140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은닉층</a:t>
            </a:r>
            <a:r>
              <a:rPr lang="en-US" altLang="ko-KR" sz="1600"/>
              <a:t>2</a:t>
            </a:r>
          </a:p>
          <a:p>
            <a:r>
              <a:rPr lang="en-US" altLang="ko-KR" sz="1600"/>
              <a:t>(Dense)</a:t>
            </a:r>
            <a:endParaRPr lang="ko-KR" altLang="en-US" sz="16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BBF176-F24E-45EA-AB3E-C7581A107C31}"/>
              </a:ext>
            </a:extLst>
          </p:cNvPr>
          <p:cNvSpPr/>
          <p:nvPr/>
        </p:nvSpPr>
        <p:spPr>
          <a:xfrm>
            <a:off x="10075477" y="1305262"/>
            <a:ext cx="986117" cy="6705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E15BF4-4055-4A9F-AC06-A77890D0F9F7}"/>
              </a:ext>
            </a:extLst>
          </p:cNvPr>
          <p:cNvSpPr txBox="1"/>
          <p:nvPr/>
        </p:nvSpPr>
        <p:spPr>
          <a:xfrm>
            <a:off x="10096265" y="131140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은닉층</a:t>
            </a:r>
            <a:r>
              <a:rPr lang="en-US" altLang="ko-KR" sz="1600"/>
              <a:t>3</a:t>
            </a:r>
          </a:p>
          <a:p>
            <a:r>
              <a:rPr lang="en-US" altLang="ko-KR" sz="1600"/>
              <a:t>(Dense)</a:t>
            </a:r>
            <a:endParaRPr lang="ko-KR" altLang="en-US" sz="16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BC00C61-0D66-4957-8027-E784FD39783D}"/>
              </a:ext>
            </a:extLst>
          </p:cNvPr>
          <p:cNvSpPr/>
          <p:nvPr/>
        </p:nvSpPr>
        <p:spPr>
          <a:xfrm>
            <a:off x="11286561" y="1694331"/>
            <a:ext cx="89647" cy="5378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13B65F2-445A-4411-BD55-8FE15484D64A}"/>
              </a:ext>
            </a:extLst>
          </p:cNvPr>
          <p:cNvSpPr/>
          <p:nvPr/>
        </p:nvSpPr>
        <p:spPr>
          <a:xfrm>
            <a:off x="11447926" y="1703296"/>
            <a:ext cx="89647" cy="5378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39961F7-92E3-4EF6-886B-732216781B30}"/>
              </a:ext>
            </a:extLst>
          </p:cNvPr>
          <p:cNvSpPr/>
          <p:nvPr/>
        </p:nvSpPr>
        <p:spPr>
          <a:xfrm>
            <a:off x="11621112" y="1714040"/>
            <a:ext cx="89647" cy="5378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C65A36-0D36-4AB5-9C8B-3B8AF5629A5B}"/>
              </a:ext>
            </a:extLst>
          </p:cNvPr>
          <p:cNvSpPr txBox="1"/>
          <p:nvPr/>
        </p:nvSpPr>
        <p:spPr>
          <a:xfrm>
            <a:off x="905436" y="4225344"/>
            <a:ext cx="4132991" cy="1200329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/>
              <a:t>tensorflow </a:t>
            </a:r>
            <a:r>
              <a:rPr lang="ko-KR" altLang="en-US" sz="2400" b="1"/>
              <a:t>라이브러리 설치</a:t>
            </a:r>
            <a:endParaRPr lang="en-US" altLang="ko-KR" sz="2400" b="1"/>
          </a:p>
          <a:p>
            <a:r>
              <a:rPr lang="en-US" altLang="ko-KR" sz="2400" b="1"/>
              <a:t>=&gt; </a:t>
            </a:r>
          </a:p>
          <a:p>
            <a:r>
              <a:rPr lang="en-US" altLang="ko-KR" sz="2400" b="1"/>
              <a:t>pip install tensorflow</a:t>
            </a:r>
            <a:endParaRPr lang="ko-KR" altLang="en-US" sz="2400" b="1"/>
          </a:p>
        </p:txBody>
      </p:sp>
    </p:spTree>
    <p:extLst>
      <p:ext uri="{BB962C8B-B14F-4D97-AF65-F5344CB8AC3E}">
        <p14:creationId xmlns:p14="http://schemas.microsoft.com/office/powerpoint/2010/main" val="1356399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876168" y="143432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DNN(4/4)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9C1ACB4-A8FA-4226-ACBB-1799A13D0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1276"/>
            <a:ext cx="9538447" cy="4758184"/>
          </a:xfrm>
          <a:prstGeom prst="rect">
            <a:avLst/>
          </a:prstGeom>
        </p:spPr>
      </p:pic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2E8ACD1D-0459-4FF9-BBD5-370D233B9E79}"/>
              </a:ext>
            </a:extLst>
          </p:cNvPr>
          <p:cNvSpPr/>
          <p:nvPr/>
        </p:nvSpPr>
        <p:spPr>
          <a:xfrm>
            <a:off x="5568364" y="2734877"/>
            <a:ext cx="1568847" cy="618565"/>
          </a:xfrm>
          <a:custGeom>
            <a:avLst/>
            <a:gdLst>
              <a:gd name="connsiteX0" fmla="*/ 0 w 1568847"/>
              <a:gd name="connsiteY0" fmla="*/ 537883 h 618565"/>
              <a:gd name="connsiteX1" fmla="*/ 98612 w 1568847"/>
              <a:gd name="connsiteY1" fmla="*/ 591671 h 618565"/>
              <a:gd name="connsiteX2" fmla="*/ 152400 w 1568847"/>
              <a:gd name="connsiteY2" fmla="*/ 618565 h 618565"/>
              <a:gd name="connsiteX3" fmla="*/ 224117 w 1568847"/>
              <a:gd name="connsiteY3" fmla="*/ 591671 h 618565"/>
              <a:gd name="connsiteX4" fmla="*/ 268941 w 1568847"/>
              <a:gd name="connsiteY4" fmla="*/ 573741 h 618565"/>
              <a:gd name="connsiteX5" fmla="*/ 331694 w 1568847"/>
              <a:gd name="connsiteY5" fmla="*/ 519953 h 618565"/>
              <a:gd name="connsiteX6" fmla="*/ 367553 w 1568847"/>
              <a:gd name="connsiteY6" fmla="*/ 493059 h 618565"/>
              <a:gd name="connsiteX7" fmla="*/ 385482 w 1568847"/>
              <a:gd name="connsiteY7" fmla="*/ 466165 h 618565"/>
              <a:gd name="connsiteX8" fmla="*/ 403412 w 1568847"/>
              <a:gd name="connsiteY8" fmla="*/ 448235 h 618565"/>
              <a:gd name="connsiteX9" fmla="*/ 430306 w 1568847"/>
              <a:gd name="connsiteY9" fmla="*/ 403412 h 618565"/>
              <a:gd name="connsiteX10" fmla="*/ 448235 w 1568847"/>
              <a:gd name="connsiteY10" fmla="*/ 349624 h 618565"/>
              <a:gd name="connsiteX11" fmla="*/ 484094 w 1568847"/>
              <a:gd name="connsiteY11" fmla="*/ 295835 h 618565"/>
              <a:gd name="connsiteX12" fmla="*/ 519953 w 1568847"/>
              <a:gd name="connsiteY12" fmla="*/ 251012 h 618565"/>
              <a:gd name="connsiteX13" fmla="*/ 537882 w 1568847"/>
              <a:gd name="connsiteY13" fmla="*/ 224118 h 618565"/>
              <a:gd name="connsiteX14" fmla="*/ 582706 w 1568847"/>
              <a:gd name="connsiteY14" fmla="*/ 179294 h 618565"/>
              <a:gd name="connsiteX15" fmla="*/ 591670 w 1568847"/>
              <a:gd name="connsiteY15" fmla="*/ 152400 h 618565"/>
              <a:gd name="connsiteX16" fmla="*/ 618564 w 1568847"/>
              <a:gd name="connsiteY16" fmla="*/ 134471 h 618565"/>
              <a:gd name="connsiteX17" fmla="*/ 663388 w 1568847"/>
              <a:gd name="connsiteY17" fmla="*/ 98612 h 618565"/>
              <a:gd name="connsiteX18" fmla="*/ 690282 w 1568847"/>
              <a:gd name="connsiteY18" fmla="*/ 89647 h 618565"/>
              <a:gd name="connsiteX19" fmla="*/ 717176 w 1568847"/>
              <a:gd name="connsiteY19" fmla="*/ 71718 h 618565"/>
              <a:gd name="connsiteX20" fmla="*/ 797859 w 1568847"/>
              <a:gd name="connsiteY20" fmla="*/ 44824 h 618565"/>
              <a:gd name="connsiteX21" fmla="*/ 824753 w 1568847"/>
              <a:gd name="connsiteY21" fmla="*/ 35859 h 618565"/>
              <a:gd name="connsiteX22" fmla="*/ 896470 w 1568847"/>
              <a:gd name="connsiteY22" fmla="*/ 17930 h 618565"/>
              <a:gd name="connsiteX23" fmla="*/ 923364 w 1568847"/>
              <a:gd name="connsiteY23" fmla="*/ 8965 h 618565"/>
              <a:gd name="connsiteX24" fmla="*/ 986117 w 1568847"/>
              <a:gd name="connsiteY24" fmla="*/ 0 h 618565"/>
              <a:gd name="connsiteX25" fmla="*/ 1255059 w 1568847"/>
              <a:gd name="connsiteY25" fmla="*/ 8965 h 618565"/>
              <a:gd name="connsiteX26" fmla="*/ 1335741 w 1568847"/>
              <a:gd name="connsiteY26" fmla="*/ 53788 h 618565"/>
              <a:gd name="connsiteX27" fmla="*/ 1380564 w 1568847"/>
              <a:gd name="connsiteY27" fmla="*/ 98612 h 618565"/>
              <a:gd name="connsiteX28" fmla="*/ 1425388 w 1568847"/>
              <a:gd name="connsiteY28" fmla="*/ 179294 h 618565"/>
              <a:gd name="connsiteX29" fmla="*/ 1470212 w 1568847"/>
              <a:gd name="connsiteY29" fmla="*/ 215153 h 618565"/>
              <a:gd name="connsiteX30" fmla="*/ 1488141 w 1568847"/>
              <a:gd name="connsiteY30" fmla="*/ 233083 h 618565"/>
              <a:gd name="connsiteX31" fmla="*/ 1515035 w 1568847"/>
              <a:gd name="connsiteY31" fmla="*/ 251012 h 618565"/>
              <a:gd name="connsiteX32" fmla="*/ 1559859 w 1568847"/>
              <a:gd name="connsiteY32" fmla="*/ 304800 h 618565"/>
              <a:gd name="connsiteX33" fmla="*/ 1568823 w 1568847"/>
              <a:gd name="connsiteY33" fmla="*/ 340659 h 61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568847" h="618565">
                <a:moveTo>
                  <a:pt x="0" y="537883"/>
                </a:moveTo>
                <a:cubicBezTo>
                  <a:pt x="137359" y="620299"/>
                  <a:pt x="-57446" y="504974"/>
                  <a:pt x="98612" y="591671"/>
                </a:cubicBezTo>
                <a:cubicBezTo>
                  <a:pt x="150749" y="620635"/>
                  <a:pt x="100041" y="601112"/>
                  <a:pt x="152400" y="618565"/>
                </a:cubicBezTo>
                <a:cubicBezTo>
                  <a:pt x="213572" y="603272"/>
                  <a:pt x="163846" y="618458"/>
                  <a:pt x="224117" y="591671"/>
                </a:cubicBezTo>
                <a:cubicBezTo>
                  <a:pt x="238822" y="585135"/>
                  <a:pt x="255142" y="582020"/>
                  <a:pt x="268941" y="573741"/>
                </a:cubicBezTo>
                <a:cubicBezTo>
                  <a:pt x="327158" y="538811"/>
                  <a:pt x="297233" y="548670"/>
                  <a:pt x="331694" y="519953"/>
                </a:cubicBezTo>
                <a:cubicBezTo>
                  <a:pt x="343172" y="510388"/>
                  <a:pt x="355600" y="502024"/>
                  <a:pt x="367553" y="493059"/>
                </a:cubicBezTo>
                <a:cubicBezTo>
                  <a:pt x="373529" y="484094"/>
                  <a:pt x="378751" y="474578"/>
                  <a:pt x="385482" y="466165"/>
                </a:cubicBezTo>
                <a:cubicBezTo>
                  <a:pt x="390762" y="459565"/>
                  <a:pt x="399063" y="455483"/>
                  <a:pt x="403412" y="448235"/>
                </a:cubicBezTo>
                <a:cubicBezTo>
                  <a:pt x="438322" y="390050"/>
                  <a:pt x="384877" y="448839"/>
                  <a:pt x="430306" y="403412"/>
                </a:cubicBezTo>
                <a:cubicBezTo>
                  <a:pt x="436282" y="385483"/>
                  <a:pt x="434872" y="362988"/>
                  <a:pt x="448235" y="349624"/>
                </a:cubicBezTo>
                <a:cubicBezTo>
                  <a:pt x="480190" y="317667"/>
                  <a:pt x="455148" y="346490"/>
                  <a:pt x="484094" y="295835"/>
                </a:cubicBezTo>
                <a:cubicBezTo>
                  <a:pt x="511690" y="247542"/>
                  <a:pt x="490498" y="287830"/>
                  <a:pt x="519953" y="251012"/>
                </a:cubicBezTo>
                <a:cubicBezTo>
                  <a:pt x="526684" y="242599"/>
                  <a:pt x="530787" y="232226"/>
                  <a:pt x="537882" y="224118"/>
                </a:cubicBezTo>
                <a:cubicBezTo>
                  <a:pt x="551796" y="208216"/>
                  <a:pt x="582706" y="179294"/>
                  <a:pt x="582706" y="179294"/>
                </a:cubicBezTo>
                <a:cubicBezTo>
                  <a:pt x="585694" y="170329"/>
                  <a:pt x="585767" y="159779"/>
                  <a:pt x="591670" y="152400"/>
                </a:cubicBezTo>
                <a:cubicBezTo>
                  <a:pt x="598400" y="143987"/>
                  <a:pt x="610151" y="141202"/>
                  <a:pt x="618564" y="134471"/>
                </a:cubicBezTo>
                <a:cubicBezTo>
                  <a:pt x="646360" y="112234"/>
                  <a:pt x="626596" y="117008"/>
                  <a:pt x="663388" y="98612"/>
                </a:cubicBezTo>
                <a:cubicBezTo>
                  <a:pt x="671840" y="94386"/>
                  <a:pt x="681830" y="93873"/>
                  <a:pt x="690282" y="89647"/>
                </a:cubicBezTo>
                <a:cubicBezTo>
                  <a:pt x="699919" y="84829"/>
                  <a:pt x="707231" y="75862"/>
                  <a:pt x="717176" y="71718"/>
                </a:cubicBezTo>
                <a:cubicBezTo>
                  <a:pt x="743344" y="60815"/>
                  <a:pt x="770965" y="53789"/>
                  <a:pt x="797859" y="44824"/>
                </a:cubicBezTo>
                <a:cubicBezTo>
                  <a:pt x="806824" y="41836"/>
                  <a:pt x="815586" y="38151"/>
                  <a:pt x="824753" y="35859"/>
                </a:cubicBezTo>
                <a:cubicBezTo>
                  <a:pt x="848659" y="29883"/>
                  <a:pt x="873093" y="25723"/>
                  <a:pt x="896470" y="17930"/>
                </a:cubicBezTo>
                <a:cubicBezTo>
                  <a:pt x="905435" y="14942"/>
                  <a:pt x="914098" y="10818"/>
                  <a:pt x="923364" y="8965"/>
                </a:cubicBezTo>
                <a:cubicBezTo>
                  <a:pt x="944084" y="4821"/>
                  <a:pt x="965199" y="2988"/>
                  <a:pt x="986117" y="0"/>
                </a:cubicBezTo>
                <a:cubicBezTo>
                  <a:pt x="1075764" y="2988"/>
                  <a:pt x="1165526" y="3539"/>
                  <a:pt x="1255059" y="8965"/>
                </a:cubicBezTo>
                <a:cubicBezTo>
                  <a:pt x="1279058" y="10420"/>
                  <a:pt x="1327307" y="45354"/>
                  <a:pt x="1335741" y="53788"/>
                </a:cubicBezTo>
                <a:lnTo>
                  <a:pt x="1380564" y="98612"/>
                </a:lnTo>
                <a:cubicBezTo>
                  <a:pt x="1391838" y="132432"/>
                  <a:pt x="1394562" y="148466"/>
                  <a:pt x="1425388" y="179294"/>
                </a:cubicBezTo>
                <a:cubicBezTo>
                  <a:pt x="1468678" y="222586"/>
                  <a:pt x="1413667" y="169917"/>
                  <a:pt x="1470212" y="215153"/>
                </a:cubicBezTo>
                <a:cubicBezTo>
                  <a:pt x="1476812" y="220433"/>
                  <a:pt x="1481541" y="227803"/>
                  <a:pt x="1488141" y="233083"/>
                </a:cubicBezTo>
                <a:cubicBezTo>
                  <a:pt x="1496554" y="239814"/>
                  <a:pt x="1506758" y="244115"/>
                  <a:pt x="1515035" y="251012"/>
                </a:cubicBezTo>
                <a:cubicBezTo>
                  <a:pt x="1540918" y="272581"/>
                  <a:pt x="1542230" y="278357"/>
                  <a:pt x="1559859" y="304800"/>
                </a:cubicBezTo>
                <a:cubicBezTo>
                  <a:pt x="1569768" y="334529"/>
                  <a:pt x="1568823" y="322244"/>
                  <a:pt x="1568823" y="340659"/>
                </a:cubicBezTo>
              </a:path>
            </a:pathLst>
          </a:custGeom>
          <a:noFill/>
          <a:ln w="19050">
            <a:solidFill>
              <a:srgbClr val="00B0F0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0DD32BB7-C74A-4F8D-8F97-13C3B30624EA}"/>
              </a:ext>
            </a:extLst>
          </p:cNvPr>
          <p:cNvSpPr/>
          <p:nvPr/>
        </p:nvSpPr>
        <p:spPr>
          <a:xfrm>
            <a:off x="3948862" y="3920450"/>
            <a:ext cx="3993502" cy="691527"/>
          </a:xfrm>
          <a:custGeom>
            <a:avLst/>
            <a:gdLst>
              <a:gd name="connsiteX0" fmla="*/ 0 w 4357396"/>
              <a:gd name="connsiteY0" fmla="*/ 19723 h 924792"/>
              <a:gd name="connsiteX1" fmla="*/ 914400 w 4357396"/>
              <a:gd name="connsiteY1" fmla="*/ 19723 h 924792"/>
              <a:gd name="connsiteX2" fmla="*/ 961053 w 4357396"/>
              <a:gd name="connsiteY2" fmla="*/ 38384 h 924792"/>
              <a:gd name="connsiteX3" fmla="*/ 1007706 w 4357396"/>
              <a:gd name="connsiteY3" fmla="*/ 47715 h 924792"/>
              <a:gd name="connsiteX4" fmla="*/ 1045029 w 4357396"/>
              <a:gd name="connsiteY4" fmla="*/ 57045 h 924792"/>
              <a:gd name="connsiteX5" fmla="*/ 1101012 w 4357396"/>
              <a:gd name="connsiteY5" fmla="*/ 85037 h 924792"/>
              <a:gd name="connsiteX6" fmla="*/ 1166327 w 4357396"/>
              <a:gd name="connsiteY6" fmla="*/ 113029 h 924792"/>
              <a:gd name="connsiteX7" fmla="*/ 1194319 w 4357396"/>
              <a:gd name="connsiteY7" fmla="*/ 141021 h 924792"/>
              <a:gd name="connsiteX8" fmla="*/ 1250302 w 4357396"/>
              <a:gd name="connsiteY8" fmla="*/ 159682 h 924792"/>
              <a:gd name="connsiteX9" fmla="*/ 1306286 w 4357396"/>
              <a:gd name="connsiteY9" fmla="*/ 187674 h 924792"/>
              <a:gd name="connsiteX10" fmla="*/ 1334278 w 4357396"/>
              <a:gd name="connsiteY10" fmla="*/ 206335 h 924792"/>
              <a:gd name="connsiteX11" fmla="*/ 1408923 w 4357396"/>
              <a:gd name="connsiteY11" fmla="*/ 243657 h 924792"/>
              <a:gd name="connsiteX12" fmla="*/ 1464906 w 4357396"/>
              <a:gd name="connsiteY12" fmla="*/ 280980 h 924792"/>
              <a:gd name="connsiteX13" fmla="*/ 1492898 w 4357396"/>
              <a:gd name="connsiteY13" fmla="*/ 299641 h 924792"/>
              <a:gd name="connsiteX14" fmla="*/ 1520890 w 4357396"/>
              <a:gd name="connsiteY14" fmla="*/ 308972 h 924792"/>
              <a:gd name="connsiteX15" fmla="*/ 1558212 w 4357396"/>
              <a:gd name="connsiteY15" fmla="*/ 336964 h 924792"/>
              <a:gd name="connsiteX16" fmla="*/ 1576874 w 4357396"/>
              <a:gd name="connsiteY16" fmla="*/ 355625 h 924792"/>
              <a:gd name="connsiteX17" fmla="*/ 1651519 w 4357396"/>
              <a:gd name="connsiteY17" fmla="*/ 402278 h 924792"/>
              <a:gd name="connsiteX18" fmla="*/ 1698172 w 4357396"/>
              <a:gd name="connsiteY18" fmla="*/ 448931 h 924792"/>
              <a:gd name="connsiteX19" fmla="*/ 1754155 w 4357396"/>
              <a:gd name="connsiteY19" fmla="*/ 486253 h 924792"/>
              <a:gd name="connsiteX20" fmla="*/ 1782147 w 4357396"/>
              <a:gd name="connsiteY20" fmla="*/ 504915 h 924792"/>
              <a:gd name="connsiteX21" fmla="*/ 1819470 w 4357396"/>
              <a:gd name="connsiteY21" fmla="*/ 532906 h 924792"/>
              <a:gd name="connsiteX22" fmla="*/ 1838131 w 4357396"/>
              <a:gd name="connsiteY22" fmla="*/ 551568 h 924792"/>
              <a:gd name="connsiteX23" fmla="*/ 1912776 w 4357396"/>
              <a:gd name="connsiteY23" fmla="*/ 588890 h 924792"/>
              <a:gd name="connsiteX24" fmla="*/ 1940768 w 4357396"/>
              <a:gd name="connsiteY24" fmla="*/ 607551 h 924792"/>
              <a:gd name="connsiteX25" fmla="*/ 1968759 w 4357396"/>
              <a:gd name="connsiteY25" fmla="*/ 616882 h 924792"/>
              <a:gd name="connsiteX26" fmla="*/ 2006082 w 4357396"/>
              <a:gd name="connsiteY26" fmla="*/ 635543 h 924792"/>
              <a:gd name="connsiteX27" fmla="*/ 2034074 w 4357396"/>
              <a:gd name="connsiteY27" fmla="*/ 644874 h 924792"/>
              <a:gd name="connsiteX28" fmla="*/ 2071396 w 4357396"/>
              <a:gd name="connsiteY28" fmla="*/ 663535 h 924792"/>
              <a:gd name="connsiteX29" fmla="*/ 2127380 w 4357396"/>
              <a:gd name="connsiteY29" fmla="*/ 682196 h 924792"/>
              <a:gd name="connsiteX30" fmla="*/ 2183363 w 4357396"/>
              <a:gd name="connsiteY30" fmla="*/ 710188 h 924792"/>
              <a:gd name="connsiteX31" fmla="*/ 2248678 w 4357396"/>
              <a:gd name="connsiteY31" fmla="*/ 738180 h 924792"/>
              <a:gd name="connsiteX32" fmla="*/ 2379306 w 4357396"/>
              <a:gd name="connsiteY32" fmla="*/ 756841 h 924792"/>
              <a:gd name="connsiteX33" fmla="*/ 2435290 w 4357396"/>
              <a:gd name="connsiteY33" fmla="*/ 775502 h 924792"/>
              <a:gd name="connsiteX34" fmla="*/ 2509935 w 4357396"/>
              <a:gd name="connsiteY34" fmla="*/ 794164 h 924792"/>
              <a:gd name="connsiteX35" fmla="*/ 2537927 w 4357396"/>
              <a:gd name="connsiteY35" fmla="*/ 803494 h 924792"/>
              <a:gd name="connsiteX36" fmla="*/ 2668555 w 4357396"/>
              <a:gd name="connsiteY36" fmla="*/ 822155 h 924792"/>
              <a:gd name="connsiteX37" fmla="*/ 2799184 w 4357396"/>
              <a:gd name="connsiteY37" fmla="*/ 840817 h 924792"/>
              <a:gd name="connsiteX38" fmla="*/ 2845837 w 4357396"/>
              <a:gd name="connsiteY38" fmla="*/ 850147 h 924792"/>
              <a:gd name="connsiteX39" fmla="*/ 2929812 w 4357396"/>
              <a:gd name="connsiteY39" fmla="*/ 868808 h 924792"/>
              <a:gd name="connsiteX40" fmla="*/ 3116425 w 4357396"/>
              <a:gd name="connsiteY40" fmla="*/ 887470 h 924792"/>
              <a:gd name="connsiteX41" fmla="*/ 3256384 w 4357396"/>
              <a:gd name="connsiteY41" fmla="*/ 915462 h 924792"/>
              <a:gd name="connsiteX42" fmla="*/ 3452327 w 4357396"/>
              <a:gd name="connsiteY42" fmla="*/ 924792 h 924792"/>
              <a:gd name="connsiteX43" fmla="*/ 3984172 w 4357396"/>
              <a:gd name="connsiteY43" fmla="*/ 915462 h 924792"/>
              <a:gd name="connsiteX44" fmla="*/ 4021494 w 4357396"/>
              <a:gd name="connsiteY44" fmla="*/ 896800 h 924792"/>
              <a:gd name="connsiteX45" fmla="*/ 4077478 w 4357396"/>
              <a:gd name="connsiteY45" fmla="*/ 878139 h 924792"/>
              <a:gd name="connsiteX46" fmla="*/ 4142792 w 4357396"/>
              <a:gd name="connsiteY46" fmla="*/ 831486 h 924792"/>
              <a:gd name="connsiteX47" fmla="*/ 4198776 w 4357396"/>
              <a:gd name="connsiteY47" fmla="*/ 766172 h 924792"/>
              <a:gd name="connsiteX48" fmla="*/ 4226768 w 4357396"/>
              <a:gd name="connsiteY48" fmla="*/ 719519 h 924792"/>
              <a:gd name="connsiteX49" fmla="*/ 4236098 w 4357396"/>
              <a:gd name="connsiteY49" fmla="*/ 691527 h 924792"/>
              <a:gd name="connsiteX50" fmla="*/ 4254759 w 4357396"/>
              <a:gd name="connsiteY50" fmla="*/ 663535 h 924792"/>
              <a:gd name="connsiteX51" fmla="*/ 4264090 w 4357396"/>
              <a:gd name="connsiteY51" fmla="*/ 635543 h 924792"/>
              <a:gd name="connsiteX52" fmla="*/ 4301412 w 4357396"/>
              <a:gd name="connsiteY52" fmla="*/ 551568 h 924792"/>
              <a:gd name="connsiteX53" fmla="*/ 4320074 w 4357396"/>
              <a:gd name="connsiteY53" fmla="*/ 467592 h 924792"/>
              <a:gd name="connsiteX54" fmla="*/ 4329404 w 4357396"/>
              <a:gd name="connsiteY54" fmla="*/ 430270 h 924792"/>
              <a:gd name="connsiteX55" fmla="*/ 4338735 w 4357396"/>
              <a:gd name="connsiteY55" fmla="*/ 346294 h 924792"/>
              <a:gd name="connsiteX56" fmla="*/ 4357396 w 4357396"/>
              <a:gd name="connsiteY56" fmla="*/ 290310 h 924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4357396" h="924792">
                <a:moveTo>
                  <a:pt x="0" y="19723"/>
                </a:moveTo>
                <a:cubicBezTo>
                  <a:pt x="356964" y="-10025"/>
                  <a:pt x="228616" y="-2885"/>
                  <a:pt x="914400" y="19723"/>
                </a:cubicBezTo>
                <a:cubicBezTo>
                  <a:pt x="931140" y="20275"/>
                  <a:pt x="945010" y="33571"/>
                  <a:pt x="961053" y="38384"/>
                </a:cubicBezTo>
                <a:cubicBezTo>
                  <a:pt x="976243" y="42941"/>
                  <a:pt x="992225" y="44275"/>
                  <a:pt x="1007706" y="47715"/>
                </a:cubicBezTo>
                <a:cubicBezTo>
                  <a:pt x="1020224" y="50497"/>
                  <a:pt x="1032588" y="53935"/>
                  <a:pt x="1045029" y="57045"/>
                </a:cubicBezTo>
                <a:cubicBezTo>
                  <a:pt x="1098820" y="92905"/>
                  <a:pt x="1046933" y="61860"/>
                  <a:pt x="1101012" y="85037"/>
                </a:cubicBezTo>
                <a:cubicBezTo>
                  <a:pt x="1181716" y="119625"/>
                  <a:pt x="1100685" y="91147"/>
                  <a:pt x="1166327" y="113029"/>
                </a:cubicBezTo>
                <a:cubicBezTo>
                  <a:pt x="1175658" y="122360"/>
                  <a:pt x="1182784" y="134613"/>
                  <a:pt x="1194319" y="141021"/>
                </a:cubicBezTo>
                <a:cubicBezTo>
                  <a:pt x="1211514" y="150574"/>
                  <a:pt x="1233935" y="148771"/>
                  <a:pt x="1250302" y="159682"/>
                </a:cubicBezTo>
                <a:cubicBezTo>
                  <a:pt x="1330523" y="213162"/>
                  <a:pt x="1229025" y="149043"/>
                  <a:pt x="1306286" y="187674"/>
                </a:cubicBezTo>
                <a:cubicBezTo>
                  <a:pt x="1316316" y="192689"/>
                  <a:pt x="1324433" y="200965"/>
                  <a:pt x="1334278" y="206335"/>
                </a:cubicBezTo>
                <a:cubicBezTo>
                  <a:pt x="1358700" y="219656"/>
                  <a:pt x="1385777" y="228226"/>
                  <a:pt x="1408923" y="243657"/>
                </a:cubicBezTo>
                <a:lnTo>
                  <a:pt x="1464906" y="280980"/>
                </a:lnTo>
                <a:cubicBezTo>
                  <a:pt x="1474237" y="287200"/>
                  <a:pt x="1482259" y="296095"/>
                  <a:pt x="1492898" y="299641"/>
                </a:cubicBezTo>
                <a:lnTo>
                  <a:pt x="1520890" y="308972"/>
                </a:lnTo>
                <a:cubicBezTo>
                  <a:pt x="1533331" y="318303"/>
                  <a:pt x="1546265" y="327009"/>
                  <a:pt x="1558212" y="336964"/>
                </a:cubicBezTo>
                <a:cubicBezTo>
                  <a:pt x="1564970" y="342596"/>
                  <a:pt x="1569715" y="350512"/>
                  <a:pt x="1576874" y="355625"/>
                </a:cubicBezTo>
                <a:cubicBezTo>
                  <a:pt x="1582834" y="359882"/>
                  <a:pt x="1639546" y="391801"/>
                  <a:pt x="1651519" y="402278"/>
                </a:cubicBezTo>
                <a:cubicBezTo>
                  <a:pt x="1668070" y="416760"/>
                  <a:pt x="1679873" y="436732"/>
                  <a:pt x="1698172" y="448931"/>
                </a:cubicBezTo>
                <a:lnTo>
                  <a:pt x="1754155" y="486253"/>
                </a:lnTo>
                <a:cubicBezTo>
                  <a:pt x="1763486" y="492474"/>
                  <a:pt x="1773176" y="498187"/>
                  <a:pt x="1782147" y="504915"/>
                </a:cubicBezTo>
                <a:cubicBezTo>
                  <a:pt x="1794588" y="514245"/>
                  <a:pt x="1807523" y="522951"/>
                  <a:pt x="1819470" y="532906"/>
                </a:cubicBezTo>
                <a:cubicBezTo>
                  <a:pt x="1826228" y="538538"/>
                  <a:pt x="1830588" y="547042"/>
                  <a:pt x="1838131" y="551568"/>
                </a:cubicBezTo>
                <a:cubicBezTo>
                  <a:pt x="1861985" y="565881"/>
                  <a:pt x="1889630" y="573459"/>
                  <a:pt x="1912776" y="588890"/>
                </a:cubicBezTo>
                <a:cubicBezTo>
                  <a:pt x="1922107" y="595110"/>
                  <a:pt x="1930738" y="602536"/>
                  <a:pt x="1940768" y="607551"/>
                </a:cubicBezTo>
                <a:cubicBezTo>
                  <a:pt x="1949565" y="611949"/>
                  <a:pt x="1959719" y="613008"/>
                  <a:pt x="1968759" y="616882"/>
                </a:cubicBezTo>
                <a:cubicBezTo>
                  <a:pt x="1981544" y="622361"/>
                  <a:pt x="1993297" y="630064"/>
                  <a:pt x="2006082" y="635543"/>
                </a:cubicBezTo>
                <a:cubicBezTo>
                  <a:pt x="2015122" y="639417"/>
                  <a:pt x="2025034" y="641000"/>
                  <a:pt x="2034074" y="644874"/>
                </a:cubicBezTo>
                <a:cubicBezTo>
                  <a:pt x="2046858" y="650353"/>
                  <a:pt x="2058482" y="658369"/>
                  <a:pt x="2071396" y="663535"/>
                </a:cubicBezTo>
                <a:cubicBezTo>
                  <a:pt x="2089660" y="670840"/>
                  <a:pt x="2127380" y="682196"/>
                  <a:pt x="2127380" y="682196"/>
                </a:cubicBezTo>
                <a:cubicBezTo>
                  <a:pt x="2181171" y="718056"/>
                  <a:pt x="2129284" y="687011"/>
                  <a:pt x="2183363" y="710188"/>
                </a:cubicBezTo>
                <a:cubicBezTo>
                  <a:pt x="2207061" y="720344"/>
                  <a:pt x="2223345" y="733574"/>
                  <a:pt x="2248678" y="738180"/>
                </a:cubicBezTo>
                <a:cubicBezTo>
                  <a:pt x="2289205" y="745548"/>
                  <a:pt x="2338493" y="746638"/>
                  <a:pt x="2379306" y="756841"/>
                </a:cubicBezTo>
                <a:cubicBezTo>
                  <a:pt x="2398389" y="761612"/>
                  <a:pt x="2416207" y="770731"/>
                  <a:pt x="2435290" y="775502"/>
                </a:cubicBezTo>
                <a:cubicBezTo>
                  <a:pt x="2460172" y="781723"/>
                  <a:pt x="2485191" y="787416"/>
                  <a:pt x="2509935" y="794164"/>
                </a:cubicBezTo>
                <a:cubicBezTo>
                  <a:pt x="2519424" y="796752"/>
                  <a:pt x="2528326" y="801360"/>
                  <a:pt x="2537927" y="803494"/>
                </a:cubicBezTo>
                <a:cubicBezTo>
                  <a:pt x="2572532" y="811184"/>
                  <a:pt x="2636257" y="818118"/>
                  <a:pt x="2668555" y="822155"/>
                </a:cubicBezTo>
                <a:cubicBezTo>
                  <a:pt x="2748632" y="842175"/>
                  <a:pt x="2662820" y="822635"/>
                  <a:pt x="2799184" y="840817"/>
                </a:cubicBezTo>
                <a:cubicBezTo>
                  <a:pt x="2814904" y="842913"/>
                  <a:pt x="2830330" y="846824"/>
                  <a:pt x="2845837" y="850147"/>
                </a:cubicBezTo>
                <a:cubicBezTo>
                  <a:pt x="2873875" y="856155"/>
                  <a:pt x="2901574" y="863825"/>
                  <a:pt x="2929812" y="868808"/>
                </a:cubicBezTo>
                <a:cubicBezTo>
                  <a:pt x="2979835" y="877636"/>
                  <a:pt x="3071750" y="883747"/>
                  <a:pt x="3116425" y="887470"/>
                </a:cubicBezTo>
                <a:cubicBezTo>
                  <a:pt x="3139036" y="892495"/>
                  <a:pt x="3224787" y="913122"/>
                  <a:pt x="3256384" y="915462"/>
                </a:cubicBezTo>
                <a:cubicBezTo>
                  <a:pt x="3321594" y="920292"/>
                  <a:pt x="3387013" y="921682"/>
                  <a:pt x="3452327" y="924792"/>
                </a:cubicBezTo>
                <a:cubicBezTo>
                  <a:pt x="3629609" y="921682"/>
                  <a:pt x="3807077" y="924172"/>
                  <a:pt x="3984172" y="915462"/>
                </a:cubicBezTo>
                <a:cubicBezTo>
                  <a:pt x="3998064" y="914779"/>
                  <a:pt x="4008580" y="901966"/>
                  <a:pt x="4021494" y="896800"/>
                </a:cubicBezTo>
                <a:cubicBezTo>
                  <a:pt x="4039758" y="889494"/>
                  <a:pt x="4061111" y="889050"/>
                  <a:pt x="4077478" y="878139"/>
                </a:cubicBezTo>
                <a:cubicBezTo>
                  <a:pt x="4099634" y="863368"/>
                  <a:pt x="4122535" y="848849"/>
                  <a:pt x="4142792" y="831486"/>
                </a:cubicBezTo>
                <a:cubicBezTo>
                  <a:pt x="4170084" y="808093"/>
                  <a:pt x="4176651" y="795672"/>
                  <a:pt x="4198776" y="766172"/>
                </a:cubicBezTo>
                <a:cubicBezTo>
                  <a:pt x="4225206" y="686876"/>
                  <a:pt x="4188344" y="783558"/>
                  <a:pt x="4226768" y="719519"/>
                </a:cubicBezTo>
                <a:cubicBezTo>
                  <a:pt x="4231828" y="711085"/>
                  <a:pt x="4231700" y="700324"/>
                  <a:pt x="4236098" y="691527"/>
                </a:cubicBezTo>
                <a:cubicBezTo>
                  <a:pt x="4241113" y="681497"/>
                  <a:pt x="4249744" y="673565"/>
                  <a:pt x="4254759" y="663535"/>
                </a:cubicBezTo>
                <a:cubicBezTo>
                  <a:pt x="4259158" y="654738"/>
                  <a:pt x="4260637" y="644752"/>
                  <a:pt x="4264090" y="635543"/>
                </a:cubicBezTo>
                <a:cubicBezTo>
                  <a:pt x="4281961" y="587886"/>
                  <a:pt x="4280206" y="593979"/>
                  <a:pt x="4301412" y="551568"/>
                </a:cubicBezTo>
                <a:cubicBezTo>
                  <a:pt x="4307633" y="523576"/>
                  <a:pt x="4313626" y="495533"/>
                  <a:pt x="4320074" y="467592"/>
                </a:cubicBezTo>
                <a:cubicBezTo>
                  <a:pt x="4322958" y="455097"/>
                  <a:pt x="4327454" y="442944"/>
                  <a:pt x="4329404" y="430270"/>
                </a:cubicBezTo>
                <a:cubicBezTo>
                  <a:pt x="4333687" y="402433"/>
                  <a:pt x="4334752" y="374175"/>
                  <a:pt x="4338735" y="346294"/>
                </a:cubicBezTo>
                <a:cubicBezTo>
                  <a:pt x="4345531" y="298726"/>
                  <a:pt x="4337795" y="309913"/>
                  <a:pt x="4357396" y="290310"/>
                </a:cubicBezTo>
              </a:path>
            </a:pathLst>
          </a:custGeom>
          <a:noFill/>
          <a:ln w="28575">
            <a:prstDash val="sys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9F81B8B-0473-4BBC-BFA7-350C8C1F1E6D}"/>
              </a:ext>
            </a:extLst>
          </p:cNvPr>
          <p:cNvSpPr/>
          <p:nvPr/>
        </p:nvSpPr>
        <p:spPr>
          <a:xfrm>
            <a:off x="4312756" y="4070801"/>
            <a:ext cx="4693298" cy="663354"/>
          </a:xfrm>
          <a:custGeom>
            <a:avLst/>
            <a:gdLst>
              <a:gd name="connsiteX0" fmla="*/ 0 w 4693298"/>
              <a:gd name="connsiteY0" fmla="*/ 261257 h 663354"/>
              <a:gd name="connsiteX1" fmla="*/ 289249 w 4693298"/>
              <a:gd name="connsiteY1" fmla="*/ 298580 h 663354"/>
              <a:gd name="connsiteX2" fmla="*/ 354563 w 4693298"/>
              <a:gd name="connsiteY2" fmla="*/ 326572 h 663354"/>
              <a:gd name="connsiteX3" fmla="*/ 447869 w 4693298"/>
              <a:gd name="connsiteY3" fmla="*/ 345233 h 663354"/>
              <a:gd name="connsiteX4" fmla="*/ 475861 w 4693298"/>
              <a:gd name="connsiteY4" fmla="*/ 354564 h 663354"/>
              <a:gd name="connsiteX5" fmla="*/ 541176 w 4693298"/>
              <a:gd name="connsiteY5" fmla="*/ 391886 h 663354"/>
              <a:gd name="connsiteX6" fmla="*/ 606490 w 4693298"/>
              <a:gd name="connsiteY6" fmla="*/ 401217 h 663354"/>
              <a:gd name="connsiteX7" fmla="*/ 709127 w 4693298"/>
              <a:gd name="connsiteY7" fmla="*/ 438539 h 663354"/>
              <a:gd name="connsiteX8" fmla="*/ 839755 w 4693298"/>
              <a:gd name="connsiteY8" fmla="*/ 466531 h 663354"/>
              <a:gd name="connsiteX9" fmla="*/ 895739 w 4693298"/>
              <a:gd name="connsiteY9" fmla="*/ 475862 h 663354"/>
              <a:gd name="connsiteX10" fmla="*/ 979714 w 4693298"/>
              <a:gd name="connsiteY10" fmla="*/ 494523 h 663354"/>
              <a:gd name="connsiteX11" fmla="*/ 1063690 w 4693298"/>
              <a:gd name="connsiteY11" fmla="*/ 503853 h 663354"/>
              <a:gd name="connsiteX12" fmla="*/ 1147665 w 4693298"/>
              <a:gd name="connsiteY12" fmla="*/ 522515 h 663354"/>
              <a:gd name="connsiteX13" fmla="*/ 1194318 w 4693298"/>
              <a:gd name="connsiteY13" fmla="*/ 541176 h 663354"/>
              <a:gd name="connsiteX14" fmla="*/ 1390261 w 4693298"/>
              <a:gd name="connsiteY14" fmla="*/ 569168 h 663354"/>
              <a:gd name="connsiteX15" fmla="*/ 1520890 w 4693298"/>
              <a:gd name="connsiteY15" fmla="*/ 587829 h 663354"/>
              <a:gd name="connsiteX16" fmla="*/ 1651518 w 4693298"/>
              <a:gd name="connsiteY16" fmla="*/ 606490 h 663354"/>
              <a:gd name="connsiteX17" fmla="*/ 1959429 w 4693298"/>
              <a:gd name="connsiteY17" fmla="*/ 615821 h 663354"/>
              <a:gd name="connsiteX18" fmla="*/ 2435290 w 4693298"/>
              <a:gd name="connsiteY18" fmla="*/ 643813 h 663354"/>
              <a:gd name="connsiteX19" fmla="*/ 2724539 w 4693298"/>
              <a:gd name="connsiteY19" fmla="*/ 662474 h 663354"/>
              <a:gd name="connsiteX20" fmla="*/ 3965510 w 4693298"/>
              <a:gd name="connsiteY20" fmla="*/ 643813 h 663354"/>
              <a:gd name="connsiteX21" fmla="*/ 4012163 w 4693298"/>
              <a:gd name="connsiteY21" fmla="*/ 634482 h 663354"/>
              <a:gd name="connsiteX22" fmla="*/ 4096139 w 4693298"/>
              <a:gd name="connsiteY22" fmla="*/ 606490 h 663354"/>
              <a:gd name="connsiteX23" fmla="*/ 4226767 w 4693298"/>
              <a:gd name="connsiteY23" fmla="*/ 587829 h 663354"/>
              <a:gd name="connsiteX24" fmla="*/ 4264090 w 4693298"/>
              <a:gd name="connsiteY24" fmla="*/ 559837 h 663354"/>
              <a:gd name="connsiteX25" fmla="*/ 4338735 w 4693298"/>
              <a:gd name="connsiteY25" fmla="*/ 541176 h 663354"/>
              <a:gd name="connsiteX26" fmla="*/ 4366727 w 4693298"/>
              <a:gd name="connsiteY26" fmla="*/ 531845 h 663354"/>
              <a:gd name="connsiteX27" fmla="*/ 4404049 w 4693298"/>
              <a:gd name="connsiteY27" fmla="*/ 503853 h 663354"/>
              <a:gd name="connsiteX28" fmla="*/ 4450702 w 4693298"/>
              <a:gd name="connsiteY28" fmla="*/ 475862 h 663354"/>
              <a:gd name="connsiteX29" fmla="*/ 4469363 w 4693298"/>
              <a:gd name="connsiteY29" fmla="*/ 457200 h 663354"/>
              <a:gd name="connsiteX30" fmla="*/ 4497355 w 4693298"/>
              <a:gd name="connsiteY30" fmla="*/ 438539 h 663354"/>
              <a:gd name="connsiteX31" fmla="*/ 4599992 w 4693298"/>
              <a:gd name="connsiteY31" fmla="*/ 363894 h 663354"/>
              <a:gd name="connsiteX32" fmla="*/ 4618653 w 4693298"/>
              <a:gd name="connsiteY32" fmla="*/ 335902 h 663354"/>
              <a:gd name="connsiteX33" fmla="*/ 4646645 w 4693298"/>
              <a:gd name="connsiteY33" fmla="*/ 307911 h 663354"/>
              <a:gd name="connsiteX34" fmla="*/ 4665306 w 4693298"/>
              <a:gd name="connsiteY34" fmla="*/ 251927 h 663354"/>
              <a:gd name="connsiteX35" fmla="*/ 4683967 w 4693298"/>
              <a:gd name="connsiteY35" fmla="*/ 186613 h 663354"/>
              <a:gd name="connsiteX36" fmla="*/ 4693298 w 4693298"/>
              <a:gd name="connsiteY36" fmla="*/ 0 h 663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93298" h="663354">
                <a:moveTo>
                  <a:pt x="0" y="261257"/>
                </a:moveTo>
                <a:cubicBezTo>
                  <a:pt x="220585" y="294345"/>
                  <a:pt x="123970" y="283554"/>
                  <a:pt x="289249" y="298580"/>
                </a:cubicBezTo>
                <a:cubicBezTo>
                  <a:pt x="312063" y="309987"/>
                  <a:pt x="329856" y="321081"/>
                  <a:pt x="354563" y="326572"/>
                </a:cubicBezTo>
                <a:cubicBezTo>
                  <a:pt x="437056" y="344904"/>
                  <a:pt x="382799" y="326641"/>
                  <a:pt x="447869" y="345233"/>
                </a:cubicBezTo>
                <a:cubicBezTo>
                  <a:pt x="457326" y="347935"/>
                  <a:pt x="467064" y="350165"/>
                  <a:pt x="475861" y="354564"/>
                </a:cubicBezTo>
                <a:cubicBezTo>
                  <a:pt x="506264" y="369766"/>
                  <a:pt x="505187" y="382071"/>
                  <a:pt x="541176" y="391886"/>
                </a:cubicBezTo>
                <a:cubicBezTo>
                  <a:pt x="562393" y="397673"/>
                  <a:pt x="584719" y="398107"/>
                  <a:pt x="606490" y="401217"/>
                </a:cubicBezTo>
                <a:cubicBezTo>
                  <a:pt x="637410" y="413585"/>
                  <a:pt x="677182" y="430553"/>
                  <a:pt x="709127" y="438539"/>
                </a:cubicBezTo>
                <a:cubicBezTo>
                  <a:pt x="752329" y="449339"/>
                  <a:pt x="796089" y="457798"/>
                  <a:pt x="839755" y="466531"/>
                </a:cubicBezTo>
                <a:cubicBezTo>
                  <a:pt x="858306" y="470241"/>
                  <a:pt x="877271" y="471758"/>
                  <a:pt x="895739" y="475862"/>
                </a:cubicBezTo>
                <a:cubicBezTo>
                  <a:pt x="986285" y="495983"/>
                  <a:pt x="828229" y="474325"/>
                  <a:pt x="979714" y="494523"/>
                </a:cubicBezTo>
                <a:cubicBezTo>
                  <a:pt x="1007631" y="498245"/>
                  <a:pt x="1035809" y="499870"/>
                  <a:pt x="1063690" y="503853"/>
                </a:cubicBezTo>
                <a:cubicBezTo>
                  <a:pt x="1076633" y="505702"/>
                  <a:pt x="1132383" y="517421"/>
                  <a:pt x="1147665" y="522515"/>
                </a:cubicBezTo>
                <a:cubicBezTo>
                  <a:pt x="1163554" y="527812"/>
                  <a:pt x="1178135" y="536861"/>
                  <a:pt x="1194318" y="541176"/>
                </a:cubicBezTo>
                <a:cubicBezTo>
                  <a:pt x="1288164" y="566201"/>
                  <a:pt x="1291938" y="557369"/>
                  <a:pt x="1390261" y="569168"/>
                </a:cubicBezTo>
                <a:cubicBezTo>
                  <a:pt x="1433933" y="574409"/>
                  <a:pt x="1477759" y="579203"/>
                  <a:pt x="1520890" y="587829"/>
                </a:cubicBezTo>
                <a:cubicBezTo>
                  <a:pt x="1571756" y="598002"/>
                  <a:pt x="1593344" y="603720"/>
                  <a:pt x="1651518" y="606490"/>
                </a:cubicBezTo>
                <a:cubicBezTo>
                  <a:pt x="1754086" y="611374"/>
                  <a:pt x="1856813" y="612090"/>
                  <a:pt x="1959429" y="615821"/>
                </a:cubicBezTo>
                <a:cubicBezTo>
                  <a:pt x="2172625" y="623573"/>
                  <a:pt x="2205126" y="627939"/>
                  <a:pt x="2435290" y="643813"/>
                </a:cubicBezTo>
                <a:cubicBezTo>
                  <a:pt x="2550309" y="666815"/>
                  <a:pt x="2522166" y="663747"/>
                  <a:pt x="2724539" y="662474"/>
                </a:cubicBezTo>
                <a:lnTo>
                  <a:pt x="3965510" y="643813"/>
                </a:lnTo>
                <a:cubicBezTo>
                  <a:pt x="3981061" y="640703"/>
                  <a:pt x="3996914" y="638839"/>
                  <a:pt x="4012163" y="634482"/>
                </a:cubicBezTo>
                <a:cubicBezTo>
                  <a:pt x="4040534" y="626376"/>
                  <a:pt x="4067034" y="611341"/>
                  <a:pt x="4096139" y="606490"/>
                </a:cubicBezTo>
                <a:cubicBezTo>
                  <a:pt x="4176857" y="593037"/>
                  <a:pt x="4133350" y="599505"/>
                  <a:pt x="4226767" y="587829"/>
                </a:cubicBezTo>
                <a:cubicBezTo>
                  <a:pt x="4239208" y="578498"/>
                  <a:pt x="4249735" y="565818"/>
                  <a:pt x="4264090" y="559837"/>
                </a:cubicBezTo>
                <a:cubicBezTo>
                  <a:pt x="4287765" y="549973"/>
                  <a:pt x="4313991" y="547924"/>
                  <a:pt x="4338735" y="541176"/>
                </a:cubicBezTo>
                <a:cubicBezTo>
                  <a:pt x="4348224" y="538588"/>
                  <a:pt x="4357396" y="534955"/>
                  <a:pt x="4366727" y="531845"/>
                </a:cubicBezTo>
                <a:cubicBezTo>
                  <a:pt x="4379168" y="522514"/>
                  <a:pt x="4391110" y="512479"/>
                  <a:pt x="4404049" y="503853"/>
                </a:cubicBezTo>
                <a:cubicBezTo>
                  <a:pt x="4419139" y="493793"/>
                  <a:pt x="4435945" y="486403"/>
                  <a:pt x="4450702" y="475862"/>
                </a:cubicBezTo>
                <a:cubicBezTo>
                  <a:pt x="4457860" y="470749"/>
                  <a:pt x="4462494" y="462696"/>
                  <a:pt x="4469363" y="457200"/>
                </a:cubicBezTo>
                <a:cubicBezTo>
                  <a:pt x="4478120" y="450195"/>
                  <a:pt x="4488286" y="445135"/>
                  <a:pt x="4497355" y="438539"/>
                </a:cubicBezTo>
                <a:cubicBezTo>
                  <a:pt x="4612327" y="354923"/>
                  <a:pt x="4534816" y="407344"/>
                  <a:pt x="4599992" y="363894"/>
                </a:cubicBezTo>
                <a:cubicBezTo>
                  <a:pt x="4606212" y="354563"/>
                  <a:pt x="4611474" y="344517"/>
                  <a:pt x="4618653" y="335902"/>
                </a:cubicBezTo>
                <a:cubicBezTo>
                  <a:pt x="4627100" y="325765"/>
                  <a:pt x="4640237" y="319446"/>
                  <a:pt x="4646645" y="307911"/>
                </a:cubicBezTo>
                <a:cubicBezTo>
                  <a:pt x="4656198" y="290716"/>
                  <a:pt x="4659086" y="270588"/>
                  <a:pt x="4665306" y="251927"/>
                </a:cubicBezTo>
                <a:cubicBezTo>
                  <a:pt x="4678694" y="211764"/>
                  <a:pt x="4672250" y="233484"/>
                  <a:pt x="4683967" y="186613"/>
                </a:cubicBezTo>
                <a:lnTo>
                  <a:pt x="4693298" y="0"/>
                </a:lnTo>
              </a:path>
            </a:pathLst>
          </a:custGeom>
          <a:noFill/>
          <a:ln w="28575">
            <a:solidFill>
              <a:srgbClr val="FF9933"/>
            </a:solidFill>
            <a:prstDash val="sys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85D340-A917-4066-9FBB-20A775C0EBBD}"/>
              </a:ext>
            </a:extLst>
          </p:cNvPr>
          <p:cNvSpPr txBox="1"/>
          <p:nvPr/>
        </p:nvSpPr>
        <p:spPr>
          <a:xfrm>
            <a:off x="7592494" y="191046"/>
            <a:ext cx="3134127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200"/>
              <a:t>이진값 분류 </a:t>
            </a:r>
            <a:endParaRPr lang="en-US" altLang="ko-KR" sz="120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200"/>
              <a:t>loss =‘binary_crossentropy’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200"/>
              <a:t> </a:t>
            </a:r>
            <a:r>
              <a:rPr lang="ko-KR" altLang="en-US" sz="1200"/>
              <a:t>성능지표는 </a:t>
            </a:r>
            <a:r>
              <a:rPr lang="en-US" altLang="ko-KR" sz="1200"/>
              <a:t>‘acc’, ‘recall’ </a:t>
            </a:r>
            <a:r>
              <a:rPr lang="ko-KR" altLang="en-US" sz="1200"/>
              <a:t>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14EEC-05C5-41E8-B662-6DBAD0AF2809}"/>
              </a:ext>
            </a:extLst>
          </p:cNvPr>
          <p:cNvSpPr txBox="1"/>
          <p:nvPr/>
        </p:nvSpPr>
        <p:spPr>
          <a:xfrm>
            <a:off x="7592493" y="911276"/>
            <a:ext cx="3134128" cy="83099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200"/>
              <a:t> </a:t>
            </a:r>
            <a:r>
              <a:rPr lang="ko-KR" altLang="en-US" sz="1200"/>
              <a:t>다중값 분류 </a:t>
            </a:r>
            <a:endParaRPr lang="en-US" altLang="ko-KR" sz="120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200"/>
              <a:t>activation</a:t>
            </a:r>
            <a:r>
              <a:rPr lang="ko-KR" altLang="en-US" sz="1200"/>
              <a:t> </a:t>
            </a:r>
            <a:r>
              <a:rPr lang="en-US" altLang="ko-KR" sz="1200"/>
              <a:t>=</a:t>
            </a:r>
            <a:r>
              <a:rPr lang="ko-KR" altLang="en-US" sz="1200"/>
              <a:t> </a:t>
            </a:r>
            <a:r>
              <a:rPr lang="en-US" altLang="ko-KR" sz="1200"/>
              <a:t>‘softmax’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200"/>
              <a:t>loss =‘categorical_crossentropy’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200"/>
              <a:t> </a:t>
            </a:r>
            <a:r>
              <a:rPr lang="ko-KR" altLang="en-US" sz="1200"/>
              <a:t>성능지표는 정확도</a:t>
            </a:r>
            <a:r>
              <a:rPr lang="en-US" altLang="ko-KR" sz="1200"/>
              <a:t>(‘acc’)</a:t>
            </a:r>
            <a:endParaRPr lang="ko-KR" alt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408818-0B0B-41E6-8626-C85AA986BACE}"/>
              </a:ext>
            </a:extLst>
          </p:cNvPr>
          <p:cNvSpPr txBox="1"/>
          <p:nvPr/>
        </p:nvSpPr>
        <p:spPr>
          <a:xfrm>
            <a:off x="7592493" y="1831474"/>
            <a:ext cx="3134128" cy="830997"/>
          </a:xfrm>
          <a:prstGeom prst="rect">
            <a:avLst/>
          </a:prstGeom>
          <a:solidFill>
            <a:srgbClr val="FF9933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200"/>
              <a:t> </a:t>
            </a:r>
            <a:r>
              <a:rPr lang="ko-KR" altLang="en-US" sz="1200"/>
              <a:t>숫자값 예측 </a:t>
            </a:r>
            <a:endParaRPr lang="en-US" altLang="ko-KR" sz="120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200"/>
              <a:t>activation</a:t>
            </a:r>
            <a:r>
              <a:rPr lang="ko-KR" altLang="en-US" sz="1200"/>
              <a:t> </a:t>
            </a:r>
            <a:r>
              <a:rPr lang="en-US" altLang="ko-KR" sz="1200"/>
              <a:t>=</a:t>
            </a:r>
            <a:r>
              <a:rPr lang="ko-KR" altLang="en-US" sz="1200"/>
              <a:t> </a:t>
            </a:r>
            <a:r>
              <a:rPr lang="en-US" altLang="ko-KR" sz="1200"/>
              <a:t>‘linear’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200"/>
              <a:t>loss =‘mse’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/>
              <a:t>성능지표는 </a:t>
            </a:r>
            <a:r>
              <a:rPr lang="en-US" altLang="ko-KR" sz="1200"/>
              <a:t>mse, mae </a:t>
            </a:r>
            <a:r>
              <a:rPr lang="ko-KR" altLang="en-US" sz="1200"/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2302103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261203" y="161362"/>
            <a:ext cx="3310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파이썬 딥러닝 실습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300546-A185-4C3D-8316-0B4C1D253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560" y="1056692"/>
            <a:ext cx="5571004" cy="474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69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Box 1">
            <a:extLst>
              <a:ext uri="{FF2B5EF4-FFF2-40B4-BE49-F238E27FC236}">
                <a16:creationId xmlns:a16="http://schemas.microsoft.com/office/drawing/2014/main" id="{2DB29A70-DB06-4203-9F65-D6C3B13B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65388"/>
            <a:ext cx="4233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6000" b="1">
                <a:solidFill>
                  <a:srgbClr val="0070C0"/>
                </a:solidFill>
              </a:rPr>
              <a:t>감사합니다</a:t>
            </a:r>
            <a:r>
              <a:rPr lang="en-US" altLang="ko-KR" sz="6000" b="1">
                <a:solidFill>
                  <a:srgbClr val="0070C0"/>
                </a:solidFill>
              </a:rPr>
              <a:t>.</a:t>
            </a:r>
            <a:endParaRPr lang="ko-KR" altLang="en-US" sz="60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57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7959</TotalTime>
  <Words>516</Words>
  <Application>Microsoft Office PowerPoint</Application>
  <PresentationFormat>와이드스크린</PresentationFormat>
  <Paragraphs>170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1147</cp:revision>
  <dcterms:created xsi:type="dcterms:W3CDTF">2024-09-09T09:01:14Z</dcterms:created>
  <dcterms:modified xsi:type="dcterms:W3CDTF">2025-09-11T21:25:52Z</dcterms:modified>
</cp:coreProperties>
</file>