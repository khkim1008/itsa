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387" r:id="rId2"/>
    <p:sldId id="520" r:id="rId3"/>
    <p:sldId id="545" r:id="rId4"/>
    <p:sldId id="527" r:id="rId5"/>
    <p:sldId id="528" r:id="rId6"/>
    <p:sldId id="529" r:id="rId7"/>
    <p:sldId id="530" r:id="rId8"/>
    <p:sldId id="531" r:id="rId9"/>
    <p:sldId id="532" r:id="rId10"/>
    <p:sldId id="535" r:id="rId11"/>
    <p:sldId id="533" r:id="rId12"/>
    <p:sldId id="534" r:id="rId13"/>
    <p:sldId id="536" r:id="rId14"/>
    <p:sldId id="537" r:id="rId15"/>
    <p:sldId id="538" r:id="rId16"/>
    <p:sldId id="539" r:id="rId17"/>
    <p:sldId id="557" r:id="rId18"/>
    <p:sldId id="546" r:id="rId19"/>
    <p:sldId id="547" r:id="rId20"/>
    <p:sldId id="548" r:id="rId21"/>
    <p:sldId id="549" r:id="rId22"/>
    <p:sldId id="550" r:id="rId23"/>
    <p:sldId id="551" r:id="rId24"/>
    <p:sldId id="552" r:id="rId25"/>
    <p:sldId id="553" r:id="rId26"/>
    <p:sldId id="554" r:id="rId27"/>
    <p:sldId id="555" r:id="rId28"/>
    <p:sldId id="556" r:id="rId29"/>
    <p:sldId id="526" r:id="rId30"/>
    <p:sldId id="438" r:id="rId31"/>
  </p:sldIdLst>
  <p:sldSz cx="12192000" cy="6858000"/>
  <p:notesSz cx="6858000" cy="9144000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6pPr>
    <a:lvl7pPr marL="2743200" algn="l" defTabSz="914400" rtl="0" eaLnBrk="1" latinLnBrk="1" hangingPunct="1"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7pPr>
    <a:lvl8pPr marL="3200400" algn="l" defTabSz="914400" rtl="0" eaLnBrk="1" latinLnBrk="1" hangingPunct="1"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8pPr>
    <a:lvl9pPr marL="3657600" algn="l" defTabSz="914400" rtl="0" eaLnBrk="1" latinLnBrk="1" hangingPunct="1"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FF9933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81" autoAdjust="0"/>
  </p:normalViewPr>
  <p:slideViewPr>
    <p:cSldViewPr snapToGrid="0">
      <p:cViewPr varScale="1">
        <p:scale>
          <a:sx n="107" d="100"/>
          <a:sy n="107" d="100"/>
        </p:scale>
        <p:origin x="6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642"/>
    </p:cViewPr>
  </p:sorterViewPr>
  <p:notesViewPr>
    <p:cSldViewPr snapToGrid="0">
      <p:cViewPr varScale="1">
        <p:scale>
          <a:sx n="86" d="100"/>
          <a:sy n="86" d="100"/>
        </p:scale>
        <p:origin x="386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CDE57BD7-6E0A-4654-8A8E-45C9B546CB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590836C-64D8-4B00-AF23-4EC6ECD0711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latinLnBrk="1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8A3DF36-72CB-4BD0-95EF-0A4C8AB0C029}" type="datetimeFigureOut">
              <a:rPr lang="ko-KR" altLang="en-US"/>
              <a:pPr>
                <a:defRPr/>
              </a:pPr>
              <a:t>2025-09-26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3CE8BD2C-751C-4D6A-BAA0-6B48B088CD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219AC6DE-15A7-4637-BE2A-1F6A92DAAB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 편집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BA6FB4F-BC62-43BA-8162-7B34D70C09D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73F8414-35E0-440F-9014-C342F8BBAC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latinLnBrk="1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53F1AAE-D5E4-44D4-AE0C-3A0245E2814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944ECADE-0669-4872-8D8E-C5CB57DCD3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3B427204-7DE6-4C76-AF97-3E2CB57B1C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F3D1D7C0-6309-4C8D-85CA-77DA949686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3300433-F9B5-4E0B-BA5E-40933C2DF285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67215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93887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86439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13437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15258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13535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50351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09781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82635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56978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72504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18121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19151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08297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83459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00575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42700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65105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46951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943475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946651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894091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097609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97618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973290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165164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391423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942746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슬라이드 이미지 개체 틀 1">
            <a:extLst>
              <a:ext uri="{FF2B5EF4-FFF2-40B4-BE49-F238E27FC236}">
                <a16:creationId xmlns:a16="http://schemas.microsoft.com/office/drawing/2014/main" id="{7D134615-8354-4988-90A3-ACC602B443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9331" name="슬라이드 노트 개체 틀 2">
            <a:extLst>
              <a:ext uri="{FF2B5EF4-FFF2-40B4-BE49-F238E27FC236}">
                <a16:creationId xmlns:a16="http://schemas.microsoft.com/office/drawing/2014/main" id="{09D80C2F-1DF4-4032-9AAC-F267E47823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99332" name="슬라이드 번호 개체 틀 3">
            <a:extLst>
              <a:ext uri="{FF2B5EF4-FFF2-40B4-BE49-F238E27FC236}">
                <a16:creationId xmlns:a16="http://schemas.microsoft.com/office/drawing/2014/main" id="{B606F641-B9C1-42A4-B9E0-4AE21EF710E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978118F-0833-4CE6-ACF9-EDCD7E8F2FDC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71689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3E70D-639B-4F24-9546-1A1D88E929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129BD01-DB6D-481D-8812-AC619E8229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CB16EF-AF43-443C-964F-E3637FEDE5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5D93F610-EC9F-49AF-BEE7-BFECFBEE6B62}" type="datetimeFigureOut">
              <a:rPr lang="ko-KR" altLang="en-US"/>
              <a:pPr>
                <a:defRPr/>
              </a:pPr>
              <a:t>2025-09-26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C4EA2F-911D-48DE-8BEF-3CAA8C66B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5EBBB8-3312-4ED0-8229-46139B8B3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358AB4F4-AAE8-4439-8C60-54BA36FC84B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5246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9769A8-9AF7-406A-9493-ABFDEEB62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2DDFD6-07A0-4F2E-AAA4-B8EBF1FD4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92C10F-8AD1-4CEE-B22F-D5531E702C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97DEF653-2431-4A0E-9654-9ACB9D51FBE7}" type="datetimeFigureOut">
              <a:rPr lang="ko-KR" altLang="en-US"/>
              <a:pPr>
                <a:defRPr/>
              </a:pPr>
              <a:t>2025-09-26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35EECA-72DC-4BD4-B0AB-FA64181B6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60EC19-3B01-4402-96B5-C499BD89A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E4E1167C-F991-4836-8C18-AE230C6BF58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2661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54FECC-54DA-4AE7-A17E-22058E2CE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D8DFE1E-F1FA-45E7-983F-80552D737B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AEA5F0-8154-43A8-8D33-471531B12E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93F262E2-F89F-4A75-B54F-D6A8EF2BF1D9}" type="datetimeFigureOut">
              <a:rPr lang="ko-KR" altLang="en-US"/>
              <a:pPr>
                <a:defRPr/>
              </a:pPr>
              <a:t>2025-09-26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314E77-F129-48B9-AC09-211BAEF70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0FB410-842C-48FF-BFF7-119062E7B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6938400F-1A3B-4F2D-8A86-FE816161704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57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9B64CD-C159-42EE-9204-80C8CA91D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5E1860-5D8C-4122-8171-2DF7F74BEE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5030E9D-78D7-42AB-BE75-DCC781A2CD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25BC3B4-068C-4788-9769-E92FD9620D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63B8D971-5704-4145-A919-9D554FEA486D}" type="datetimeFigureOut">
              <a:rPr lang="ko-KR" altLang="en-US"/>
              <a:pPr>
                <a:defRPr/>
              </a:pPr>
              <a:t>2025-09-26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D8AFBA1-12A0-4947-A3CD-1A8E91F71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DA3913B-B113-47D4-84EA-EB6436573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93363F4B-481F-40B9-AF0B-5BC614D296D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9904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417A24-C952-4A9A-B023-1E809E300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EC70054-A956-453B-ADB4-760D845B6B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98F5E92-8FF3-47E1-B76E-9ED7E685BA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FD61E73-1E7C-48BE-A066-630009497B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6D66483-D5D0-4515-BE36-5F11985994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1514F2B-EEC2-4AB0-B950-A46D79B5A0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3B7BDD3F-43B3-4C4F-8D08-A54CB3D7E68D}" type="datetimeFigureOut">
              <a:rPr lang="ko-KR" altLang="en-US"/>
              <a:pPr>
                <a:defRPr/>
              </a:pPr>
              <a:t>2025-09-26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F24F9E2-F0E1-41AA-BCF4-EE8BAA01B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9F09759-156F-4647-9F42-84D66ABF7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65DD5644-BEC7-463E-B6D9-F45E0D64698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9832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FBF5D4-9CC4-443F-A94E-0956745B5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2FE8C62-0803-48ED-A0C0-4641E34249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73355378-CBBB-46C3-9CB1-42FDE5043C5B}" type="datetimeFigureOut">
              <a:rPr lang="ko-KR" altLang="en-US"/>
              <a:pPr>
                <a:defRPr/>
              </a:pPr>
              <a:t>2025-09-26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BB9E311-E6EA-4E0E-908C-3C6DB9F00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E0BB1C2-B304-4BA4-8AC9-50C1E26F0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9312DAEF-D8BE-4A95-9621-3C7C61594A2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9702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F610685-5AA5-4BCE-A1A5-33921F02192B}"/>
              </a:ext>
            </a:extLst>
          </p:cNvPr>
          <p:cNvSpPr/>
          <p:nvPr userDrawn="1"/>
        </p:nvSpPr>
        <p:spPr>
          <a:xfrm>
            <a:off x="0" y="0"/>
            <a:ext cx="12192000" cy="90646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837423A-65A9-4B83-BDCA-3F6F474D4956}"/>
              </a:ext>
            </a:extLst>
          </p:cNvPr>
          <p:cNvSpPr/>
          <p:nvPr userDrawn="1"/>
        </p:nvSpPr>
        <p:spPr>
          <a:xfrm>
            <a:off x="0" y="6375400"/>
            <a:ext cx="12192000" cy="515938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</p:txBody>
      </p:sp>
      <p:sp>
        <p:nvSpPr>
          <p:cNvPr id="4" name="바닥글 개체 틀 2">
            <a:extLst>
              <a:ext uri="{FF2B5EF4-FFF2-40B4-BE49-F238E27FC236}">
                <a16:creationId xmlns:a16="http://schemas.microsoft.com/office/drawing/2014/main" id="{03C89755-87E1-4D6C-B740-03B4E772C406}"/>
              </a:ext>
            </a:extLst>
          </p:cNvPr>
          <p:cNvSpPr txBox="1">
            <a:spLocks/>
          </p:cNvSpPr>
          <p:nvPr userDrawn="1"/>
        </p:nvSpPr>
        <p:spPr>
          <a:xfrm>
            <a:off x="104775" y="6453188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1">
                <a:solidFill>
                  <a:schemeClr val="bg1"/>
                </a:solidFill>
              </a:rPr>
              <a:t>빅데이터분석</a:t>
            </a: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D737D079-2C0D-4521-A876-B9F4A5FA5F09}"/>
              </a:ext>
            </a:extLst>
          </p:cNvPr>
          <p:cNvSpPr txBox="1">
            <a:spLocks/>
          </p:cNvSpPr>
          <p:nvPr userDrawn="1"/>
        </p:nvSpPr>
        <p:spPr>
          <a:xfrm>
            <a:off x="9281720" y="6452429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9A57A4BD-6EDC-46A2-834B-61CF7CE0EBB4}" type="slidenum">
              <a:rPr lang="ko-KR" altLang="en-US" sz="1400" b="1" smtClean="0">
                <a:highlight>
                  <a:srgbClr val="FFFF00"/>
                </a:highlight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ko-KR" altLang="en-US" sz="1400" b="1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75993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0E6E4C-8DC1-4A6E-90F7-4279984F9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DBCDBD-ABFC-4B82-96DF-BB8BEE9C8B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F6CFB77-90F2-48E2-8A9E-01A4DBE304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51036D9-3BB3-46E6-B802-D293EB269A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158422B7-24C4-472A-88B6-6AA6CE96B749}" type="datetimeFigureOut">
              <a:rPr lang="ko-KR" altLang="en-US"/>
              <a:pPr>
                <a:defRPr/>
              </a:pPr>
              <a:t>2025-09-26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4436836-273F-4845-A376-27200544C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AB74232-E956-49BA-BDA5-BA77544F9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E10B0596-D5FC-4448-AEED-9D032750900F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8983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E77DCA-43CC-47A7-88FB-A41ECECB4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D237996-607D-4B3D-BAC5-25D979EA01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69851F2-09B6-4956-9BF0-DFEF038CAF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5C56C3-12A8-4759-8E4A-40EA84B33C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E17EDF4F-80DE-426F-943F-FF36A6E1559A}" type="datetimeFigureOut">
              <a:rPr lang="ko-KR" altLang="en-US"/>
              <a:pPr>
                <a:defRPr/>
              </a:pPr>
              <a:t>2025-09-26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7A47C3B-8032-4D3E-A47B-4B42405E1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F3CFC89-AEEF-4956-BE87-8BC4DE099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296D3F32-FF73-4782-9A44-4690EBFCA6A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4214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B2C7B6-4FA9-4E7B-80EB-4943C2A97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0FEE5A-6421-4F73-841B-000457CEDF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4BDD94-E9E6-406E-A82E-C020B84125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F8A923E1-B626-4A76-A4A7-3115B0A6081E}" type="datetimeFigureOut">
              <a:rPr lang="ko-KR" altLang="en-US"/>
              <a:pPr>
                <a:defRPr/>
              </a:pPr>
              <a:t>2025-09-26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FBFED8-F9E0-4F82-881D-E9B658914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FBB101-8682-41CF-889C-33F581DAD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0FA2CD7F-A1BC-4C3E-B760-D215897D13B0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2897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F15334E-4487-4417-967C-1054F7FAAC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96C0DBE-A6CA-4D05-A2C8-13FBC03B1B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2B6FFD-80C7-4D3E-B5D7-444EFD0C27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E945837B-DF37-466E-9BF2-3F16DC998E80}" type="datetimeFigureOut">
              <a:rPr lang="ko-KR" altLang="en-US"/>
              <a:pPr>
                <a:defRPr/>
              </a:pPr>
              <a:t>2025-09-26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A3EF1A-449A-4DB3-9434-6F6DB4340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BCB683-FD5A-4B72-BD46-BFF8BD502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9A05E1FA-DA96-4D65-98BA-2FD6AD422774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107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2E86BCFE-0854-406E-BAA5-E392B5800975}"/>
              </a:ext>
            </a:extLst>
          </p:cNvPr>
          <p:cNvSpPr/>
          <p:nvPr userDrawn="1"/>
        </p:nvSpPr>
        <p:spPr>
          <a:xfrm>
            <a:off x="0" y="0"/>
            <a:ext cx="12192000" cy="763588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EA93F6A-40FD-4B81-A662-D35E24C518E6}"/>
              </a:ext>
            </a:extLst>
          </p:cNvPr>
          <p:cNvSpPr/>
          <p:nvPr userDrawn="1"/>
        </p:nvSpPr>
        <p:spPr>
          <a:xfrm>
            <a:off x="0" y="6411913"/>
            <a:ext cx="12192000" cy="44608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</p:txBody>
      </p:sp>
      <p:sp>
        <p:nvSpPr>
          <p:cNvPr id="9" name="바닥글 개체 틀 2">
            <a:extLst>
              <a:ext uri="{FF2B5EF4-FFF2-40B4-BE49-F238E27FC236}">
                <a16:creationId xmlns:a16="http://schemas.microsoft.com/office/drawing/2014/main" id="{AF16C193-7CA1-46B5-A79B-0B26BD580F18}"/>
              </a:ext>
            </a:extLst>
          </p:cNvPr>
          <p:cNvSpPr txBox="1">
            <a:spLocks/>
          </p:cNvSpPr>
          <p:nvPr userDrawn="1"/>
        </p:nvSpPr>
        <p:spPr>
          <a:xfrm>
            <a:off x="104775" y="6453188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1">
                <a:solidFill>
                  <a:schemeClr val="bg1"/>
                </a:solidFill>
              </a:rPr>
              <a:t>딥러닝</a:t>
            </a:r>
          </a:p>
        </p:txBody>
      </p:sp>
      <p:sp>
        <p:nvSpPr>
          <p:cNvPr id="10" name="슬라이드 번호 개체 틀 3">
            <a:extLst>
              <a:ext uri="{FF2B5EF4-FFF2-40B4-BE49-F238E27FC236}">
                <a16:creationId xmlns:a16="http://schemas.microsoft.com/office/drawing/2014/main" id="{1B77644E-9142-4F20-8A5E-A4B49795C21C}"/>
              </a:ext>
            </a:extLst>
          </p:cNvPr>
          <p:cNvSpPr txBox="1">
            <a:spLocks/>
          </p:cNvSpPr>
          <p:nvPr userDrawn="1"/>
        </p:nvSpPr>
        <p:spPr>
          <a:xfrm>
            <a:off x="9344025" y="6453188"/>
            <a:ext cx="2743200" cy="365125"/>
          </a:xfrm>
          <a:prstGeom prst="rect">
            <a:avLst/>
          </a:prstGeom>
          <a:noFill/>
        </p:spPr>
        <p:txBody>
          <a:bodyPr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7C3584EE-FCFA-4EFB-96C3-7202F341AB65}" type="slidenum">
              <a:rPr lang="ko-KR" altLang="en-US" sz="1600" b="1" smtClean="0">
                <a:solidFill>
                  <a:schemeClr val="bg1"/>
                </a:solidFill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ko-KR" altLang="en-US" sz="1600" b="1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</p:sldLayoutIdLst>
  <p:txStyles>
    <p:titleStyle>
      <a:lvl1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2pPr>
      <a:lvl3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3pPr>
      <a:lvl4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4pPr>
      <a:lvl5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5pPr>
      <a:lvl6pPr marL="457200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6pPr>
      <a:lvl7pPr marL="914400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7pPr>
      <a:lvl8pPr marL="1371600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8pPr>
      <a:lvl9pPr marL="1828800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9pPr>
    </p:titleStyle>
    <p:bodyStyle>
      <a:lvl1pPr marL="228600" indent="-228600" algn="l" rtl="0" eaLnBrk="0" fontAlgn="base" latinLnBrk="1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Box 1">
            <a:extLst>
              <a:ext uri="{FF2B5EF4-FFF2-40B4-BE49-F238E27FC236}">
                <a16:creationId xmlns:a16="http://schemas.microsoft.com/office/drawing/2014/main" id="{A7751103-04CE-4552-8DD0-29E3DCA862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6110" y="1281392"/>
            <a:ext cx="224773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/>
            <a:r>
              <a:rPr lang="ko-KR" altLang="en-US" sz="4800" b="1">
                <a:solidFill>
                  <a:srgbClr val="7030A0"/>
                </a:solidFill>
              </a:rPr>
              <a:t>딥러닝 </a:t>
            </a:r>
            <a:endParaRPr lang="ko-KR" altLang="en-US" sz="4800" b="1">
              <a:solidFill>
                <a:srgbClr val="0070C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B0D86E-DDC0-41BE-B7BB-DEBBACD16BF7}"/>
              </a:ext>
            </a:extLst>
          </p:cNvPr>
          <p:cNvSpPr txBox="1"/>
          <p:nvPr/>
        </p:nvSpPr>
        <p:spPr>
          <a:xfrm>
            <a:off x="2907764" y="2209381"/>
            <a:ext cx="6376472" cy="1569660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ko-KR" altLang="en-US" sz="2400" b="1">
                <a:solidFill>
                  <a:srgbClr val="002060"/>
                </a:solidFill>
                <a:latin typeface="+mn-lt"/>
                <a:ea typeface="+mn-ea"/>
              </a:rPr>
              <a:t>딥러닝 주요 알고리즘</a:t>
            </a:r>
            <a:endParaRPr lang="en-US" altLang="ko-KR" sz="2400" b="1">
              <a:solidFill>
                <a:srgbClr val="002060"/>
              </a:solidFill>
              <a:latin typeface="+mn-lt"/>
              <a:ea typeface="+mn-ea"/>
            </a:endParaRP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ko-KR" altLang="en-US" sz="2400" b="1">
                <a:solidFill>
                  <a:srgbClr val="002060"/>
                </a:solidFill>
                <a:latin typeface="+mn-lt"/>
                <a:ea typeface="+mn-ea"/>
              </a:rPr>
              <a:t>합성곱신경망</a:t>
            </a:r>
            <a:r>
              <a:rPr lang="en-US" altLang="ko-KR" sz="2400" b="1">
                <a:solidFill>
                  <a:srgbClr val="002060"/>
                </a:solidFill>
                <a:latin typeface="+mn-lt"/>
                <a:ea typeface="+mn-ea"/>
              </a:rPr>
              <a:t>(CNN)</a:t>
            </a: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ko-KR" altLang="en-US" sz="2400" b="1">
                <a:solidFill>
                  <a:srgbClr val="002060"/>
                </a:solidFill>
                <a:latin typeface="+mn-lt"/>
                <a:ea typeface="+mn-ea"/>
              </a:rPr>
              <a:t>순환신경망</a:t>
            </a:r>
            <a:r>
              <a:rPr lang="en-US" altLang="ko-KR" sz="2400" b="1">
                <a:solidFill>
                  <a:srgbClr val="002060"/>
                </a:solidFill>
                <a:latin typeface="+mn-lt"/>
                <a:ea typeface="+mn-ea"/>
              </a:rPr>
              <a:t>(RNN,</a:t>
            </a:r>
            <a:r>
              <a:rPr lang="ko-KR" altLang="en-US" sz="2400" b="1">
                <a:solidFill>
                  <a:srgbClr val="002060"/>
                </a:solidFill>
                <a:latin typeface="+mn-lt"/>
                <a:ea typeface="+mn-ea"/>
              </a:rPr>
              <a:t> </a:t>
            </a:r>
            <a:r>
              <a:rPr lang="en-US" altLang="ko-KR" sz="2400" b="1">
                <a:solidFill>
                  <a:srgbClr val="002060"/>
                </a:solidFill>
                <a:latin typeface="+mn-lt"/>
                <a:ea typeface="+mn-ea"/>
              </a:rPr>
              <a:t>LSTM)</a:t>
            </a: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ko-KR" altLang="en-US" sz="2400" b="1">
                <a:solidFill>
                  <a:srgbClr val="002060"/>
                </a:solidFill>
                <a:latin typeface="+mn-lt"/>
                <a:ea typeface="+mn-ea"/>
              </a:rPr>
              <a:t>파이썬 실습</a:t>
            </a:r>
            <a:endParaRPr lang="en-US" altLang="ko-KR" sz="2400" b="1">
              <a:solidFill>
                <a:srgbClr val="002060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E0D474F-64E3-44EA-9488-2DB828828778}"/>
              </a:ext>
            </a:extLst>
          </p:cNvPr>
          <p:cNvSpPr txBox="1"/>
          <p:nvPr/>
        </p:nvSpPr>
        <p:spPr>
          <a:xfrm>
            <a:off x="4141062" y="125502"/>
            <a:ext cx="36695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>
                <a:solidFill>
                  <a:schemeClr val="bg1"/>
                </a:solidFill>
              </a:rPr>
              <a:t>딥러닝 주요 알고리즘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32BBF9-1A45-45F3-8BCF-B18DCE439BD6}"/>
              </a:ext>
            </a:extLst>
          </p:cNvPr>
          <p:cNvSpPr txBox="1"/>
          <p:nvPr/>
        </p:nvSpPr>
        <p:spPr>
          <a:xfrm>
            <a:off x="1255059" y="1156447"/>
            <a:ext cx="7772400" cy="1200329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ko-KR" b="1">
                <a:solidFill>
                  <a:srgbClr val="0070C0"/>
                </a:solidFill>
              </a:rPr>
              <a:t>DNN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b="1">
                <a:solidFill>
                  <a:srgbClr val="0070C0"/>
                </a:solidFill>
              </a:rPr>
              <a:t> Deep Neural Network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b="1">
                <a:solidFill>
                  <a:srgbClr val="0070C0"/>
                </a:solidFill>
              </a:rPr>
              <a:t> </a:t>
            </a:r>
            <a:r>
              <a:rPr lang="ko-KR" altLang="en-US" b="1">
                <a:solidFill>
                  <a:srgbClr val="0070C0"/>
                </a:solidFill>
              </a:rPr>
              <a:t>심층신경망</a:t>
            </a:r>
            <a:endParaRPr lang="en-US" altLang="ko-KR" b="1">
              <a:solidFill>
                <a:srgbClr val="0070C0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b="1">
                <a:solidFill>
                  <a:srgbClr val="0070C0"/>
                </a:solidFill>
              </a:rPr>
              <a:t> </a:t>
            </a:r>
            <a:r>
              <a:rPr lang="ko-KR" altLang="en-US" b="1">
                <a:solidFill>
                  <a:srgbClr val="0070C0"/>
                </a:solidFill>
              </a:rPr>
              <a:t>일반적인 데이터 학습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AE2446-6CFE-43C7-ACC8-33B5349A9A54}"/>
              </a:ext>
            </a:extLst>
          </p:cNvPr>
          <p:cNvSpPr txBox="1"/>
          <p:nvPr/>
        </p:nvSpPr>
        <p:spPr>
          <a:xfrm>
            <a:off x="1255059" y="2505670"/>
            <a:ext cx="7772400" cy="1200329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ko-KR" b="1">
                <a:solidFill>
                  <a:schemeClr val="bg1"/>
                </a:solidFill>
              </a:rPr>
              <a:t>CNN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b="1">
                <a:solidFill>
                  <a:schemeClr val="bg1"/>
                </a:solidFill>
              </a:rPr>
              <a:t> Convolutional Neural Network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b="1">
                <a:solidFill>
                  <a:schemeClr val="bg1"/>
                </a:solidFill>
              </a:rPr>
              <a:t> </a:t>
            </a:r>
            <a:r>
              <a:rPr lang="ko-KR" altLang="en-US" b="1">
                <a:solidFill>
                  <a:schemeClr val="bg1"/>
                </a:solidFill>
              </a:rPr>
              <a:t>합성곱신경망</a:t>
            </a:r>
            <a:endParaRPr lang="en-US" altLang="ko-KR" b="1">
              <a:solidFill>
                <a:schemeClr val="bg1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b="1">
                <a:solidFill>
                  <a:schemeClr val="bg1"/>
                </a:solidFill>
              </a:rPr>
              <a:t> </a:t>
            </a:r>
            <a:r>
              <a:rPr lang="ko-KR" altLang="en-US" b="1">
                <a:solidFill>
                  <a:schemeClr val="bg1"/>
                </a:solidFill>
              </a:rPr>
              <a:t>이미지 학습에 특화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BA2E14-DE51-40E4-8FFF-56F9D3BCC627}"/>
              </a:ext>
            </a:extLst>
          </p:cNvPr>
          <p:cNvSpPr txBox="1"/>
          <p:nvPr/>
        </p:nvSpPr>
        <p:spPr>
          <a:xfrm>
            <a:off x="1255059" y="4029670"/>
            <a:ext cx="7772400" cy="1200329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ko-KR" b="1">
                <a:solidFill>
                  <a:schemeClr val="bg1"/>
                </a:solidFill>
              </a:rPr>
              <a:t>RNN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b="1">
                <a:solidFill>
                  <a:schemeClr val="bg1"/>
                </a:solidFill>
              </a:rPr>
              <a:t> Recurrent Neural Network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b="1">
                <a:solidFill>
                  <a:schemeClr val="bg1"/>
                </a:solidFill>
              </a:rPr>
              <a:t> </a:t>
            </a:r>
            <a:r>
              <a:rPr lang="ko-KR" altLang="en-US" b="1">
                <a:solidFill>
                  <a:schemeClr val="bg1"/>
                </a:solidFill>
              </a:rPr>
              <a:t>순환신경망</a:t>
            </a:r>
            <a:endParaRPr lang="en-US" altLang="ko-KR" b="1">
              <a:solidFill>
                <a:schemeClr val="bg1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b="1">
                <a:solidFill>
                  <a:schemeClr val="bg1"/>
                </a:solidFill>
              </a:rPr>
              <a:t> </a:t>
            </a:r>
            <a:r>
              <a:rPr lang="ko-KR" altLang="en-US" b="1">
                <a:solidFill>
                  <a:schemeClr val="bg1"/>
                </a:solidFill>
              </a:rPr>
              <a:t>언어 문장 등 시계열 데이터에 특화</a:t>
            </a:r>
          </a:p>
        </p:txBody>
      </p:sp>
    </p:spTree>
    <p:extLst>
      <p:ext uri="{BB962C8B-B14F-4D97-AF65-F5344CB8AC3E}">
        <p14:creationId xmlns:p14="http://schemas.microsoft.com/office/powerpoint/2010/main" val="4279617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E570E6-41AE-4DE2-93D2-E8C9DA0B2D7B}"/>
              </a:ext>
            </a:extLst>
          </p:cNvPr>
          <p:cNvSpPr txBox="1"/>
          <p:nvPr/>
        </p:nvSpPr>
        <p:spPr>
          <a:xfrm>
            <a:off x="4491602" y="171424"/>
            <a:ext cx="33778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>
                <a:solidFill>
                  <a:schemeClr val="bg1"/>
                </a:solidFill>
              </a:rPr>
              <a:t>합성곱신경망</a:t>
            </a:r>
            <a:r>
              <a:rPr lang="en-US" altLang="ko-KR" sz="2800" b="1">
                <a:solidFill>
                  <a:schemeClr val="bg1"/>
                </a:solidFill>
              </a:rPr>
              <a:t>(1/13)</a:t>
            </a:r>
            <a:endParaRPr lang="ko-KR" altLang="en-US" sz="2800" b="1">
              <a:solidFill>
                <a:schemeClr val="bg1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BE6A6C2-A0FC-476B-B2F3-DB3DA75E34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246" y="1089640"/>
            <a:ext cx="5145444" cy="17636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277BEFD-E2DA-4B3A-903B-8AC092E9F9A0}"/>
              </a:ext>
            </a:extLst>
          </p:cNvPr>
          <p:cNvSpPr txBox="1"/>
          <p:nvPr/>
        </p:nvSpPr>
        <p:spPr>
          <a:xfrm>
            <a:off x="7053943" y="1567543"/>
            <a:ext cx="2425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이미지 처리에서 성과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09C6741-4149-4F1C-AD33-3B63514D39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5937" y="3457389"/>
            <a:ext cx="7821146" cy="204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328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E570E6-41AE-4DE2-93D2-E8C9DA0B2D7B}"/>
              </a:ext>
            </a:extLst>
          </p:cNvPr>
          <p:cNvSpPr txBox="1"/>
          <p:nvPr/>
        </p:nvSpPr>
        <p:spPr>
          <a:xfrm>
            <a:off x="4526546" y="170326"/>
            <a:ext cx="33778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>
                <a:solidFill>
                  <a:schemeClr val="bg1"/>
                </a:solidFill>
              </a:rPr>
              <a:t>합성곱신경망</a:t>
            </a:r>
            <a:r>
              <a:rPr lang="en-US" altLang="ko-KR" sz="2800" b="1">
                <a:solidFill>
                  <a:schemeClr val="bg1"/>
                </a:solidFill>
              </a:rPr>
              <a:t>(2/13)</a:t>
            </a:r>
            <a:endParaRPr lang="ko-KR" altLang="en-US" sz="2800" b="1">
              <a:solidFill>
                <a:schemeClr val="bg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CF5DFEB-F506-4BAA-BBF9-678D3BBAA2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006" y="1096420"/>
            <a:ext cx="9106678" cy="423253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D9A18B1-F0E7-49BD-AAAC-A4038703F336}"/>
              </a:ext>
            </a:extLst>
          </p:cNvPr>
          <p:cNvSpPr txBox="1"/>
          <p:nvPr/>
        </p:nvSpPr>
        <p:spPr>
          <a:xfrm>
            <a:off x="9927771" y="1520890"/>
            <a:ext cx="16834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4K </a:t>
            </a:r>
            <a:r>
              <a:rPr lang="ko-KR" altLang="en-US"/>
              <a:t>이미지라면</a:t>
            </a:r>
            <a:endParaRPr lang="en-US" altLang="ko-KR"/>
          </a:p>
          <a:p>
            <a:r>
              <a:rPr lang="en-US" altLang="ko-KR"/>
              <a:t>4*1024*8</a:t>
            </a:r>
            <a:r>
              <a:rPr lang="ko-KR" altLang="en-US"/>
              <a:t>비트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843F8E7-6F5D-495F-83D4-3460F5127BEE}"/>
              </a:ext>
            </a:extLst>
          </p:cNvPr>
          <p:cNvSpPr/>
          <p:nvPr/>
        </p:nvSpPr>
        <p:spPr>
          <a:xfrm>
            <a:off x="9769152" y="2565918"/>
            <a:ext cx="1842094" cy="148608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1E653E83-08EA-4BAE-A2F3-CA0D62D092AC}"/>
              </a:ext>
            </a:extLst>
          </p:cNvPr>
          <p:cNvSpPr/>
          <p:nvPr/>
        </p:nvSpPr>
        <p:spPr>
          <a:xfrm>
            <a:off x="9927771" y="2668555"/>
            <a:ext cx="102637" cy="12129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0755F265-873F-4FA2-BAEA-A5A754A1DE12}"/>
              </a:ext>
            </a:extLst>
          </p:cNvPr>
          <p:cNvSpPr/>
          <p:nvPr/>
        </p:nvSpPr>
        <p:spPr>
          <a:xfrm>
            <a:off x="10080171" y="2663066"/>
            <a:ext cx="102637" cy="12129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DD9FB229-1A5F-455B-A726-99654DA916DB}"/>
              </a:ext>
            </a:extLst>
          </p:cNvPr>
          <p:cNvSpPr/>
          <p:nvPr/>
        </p:nvSpPr>
        <p:spPr>
          <a:xfrm>
            <a:off x="10232571" y="2666536"/>
            <a:ext cx="102637" cy="12129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E06A4C-F922-4D9B-AC9E-4F4128251C3E}"/>
              </a:ext>
            </a:extLst>
          </p:cNvPr>
          <p:cNvSpPr txBox="1"/>
          <p:nvPr/>
        </p:nvSpPr>
        <p:spPr>
          <a:xfrm>
            <a:off x="9769151" y="4674637"/>
            <a:ext cx="223484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각 픽셀이 </a:t>
            </a:r>
            <a:r>
              <a:rPr lang="en-US" altLang="ko-KR"/>
              <a:t>feature</a:t>
            </a:r>
            <a:r>
              <a:rPr lang="ko-KR" altLang="en-US"/>
              <a:t>가</a:t>
            </a:r>
            <a:endParaRPr lang="en-US" altLang="ko-KR"/>
          </a:p>
          <a:p>
            <a:r>
              <a:rPr lang="ko-KR" altLang="en-US"/>
              <a:t>되면</a:t>
            </a:r>
            <a:endParaRPr lang="en-US" altLang="ko-KR"/>
          </a:p>
          <a:p>
            <a:r>
              <a:rPr lang="ko-KR" altLang="en-US"/>
              <a:t>입력 데이터가 너무</a:t>
            </a:r>
            <a:endParaRPr lang="en-US" altLang="ko-KR"/>
          </a:p>
          <a:p>
            <a:r>
              <a:rPr lang="ko-KR" altLang="en-US"/>
              <a:t>큼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AAD522-2E1B-4504-BFC9-68B1198CBFCC}"/>
              </a:ext>
            </a:extLst>
          </p:cNvPr>
          <p:cNvSpPr txBox="1"/>
          <p:nvPr/>
        </p:nvSpPr>
        <p:spPr>
          <a:xfrm>
            <a:off x="9817997" y="2212681"/>
            <a:ext cx="17932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>
                <a:solidFill>
                  <a:srgbClr val="7030A0"/>
                </a:solidFill>
              </a:rPr>
              <a:t>pixel</a:t>
            </a:r>
            <a:r>
              <a:rPr lang="ko-KR" altLang="en-US" sz="1400">
                <a:solidFill>
                  <a:srgbClr val="7030A0"/>
                </a:solidFill>
              </a:rPr>
              <a:t>이 </a:t>
            </a:r>
            <a:r>
              <a:rPr lang="en-US" altLang="ko-KR" sz="1400">
                <a:solidFill>
                  <a:srgbClr val="7030A0"/>
                </a:solidFill>
              </a:rPr>
              <a:t>feature</a:t>
            </a:r>
            <a:r>
              <a:rPr lang="ko-KR" altLang="en-US" sz="1400">
                <a:solidFill>
                  <a:srgbClr val="7030A0"/>
                </a:solidFill>
              </a:rPr>
              <a:t>가 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90BC4D-DA85-4FAD-BD03-F2CC64CD3A14}"/>
              </a:ext>
            </a:extLst>
          </p:cNvPr>
          <p:cNvSpPr txBox="1"/>
          <p:nvPr/>
        </p:nvSpPr>
        <p:spPr>
          <a:xfrm>
            <a:off x="6947647" y="4959618"/>
            <a:ext cx="724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rgbClr val="7030A0"/>
                </a:solidFill>
              </a:rPr>
              <a:t>DNN</a:t>
            </a:r>
            <a:endParaRPr lang="ko-KR" altLang="en-US" b="1">
              <a:solidFill>
                <a:srgbClr val="7030A0"/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BA112227-6919-43C9-BF95-14649DE18186}"/>
              </a:ext>
            </a:extLst>
          </p:cNvPr>
          <p:cNvSpPr/>
          <p:nvPr/>
        </p:nvSpPr>
        <p:spPr>
          <a:xfrm>
            <a:off x="9918807" y="2818936"/>
            <a:ext cx="102637" cy="12129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5738543F-F945-432E-8649-BB10097A120B}"/>
              </a:ext>
            </a:extLst>
          </p:cNvPr>
          <p:cNvSpPr/>
          <p:nvPr/>
        </p:nvSpPr>
        <p:spPr>
          <a:xfrm>
            <a:off x="10071207" y="2836862"/>
            <a:ext cx="102637" cy="12129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D0E96E05-8416-4B63-8A10-60AE6B5439C0}"/>
              </a:ext>
            </a:extLst>
          </p:cNvPr>
          <p:cNvSpPr/>
          <p:nvPr/>
        </p:nvSpPr>
        <p:spPr>
          <a:xfrm>
            <a:off x="9918803" y="3007192"/>
            <a:ext cx="102637" cy="12129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95037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E570E6-41AE-4DE2-93D2-E8C9DA0B2D7B}"/>
              </a:ext>
            </a:extLst>
          </p:cNvPr>
          <p:cNvSpPr txBox="1"/>
          <p:nvPr/>
        </p:nvSpPr>
        <p:spPr>
          <a:xfrm>
            <a:off x="4212781" y="126461"/>
            <a:ext cx="33778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>
                <a:solidFill>
                  <a:schemeClr val="bg1"/>
                </a:solidFill>
              </a:rPr>
              <a:t>합성곱신경망</a:t>
            </a:r>
            <a:r>
              <a:rPr lang="en-US" altLang="ko-KR" sz="2800" b="1">
                <a:solidFill>
                  <a:schemeClr val="bg1"/>
                </a:solidFill>
              </a:rPr>
              <a:t>(3/13)</a:t>
            </a:r>
            <a:endParaRPr lang="ko-KR" altLang="en-US" sz="2800" b="1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BE7060-EA92-47B4-9014-82BA08430FCA}"/>
              </a:ext>
            </a:extLst>
          </p:cNvPr>
          <p:cNvSpPr txBox="1"/>
          <p:nvPr/>
        </p:nvSpPr>
        <p:spPr>
          <a:xfrm>
            <a:off x="299893" y="4097380"/>
            <a:ext cx="5696496" cy="120032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rgbClr val="FF0000"/>
                </a:solidFill>
              </a:rPr>
              <a:t>Convolution</a:t>
            </a:r>
            <a:r>
              <a:rPr lang="en-US" altLang="ko-KR" b="1" baseline="-25000">
                <a:solidFill>
                  <a:srgbClr val="FF0000"/>
                </a:solidFill>
              </a:rPr>
              <a:t>1</a:t>
            </a:r>
            <a:r>
              <a:rPr lang="en-US" altLang="ko-KR"/>
              <a:t> : </a:t>
            </a:r>
            <a:r>
              <a:rPr lang="ko-KR" altLang="en-US"/>
              <a:t>합성곱 계산을 통하여 특징맵 생성</a:t>
            </a:r>
            <a:endParaRPr lang="en-US" altLang="ko-KR"/>
          </a:p>
          <a:p>
            <a:r>
              <a:rPr lang="en-US" altLang="ko-KR" b="1">
                <a:solidFill>
                  <a:srgbClr val="00B050"/>
                </a:solidFill>
              </a:rPr>
              <a:t>Pool</a:t>
            </a:r>
            <a:r>
              <a:rPr lang="en-US" altLang="ko-KR" b="1" baseline="-25000">
                <a:solidFill>
                  <a:srgbClr val="00B050"/>
                </a:solidFill>
              </a:rPr>
              <a:t>1</a:t>
            </a:r>
            <a:r>
              <a:rPr lang="en-US" altLang="ko-KR"/>
              <a:t> :           </a:t>
            </a:r>
            <a:r>
              <a:rPr lang="ko-KR" altLang="en-US"/>
              <a:t>데이터 축소</a:t>
            </a:r>
            <a:r>
              <a:rPr lang="en-US" altLang="ko-KR"/>
              <a:t>(</a:t>
            </a:r>
            <a:r>
              <a:rPr lang="ko-KR" altLang="en-US"/>
              <a:t>줄임</a:t>
            </a:r>
            <a:r>
              <a:rPr lang="en-US" altLang="ko-KR"/>
              <a:t>)</a:t>
            </a:r>
          </a:p>
          <a:p>
            <a:r>
              <a:rPr lang="en-US" altLang="ko-KR" b="1">
                <a:solidFill>
                  <a:srgbClr val="FF0000"/>
                </a:solidFill>
              </a:rPr>
              <a:t>Convolution</a:t>
            </a:r>
            <a:r>
              <a:rPr lang="en-US" altLang="ko-KR" b="1" baseline="-25000">
                <a:solidFill>
                  <a:srgbClr val="FF0000"/>
                </a:solidFill>
              </a:rPr>
              <a:t>2</a:t>
            </a:r>
            <a:r>
              <a:rPr lang="en-US" altLang="ko-KR"/>
              <a:t> : </a:t>
            </a:r>
            <a:r>
              <a:rPr lang="ko-KR" altLang="en-US"/>
              <a:t>축소된 데이터에서 다시 특징맵 생성 </a:t>
            </a:r>
            <a:endParaRPr lang="en-US" altLang="ko-KR"/>
          </a:p>
          <a:p>
            <a:r>
              <a:rPr lang="en-US" altLang="ko-KR" b="1">
                <a:solidFill>
                  <a:srgbClr val="00B050"/>
                </a:solidFill>
              </a:rPr>
              <a:t>Pool</a:t>
            </a:r>
            <a:r>
              <a:rPr lang="en-US" altLang="ko-KR" b="1" baseline="-25000">
                <a:solidFill>
                  <a:srgbClr val="00B050"/>
                </a:solidFill>
              </a:rPr>
              <a:t>2</a:t>
            </a:r>
            <a:r>
              <a:rPr lang="en-US" altLang="ko-KR"/>
              <a:t> :           </a:t>
            </a:r>
            <a:r>
              <a:rPr lang="ko-KR" altLang="en-US"/>
              <a:t>데이터 축소</a:t>
            </a:r>
            <a:r>
              <a:rPr lang="en-US" altLang="ko-KR"/>
              <a:t>(</a:t>
            </a:r>
            <a:r>
              <a:rPr lang="ko-KR" altLang="en-US"/>
              <a:t>줄임</a:t>
            </a:r>
            <a:r>
              <a:rPr lang="en-US" altLang="ko-KR"/>
              <a:t>) =&gt; </a:t>
            </a:r>
            <a:r>
              <a:rPr lang="en-US" altLang="ko-KR" b="1">
                <a:solidFill>
                  <a:srgbClr val="7030A0"/>
                </a:solidFill>
              </a:rPr>
              <a:t>DNN</a:t>
            </a:r>
            <a:r>
              <a:rPr lang="ko-KR" altLang="en-US" b="1">
                <a:solidFill>
                  <a:srgbClr val="7030A0"/>
                </a:solidFill>
              </a:rPr>
              <a:t>의 입력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D987D1F-2A32-4A58-AD3E-5193E3D38A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180" y="1003624"/>
            <a:ext cx="10721334" cy="295255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667AB61-3D29-486F-9F5F-1DE7CE172A35}"/>
              </a:ext>
            </a:extLst>
          </p:cNvPr>
          <p:cNvSpPr txBox="1"/>
          <p:nvPr/>
        </p:nvSpPr>
        <p:spPr>
          <a:xfrm>
            <a:off x="9113631" y="862423"/>
            <a:ext cx="10262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>
                <a:solidFill>
                  <a:srgbClr val="7030A0"/>
                </a:solidFill>
              </a:rPr>
              <a:t>DNN</a:t>
            </a:r>
            <a:endParaRPr lang="ko-KR" altLang="en-US" sz="2800" b="1">
              <a:solidFill>
                <a:srgbClr val="7030A0"/>
              </a:solidFill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BEE328C5-6733-4810-A374-8E73DFD83CDB}"/>
              </a:ext>
            </a:extLst>
          </p:cNvPr>
          <p:cNvCxnSpPr/>
          <p:nvPr/>
        </p:nvCxnSpPr>
        <p:spPr>
          <a:xfrm>
            <a:off x="5674659" y="4276165"/>
            <a:ext cx="7799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DBE760A-2AA2-4560-8EEF-1A57F84E4F36}"/>
              </a:ext>
            </a:extLst>
          </p:cNvPr>
          <p:cNvSpPr txBox="1"/>
          <p:nvPr/>
        </p:nvSpPr>
        <p:spPr>
          <a:xfrm>
            <a:off x="6454588" y="4091499"/>
            <a:ext cx="3499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/>
              <a:t>각 </a:t>
            </a:r>
            <a:r>
              <a:rPr lang="en-US" altLang="ko-KR" sz="1600"/>
              <a:t>Feature Map</a:t>
            </a:r>
            <a:r>
              <a:rPr lang="ko-KR" altLang="en-US" sz="1600"/>
              <a:t>마다 특정 패턴 추출</a:t>
            </a: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9EB3A624-99F0-4C2B-B40B-A66440666E9E}"/>
              </a:ext>
            </a:extLst>
          </p:cNvPr>
          <p:cNvCxnSpPr/>
          <p:nvPr/>
        </p:nvCxnSpPr>
        <p:spPr>
          <a:xfrm>
            <a:off x="9954585" y="4260776"/>
            <a:ext cx="7799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B689C16-FCE8-46B5-AC2F-36E80D0384D3}"/>
              </a:ext>
            </a:extLst>
          </p:cNvPr>
          <p:cNvSpPr txBox="1"/>
          <p:nvPr/>
        </p:nvSpPr>
        <p:spPr>
          <a:xfrm>
            <a:off x="7763435" y="4697544"/>
            <a:ext cx="38074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7030A0"/>
                </a:solidFill>
              </a:rPr>
              <a:t>DNN</a:t>
            </a:r>
            <a:r>
              <a:rPr lang="ko-KR" altLang="en-US" sz="1600">
                <a:solidFill>
                  <a:srgbClr val="7030A0"/>
                </a:solidFill>
              </a:rPr>
              <a:t>입력시 다른 특징과 결합되어 입력</a:t>
            </a:r>
          </a:p>
        </p:txBody>
      </p:sp>
    </p:spTree>
    <p:extLst>
      <p:ext uri="{BB962C8B-B14F-4D97-AF65-F5344CB8AC3E}">
        <p14:creationId xmlns:p14="http://schemas.microsoft.com/office/powerpoint/2010/main" val="1249016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E570E6-41AE-4DE2-93D2-E8C9DA0B2D7B}"/>
              </a:ext>
            </a:extLst>
          </p:cNvPr>
          <p:cNvSpPr txBox="1"/>
          <p:nvPr/>
        </p:nvSpPr>
        <p:spPr>
          <a:xfrm>
            <a:off x="4407076" y="161361"/>
            <a:ext cx="33778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>
                <a:solidFill>
                  <a:schemeClr val="bg1"/>
                </a:solidFill>
              </a:rPr>
              <a:t>합성곱신경망</a:t>
            </a:r>
            <a:r>
              <a:rPr lang="en-US" altLang="ko-KR" sz="2800" b="1">
                <a:solidFill>
                  <a:schemeClr val="bg1"/>
                </a:solidFill>
              </a:rPr>
              <a:t>(4/13)</a:t>
            </a:r>
            <a:endParaRPr lang="ko-KR" altLang="en-US" sz="2800" b="1">
              <a:solidFill>
                <a:schemeClr val="bg1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F42966F-F004-4B6E-8820-4A482F6431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1083" y="1159717"/>
            <a:ext cx="8705268" cy="2468897"/>
          </a:xfrm>
          <a:prstGeom prst="rect">
            <a:avLst/>
          </a:prstGeom>
        </p:spPr>
      </p:pic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22B82ADF-1C7C-428D-8AE9-0E266F1A6EC9}"/>
              </a:ext>
            </a:extLst>
          </p:cNvPr>
          <p:cNvCxnSpPr/>
          <p:nvPr/>
        </p:nvCxnSpPr>
        <p:spPr>
          <a:xfrm>
            <a:off x="3146612" y="3565859"/>
            <a:ext cx="151503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44BC58AD-1E3E-4879-AEEB-C00CC0C8D0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3144" y="4103750"/>
            <a:ext cx="7821146" cy="204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432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E570E6-41AE-4DE2-93D2-E8C9DA0B2D7B}"/>
              </a:ext>
            </a:extLst>
          </p:cNvPr>
          <p:cNvSpPr txBox="1"/>
          <p:nvPr/>
        </p:nvSpPr>
        <p:spPr>
          <a:xfrm>
            <a:off x="4669981" y="143432"/>
            <a:ext cx="33778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>
                <a:solidFill>
                  <a:schemeClr val="bg1"/>
                </a:solidFill>
              </a:rPr>
              <a:t>합성곱신경망</a:t>
            </a:r>
            <a:r>
              <a:rPr lang="en-US" altLang="ko-KR" sz="2800" b="1">
                <a:solidFill>
                  <a:schemeClr val="bg1"/>
                </a:solidFill>
              </a:rPr>
              <a:t>(5/13)</a:t>
            </a:r>
            <a:endParaRPr lang="ko-KR" altLang="en-US" sz="2800" b="1">
              <a:solidFill>
                <a:schemeClr val="bg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F607533-8DD9-415F-87DE-621E038DD8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9902" y="1102421"/>
            <a:ext cx="8472196" cy="3504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92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E570E6-41AE-4DE2-93D2-E8C9DA0B2D7B}"/>
              </a:ext>
            </a:extLst>
          </p:cNvPr>
          <p:cNvSpPr txBox="1"/>
          <p:nvPr/>
        </p:nvSpPr>
        <p:spPr>
          <a:xfrm>
            <a:off x="5154075" y="143432"/>
            <a:ext cx="33778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>
                <a:solidFill>
                  <a:schemeClr val="bg1"/>
                </a:solidFill>
              </a:rPr>
              <a:t>합성곱신경망</a:t>
            </a:r>
            <a:r>
              <a:rPr lang="en-US" altLang="ko-KR" sz="2800" b="1">
                <a:solidFill>
                  <a:schemeClr val="bg1"/>
                </a:solidFill>
              </a:rPr>
              <a:t>(6/13)</a:t>
            </a:r>
            <a:endParaRPr lang="ko-KR" altLang="en-US" sz="2800" b="1">
              <a:solidFill>
                <a:schemeClr val="bg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56B0000-41D4-4709-9BC7-16ACBF23FE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441" y="1408430"/>
            <a:ext cx="9377265" cy="34812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2D078B0-ED35-4DD5-AB0B-E6B0BBD239F6}"/>
              </a:ext>
            </a:extLst>
          </p:cNvPr>
          <p:cNvSpPr txBox="1"/>
          <p:nvPr/>
        </p:nvSpPr>
        <p:spPr>
          <a:xfrm>
            <a:off x="1405833" y="5080238"/>
            <a:ext cx="2425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필터를 여러개 사용함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8AEF6D-0554-4E3C-839E-8CE6AEF34B69}"/>
              </a:ext>
            </a:extLst>
          </p:cNvPr>
          <p:cNvSpPr txBox="1"/>
          <p:nvPr/>
        </p:nvSpPr>
        <p:spPr>
          <a:xfrm>
            <a:off x="5360894" y="5080238"/>
            <a:ext cx="38538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랜덤으로 시작하여</a:t>
            </a:r>
            <a:endParaRPr lang="en-US" altLang="ko-KR"/>
          </a:p>
          <a:p>
            <a:r>
              <a:rPr lang="en-US" altLang="ko-KR"/>
              <a:t>Backpropagation</a:t>
            </a:r>
            <a:r>
              <a:rPr lang="ko-KR" altLang="en-US"/>
              <a:t>과 경사하강법을 </a:t>
            </a:r>
            <a:endParaRPr lang="en-US" altLang="ko-KR"/>
          </a:p>
          <a:p>
            <a:r>
              <a:rPr lang="ko-KR" altLang="en-US"/>
              <a:t>통한 반복적 최적화</a:t>
            </a:r>
          </a:p>
        </p:txBody>
      </p:sp>
    </p:spTree>
    <p:extLst>
      <p:ext uri="{BB962C8B-B14F-4D97-AF65-F5344CB8AC3E}">
        <p14:creationId xmlns:p14="http://schemas.microsoft.com/office/powerpoint/2010/main" val="25758174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E570E6-41AE-4DE2-93D2-E8C9DA0B2D7B}"/>
              </a:ext>
            </a:extLst>
          </p:cNvPr>
          <p:cNvSpPr txBox="1"/>
          <p:nvPr/>
        </p:nvSpPr>
        <p:spPr>
          <a:xfrm>
            <a:off x="5154075" y="143432"/>
            <a:ext cx="33778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>
                <a:solidFill>
                  <a:schemeClr val="bg1"/>
                </a:solidFill>
              </a:rPr>
              <a:t>합성곱신경망</a:t>
            </a:r>
            <a:r>
              <a:rPr lang="en-US" altLang="ko-KR" sz="2800" b="1">
                <a:solidFill>
                  <a:schemeClr val="bg1"/>
                </a:solidFill>
              </a:rPr>
              <a:t>(7/13)</a:t>
            </a:r>
            <a:endParaRPr lang="ko-KR" altLang="en-US" sz="2800" b="1">
              <a:solidFill>
                <a:schemeClr val="bg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5E0CD89-CF83-46D9-AB31-5136D2DDC0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710" y="1143953"/>
            <a:ext cx="10204579" cy="34970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D357ABB-E921-4111-BAC3-810AD38F1094}"/>
              </a:ext>
            </a:extLst>
          </p:cNvPr>
          <p:cNvSpPr txBox="1"/>
          <p:nvPr/>
        </p:nvSpPr>
        <p:spPr>
          <a:xfrm>
            <a:off x="5327779" y="192210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solidFill>
                  <a:srgbClr val="7030A0"/>
                </a:solidFill>
              </a:rPr>
              <a:t>합성곱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FB4B3C-FEC7-403E-861B-E8E2A52BCDA6}"/>
              </a:ext>
            </a:extLst>
          </p:cNvPr>
          <p:cNvSpPr txBox="1"/>
          <p:nvPr/>
        </p:nvSpPr>
        <p:spPr>
          <a:xfrm>
            <a:off x="5766360" y="5159829"/>
            <a:ext cx="4495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필터를 </a:t>
            </a:r>
            <a:r>
              <a:rPr lang="en-US" altLang="ko-KR"/>
              <a:t>1</a:t>
            </a:r>
            <a:r>
              <a:rPr lang="ko-KR" altLang="en-US"/>
              <a:t>칸 이동하여 같은 방식으로 계산 </a:t>
            </a:r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543FB689-67BF-4BA9-8B89-37733612A638}"/>
              </a:ext>
            </a:extLst>
          </p:cNvPr>
          <p:cNvSpPr/>
          <p:nvPr/>
        </p:nvSpPr>
        <p:spPr>
          <a:xfrm>
            <a:off x="9211557" y="3331029"/>
            <a:ext cx="477228" cy="1828800"/>
          </a:xfrm>
          <a:custGeom>
            <a:avLst/>
            <a:gdLst>
              <a:gd name="connsiteX0" fmla="*/ 419978 w 477228"/>
              <a:gd name="connsiteY0" fmla="*/ 1828800 h 1828800"/>
              <a:gd name="connsiteX1" fmla="*/ 9431 w 477228"/>
              <a:gd name="connsiteY1" fmla="*/ 1418253 h 1828800"/>
              <a:gd name="connsiteX2" fmla="*/ 18762 w 477228"/>
              <a:gd name="connsiteY2" fmla="*/ 1306286 h 1828800"/>
              <a:gd name="connsiteX3" fmla="*/ 37423 w 477228"/>
              <a:gd name="connsiteY3" fmla="*/ 1278294 h 1828800"/>
              <a:gd name="connsiteX4" fmla="*/ 93406 w 477228"/>
              <a:gd name="connsiteY4" fmla="*/ 1240972 h 1828800"/>
              <a:gd name="connsiteX5" fmla="*/ 121398 w 477228"/>
              <a:gd name="connsiteY5" fmla="*/ 1212980 h 1828800"/>
              <a:gd name="connsiteX6" fmla="*/ 149390 w 477228"/>
              <a:gd name="connsiteY6" fmla="*/ 1203649 h 1828800"/>
              <a:gd name="connsiteX7" fmla="*/ 205374 w 477228"/>
              <a:gd name="connsiteY7" fmla="*/ 1166327 h 1828800"/>
              <a:gd name="connsiteX8" fmla="*/ 233366 w 477228"/>
              <a:gd name="connsiteY8" fmla="*/ 1147666 h 1828800"/>
              <a:gd name="connsiteX9" fmla="*/ 252027 w 477228"/>
              <a:gd name="connsiteY9" fmla="*/ 1129004 h 1828800"/>
              <a:gd name="connsiteX10" fmla="*/ 280019 w 477228"/>
              <a:gd name="connsiteY10" fmla="*/ 1119674 h 1828800"/>
              <a:gd name="connsiteX11" fmla="*/ 373325 w 477228"/>
              <a:gd name="connsiteY11" fmla="*/ 1054360 h 1828800"/>
              <a:gd name="connsiteX12" fmla="*/ 438639 w 477228"/>
              <a:gd name="connsiteY12" fmla="*/ 1026368 h 1828800"/>
              <a:gd name="connsiteX13" fmla="*/ 457300 w 477228"/>
              <a:gd name="connsiteY13" fmla="*/ 998376 h 1828800"/>
              <a:gd name="connsiteX14" fmla="*/ 475962 w 477228"/>
              <a:gd name="connsiteY14" fmla="*/ 979715 h 1828800"/>
              <a:gd name="connsiteX15" fmla="*/ 466631 w 477228"/>
              <a:gd name="connsiteY15" fmla="*/ 802433 h 1828800"/>
              <a:gd name="connsiteX16" fmla="*/ 429309 w 477228"/>
              <a:gd name="connsiteY16" fmla="*/ 727788 h 1828800"/>
              <a:gd name="connsiteX17" fmla="*/ 401317 w 477228"/>
              <a:gd name="connsiteY17" fmla="*/ 662474 h 1828800"/>
              <a:gd name="connsiteX18" fmla="*/ 373325 w 477228"/>
              <a:gd name="connsiteY18" fmla="*/ 597160 h 1828800"/>
              <a:gd name="connsiteX19" fmla="*/ 363994 w 477228"/>
              <a:gd name="connsiteY19" fmla="*/ 550507 h 1828800"/>
              <a:gd name="connsiteX20" fmla="*/ 345333 w 477228"/>
              <a:gd name="connsiteY20" fmla="*/ 494523 h 1828800"/>
              <a:gd name="connsiteX21" fmla="*/ 354664 w 477228"/>
              <a:gd name="connsiteY21" fmla="*/ 307911 h 1828800"/>
              <a:gd name="connsiteX22" fmla="*/ 373325 w 477228"/>
              <a:gd name="connsiteY22" fmla="*/ 261258 h 1828800"/>
              <a:gd name="connsiteX23" fmla="*/ 382655 w 477228"/>
              <a:gd name="connsiteY23" fmla="*/ 149290 h 1828800"/>
              <a:gd name="connsiteX24" fmla="*/ 391986 w 477228"/>
              <a:gd name="connsiteY24" fmla="*/ 55984 h 1828800"/>
              <a:gd name="connsiteX25" fmla="*/ 401317 w 477228"/>
              <a:gd name="connsiteY25" fmla="*/ 0 h 18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77228" h="1828800">
                <a:moveTo>
                  <a:pt x="419978" y="1828800"/>
                </a:moveTo>
                <a:cubicBezTo>
                  <a:pt x="283129" y="1691951"/>
                  <a:pt x="127298" y="1571754"/>
                  <a:pt x="9431" y="1418253"/>
                </a:cubicBezTo>
                <a:cubicBezTo>
                  <a:pt x="-13378" y="1388548"/>
                  <a:pt x="11417" y="1343010"/>
                  <a:pt x="18762" y="1306286"/>
                </a:cubicBezTo>
                <a:cubicBezTo>
                  <a:pt x="20961" y="1295290"/>
                  <a:pt x="28984" y="1285679"/>
                  <a:pt x="37423" y="1278294"/>
                </a:cubicBezTo>
                <a:cubicBezTo>
                  <a:pt x="54302" y="1263525"/>
                  <a:pt x="77547" y="1256831"/>
                  <a:pt x="93406" y="1240972"/>
                </a:cubicBezTo>
                <a:cubicBezTo>
                  <a:pt x="102737" y="1231641"/>
                  <a:pt x="110419" y="1220300"/>
                  <a:pt x="121398" y="1212980"/>
                </a:cubicBezTo>
                <a:cubicBezTo>
                  <a:pt x="129582" y="1207524"/>
                  <a:pt x="140059" y="1206759"/>
                  <a:pt x="149390" y="1203649"/>
                </a:cubicBezTo>
                <a:cubicBezTo>
                  <a:pt x="202453" y="1150588"/>
                  <a:pt x="151360" y="1193334"/>
                  <a:pt x="205374" y="1166327"/>
                </a:cubicBezTo>
                <a:cubicBezTo>
                  <a:pt x="215404" y="1161312"/>
                  <a:pt x="224609" y="1154671"/>
                  <a:pt x="233366" y="1147666"/>
                </a:cubicBezTo>
                <a:cubicBezTo>
                  <a:pt x="240235" y="1142170"/>
                  <a:pt x="244484" y="1133530"/>
                  <a:pt x="252027" y="1129004"/>
                </a:cubicBezTo>
                <a:cubicBezTo>
                  <a:pt x="260461" y="1123944"/>
                  <a:pt x="270688" y="1122784"/>
                  <a:pt x="280019" y="1119674"/>
                </a:cubicBezTo>
                <a:cubicBezTo>
                  <a:pt x="297055" y="1106897"/>
                  <a:pt x="359536" y="1058956"/>
                  <a:pt x="373325" y="1054360"/>
                </a:cubicBezTo>
                <a:cubicBezTo>
                  <a:pt x="414512" y="1040630"/>
                  <a:pt x="392520" y="1049428"/>
                  <a:pt x="438639" y="1026368"/>
                </a:cubicBezTo>
                <a:cubicBezTo>
                  <a:pt x="444859" y="1017037"/>
                  <a:pt x="450295" y="1007133"/>
                  <a:pt x="457300" y="998376"/>
                </a:cubicBezTo>
                <a:cubicBezTo>
                  <a:pt x="462796" y="991507"/>
                  <a:pt x="475544" y="988502"/>
                  <a:pt x="475962" y="979715"/>
                </a:cubicBezTo>
                <a:cubicBezTo>
                  <a:pt x="478777" y="920606"/>
                  <a:pt x="477406" y="860620"/>
                  <a:pt x="466631" y="802433"/>
                </a:cubicBezTo>
                <a:cubicBezTo>
                  <a:pt x="461566" y="775080"/>
                  <a:pt x="436056" y="754776"/>
                  <a:pt x="429309" y="727788"/>
                </a:cubicBezTo>
                <a:cubicBezTo>
                  <a:pt x="413983" y="666489"/>
                  <a:pt x="429955" y="712590"/>
                  <a:pt x="401317" y="662474"/>
                </a:cubicBezTo>
                <a:cubicBezTo>
                  <a:pt x="389447" y="641701"/>
                  <a:pt x="379141" y="620425"/>
                  <a:pt x="373325" y="597160"/>
                </a:cubicBezTo>
                <a:cubicBezTo>
                  <a:pt x="369479" y="581775"/>
                  <a:pt x="368167" y="565807"/>
                  <a:pt x="363994" y="550507"/>
                </a:cubicBezTo>
                <a:cubicBezTo>
                  <a:pt x="358818" y="531529"/>
                  <a:pt x="345333" y="494523"/>
                  <a:pt x="345333" y="494523"/>
                </a:cubicBezTo>
                <a:cubicBezTo>
                  <a:pt x="348443" y="432319"/>
                  <a:pt x="347243" y="369749"/>
                  <a:pt x="354664" y="307911"/>
                </a:cubicBezTo>
                <a:cubicBezTo>
                  <a:pt x="356660" y="291281"/>
                  <a:pt x="370414" y="277752"/>
                  <a:pt x="373325" y="261258"/>
                </a:cubicBezTo>
                <a:cubicBezTo>
                  <a:pt x="379833" y="224376"/>
                  <a:pt x="379264" y="186588"/>
                  <a:pt x="382655" y="149290"/>
                </a:cubicBezTo>
                <a:cubicBezTo>
                  <a:pt x="385485" y="118161"/>
                  <a:pt x="387233" y="86878"/>
                  <a:pt x="391986" y="55984"/>
                </a:cubicBezTo>
                <a:cubicBezTo>
                  <a:pt x="404268" y="-23844"/>
                  <a:pt x="401317" y="78605"/>
                  <a:pt x="401317" y="0"/>
                </a:cubicBezTo>
              </a:path>
            </a:pathLst>
          </a:custGeom>
          <a:noFill/>
          <a:ln w="28575">
            <a:prstDash val="dash"/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AA82D0-D676-47C5-A6A9-16C14EF35676}"/>
              </a:ext>
            </a:extLst>
          </p:cNvPr>
          <p:cNvSpPr txBox="1"/>
          <p:nvPr/>
        </p:nvSpPr>
        <p:spPr>
          <a:xfrm>
            <a:off x="5749656" y="5538737"/>
            <a:ext cx="4440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Input </a:t>
            </a:r>
            <a:r>
              <a:rPr lang="ko-KR" altLang="en-US"/>
              <a:t>데이터 크기</a:t>
            </a:r>
            <a:r>
              <a:rPr lang="en-US" altLang="ko-KR"/>
              <a:t>(4*4)</a:t>
            </a:r>
            <a:r>
              <a:rPr lang="ko-KR" altLang="en-US"/>
              <a:t>가 </a:t>
            </a:r>
            <a:r>
              <a:rPr lang="en-US" altLang="ko-KR"/>
              <a:t>3*3</a:t>
            </a:r>
            <a:r>
              <a:rPr lang="ko-KR" altLang="en-US"/>
              <a:t>으로 줄어듦</a:t>
            </a:r>
          </a:p>
        </p:txBody>
      </p:sp>
    </p:spTree>
    <p:extLst>
      <p:ext uri="{BB962C8B-B14F-4D97-AF65-F5344CB8AC3E}">
        <p14:creationId xmlns:p14="http://schemas.microsoft.com/office/powerpoint/2010/main" val="3981356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E570E6-41AE-4DE2-93D2-E8C9DA0B2D7B}"/>
              </a:ext>
            </a:extLst>
          </p:cNvPr>
          <p:cNvSpPr txBox="1"/>
          <p:nvPr/>
        </p:nvSpPr>
        <p:spPr>
          <a:xfrm>
            <a:off x="4407076" y="125503"/>
            <a:ext cx="33778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>
                <a:solidFill>
                  <a:schemeClr val="bg1"/>
                </a:solidFill>
              </a:rPr>
              <a:t>합성곱신경망</a:t>
            </a:r>
            <a:r>
              <a:rPr lang="en-US" altLang="ko-KR" sz="2800" b="1">
                <a:solidFill>
                  <a:schemeClr val="bg1"/>
                </a:solidFill>
              </a:rPr>
              <a:t>(8/13)</a:t>
            </a:r>
            <a:endParaRPr lang="ko-KR" altLang="en-US" sz="2800" b="1">
              <a:solidFill>
                <a:schemeClr val="bg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D4547B3-3D3F-47B1-9844-2B946D128A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0236" y="1061753"/>
            <a:ext cx="8070883" cy="4031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2530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E570E6-41AE-4DE2-93D2-E8C9DA0B2D7B}"/>
              </a:ext>
            </a:extLst>
          </p:cNvPr>
          <p:cNvSpPr txBox="1"/>
          <p:nvPr/>
        </p:nvSpPr>
        <p:spPr>
          <a:xfrm>
            <a:off x="5154075" y="143432"/>
            <a:ext cx="33778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>
                <a:solidFill>
                  <a:schemeClr val="bg1"/>
                </a:solidFill>
              </a:rPr>
              <a:t>합성곱신경망</a:t>
            </a:r>
            <a:r>
              <a:rPr lang="en-US" altLang="ko-KR" sz="2800" b="1">
                <a:solidFill>
                  <a:schemeClr val="bg1"/>
                </a:solidFill>
              </a:rPr>
              <a:t>(9/13)</a:t>
            </a:r>
            <a:endParaRPr lang="ko-KR" altLang="en-US" sz="2800" b="1">
              <a:solidFill>
                <a:schemeClr val="bg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B4DA63C-0C6B-4F47-BEEA-22C9DCCCF5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353" y="999882"/>
            <a:ext cx="5071817" cy="455965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1973F17-7AD6-478E-AE2F-135007C51963}"/>
              </a:ext>
            </a:extLst>
          </p:cNvPr>
          <p:cNvSpPr txBox="1"/>
          <p:nvPr/>
        </p:nvSpPr>
        <p:spPr>
          <a:xfrm>
            <a:off x="5661765" y="1520890"/>
            <a:ext cx="652935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/>
              <a:t>특징맵은 데이터량을 줄이는 목적이 아니라</a:t>
            </a:r>
            <a:r>
              <a:rPr lang="en-US" altLang="ko-KR" sz="2000"/>
              <a:t>,</a:t>
            </a:r>
          </a:p>
          <a:p>
            <a:r>
              <a:rPr lang="ko-KR" altLang="en-US" sz="2000"/>
              <a:t>    </a:t>
            </a:r>
            <a:r>
              <a:rPr lang="ko-KR" altLang="en-US" sz="2000" b="1">
                <a:solidFill>
                  <a:srgbClr val="7030A0"/>
                </a:solidFill>
              </a:rPr>
              <a:t>중요한 특징만을 포함하는 데이터로 가공</a:t>
            </a:r>
            <a:endParaRPr lang="en-US" altLang="ko-KR" sz="2000" b="1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/>
              <a:t> </a:t>
            </a:r>
            <a:r>
              <a:rPr lang="ko-KR" altLang="en-US" sz="2000" b="1"/>
              <a:t>패딩을 하지 않으면 가장자리 정보 소실</a:t>
            </a:r>
            <a:endParaRPr lang="en-US" altLang="ko-KR" sz="2000" b="1"/>
          </a:p>
          <a:p>
            <a:r>
              <a:rPr lang="en-US" altLang="ko-KR" sz="2000" b="1"/>
              <a:t>     =&gt; </a:t>
            </a:r>
            <a:r>
              <a:rPr lang="ko-KR" altLang="en-US" sz="2000" b="1"/>
              <a:t>사람얼굴 이미지에서 입 주변이 이상하게 출력</a:t>
            </a:r>
            <a:r>
              <a:rPr lang="en-US" altLang="ko-KR" sz="2000" b="1"/>
              <a:t>?</a:t>
            </a:r>
            <a:endParaRPr lang="ko-KR" altLang="en-US" sz="2000" b="1"/>
          </a:p>
        </p:txBody>
      </p:sp>
    </p:spTree>
    <p:extLst>
      <p:ext uri="{BB962C8B-B14F-4D97-AF65-F5344CB8AC3E}">
        <p14:creationId xmlns:p14="http://schemas.microsoft.com/office/powerpoint/2010/main" val="17872726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E570E6-41AE-4DE2-93D2-E8C9DA0B2D7B}"/>
              </a:ext>
            </a:extLst>
          </p:cNvPr>
          <p:cNvSpPr txBox="1"/>
          <p:nvPr/>
        </p:nvSpPr>
        <p:spPr>
          <a:xfrm>
            <a:off x="4454828" y="170326"/>
            <a:ext cx="35862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>
                <a:solidFill>
                  <a:schemeClr val="bg1"/>
                </a:solidFill>
              </a:rPr>
              <a:t>합성곱신경망</a:t>
            </a:r>
            <a:r>
              <a:rPr lang="en-US" altLang="ko-KR" sz="2800" b="1">
                <a:solidFill>
                  <a:schemeClr val="bg1"/>
                </a:solidFill>
              </a:rPr>
              <a:t>(10/13)</a:t>
            </a:r>
            <a:endParaRPr lang="ko-KR" altLang="en-US" sz="2800" b="1">
              <a:solidFill>
                <a:schemeClr val="bg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7124293-1500-4796-81B0-666AA40B20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292" y="1190929"/>
            <a:ext cx="7706308" cy="3990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1245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E570E6-41AE-4DE2-93D2-E8C9DA0B2D7B}"/>
              </a:ext>
            </a:extLst>
          </p:cNvPr>
          <p:cNvSpPr txBox="1"/>
          <p:nvPr/>
        </p:nvSpPr>
        <p:spPr>
          <a:xfrm>
            <a:off x="4302881" y="134467"/>
            <a:ext cx="35862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>
                <a:solidFill>
                  <a:schemeClr val="bg1"/>
                </a:solidFill>
              </a:rPr>
              <a:t>합성곱신경망</a:t>
            </a:r>
            <a:r>
              <a:rPr lang="en-US" altLang="ko-KR" sz="2800" b="1">
                <a:solidFill>
                  <a:schemeClr val="bg1"/>
                </a:solidFill>
              </a:rPr>
              <a:t>(11/13)</a:t>
            </a:r>
            <a:endParaRPr lang="ko-KR" altLang="en-US" sz="2800" b="1">
              <a:solidFill>
                <a:schemeClr val="bg1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221257B-612B-46CE-8425-3692D8672C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433" y="900822"/>
            <a:ext cx="9610531" cy="382605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A815F66-DAEE-4831-AA27-1DE0280FF55A}"/>
              </a:ext>
            </a:extLst>
          </p:cNvPr>
          <p:cNvSpPr txBox="1"/>
          <p:nvPr/>
        </p:nvSpPr>
        <p:spPr>
          <a:xfrm>
            <a:off x="6096000" y="4726877"/>
            <a:ext cx="24180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Pooling </a:t>
            </a:r>
            <a:r>
              <a:rPr lang="ko-KR" altLang="en-US"/>
              <a:t>결과 </a:t>
            </a:r>
            <a:r>
              <a:rPr lang="en-US" altLang="ko-KR"/>
              <a:t>: </a:t>
            </a:r>
            <a:r>
              <a:rPr lang="ko-KR" altLang="en-US"/>
              <a:t>축소본</a:t>
            </a:r>
            <a:endParaRPr lang="en-US" altLang="ko-KR"/>
          </a:p>
          <a:p>
            <a:r>
              <a:rPr lang="en-US" altLang="ko-KR"/>
              <a:t>4*4 =&gt; 2*2</a:t>
            </a:r>
          </a:p>
          <a:p>
            <a:r>
              <a:rPr lang="ko-KR" altLang="en-US"/>
              <a:t>빠른 처리 목적</a:t>
            </a:r>
          </a:p>
        </p:txBody>
      </p:sp>
    </p:spTree>
    <p:extLst>
      <p:ext uri="{BB962C8B-B14F-4D97-AF65-F5344CB8AC3E}">
        <p14:creationId xmlns:p14="http://schemas.microsoft.com/office/powerpoint/2010/main" val="15788434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E570E6-41AE-4DE2-93D2-E8C9DA0B2D7B}"/>
              </a:ext>
            </a:extLst>
          </p:cNvPr>
          <p:cNvSpPr txBox="1"/>
          <p:nvPr/>
        </p:nvSpPr>
        <p:spPr>
          <a:xfrm>
            <a:off x="4087276" y="183505"/>
            <a:ext cx="35862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>
                <a:solidFill>
                  <a:schemeClr val="bg1"/>
                </a:solidFill>
              </a:rPr>
              <a:t>합성곱신경망</a:t>
            </a:r>
            <a:r>
              <a:rPr lang="en-US" altLang="ko-KR" sz="2800" b="1">
                <a:solidFill>
                  <a:schemeClr val="bg1"/>
                </a:solidFill>
              </a:rPr>
              <a:t>(12/13)</a:t>
            </a:r>
            <a:endParaRPr lang="ko-KR" altLang="en-US" sz="2800" b="1">
              <a:solidFill>
                <a:schemeClr val="bg1"/>
              </a:solidFill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E98C124-C03F-4F9C-BDF2-01139BF33B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941" y="1027580"/>
            <a:ext cx="1966565" cy="47223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DFB6CC5-575A-4394-B6C5-268FEA43BF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427" y="1804067"/>
            <a:ext cx="10623737" cy="377355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E3D9375-AA32-4369-BC04-23AFCF41893D}"/>
              </a:ext>
            </a:extLst>
          </p:cNvPr>
          <p:cNvSpPr txBox="1"/>
          <p:nvPr/>
        </p:nvSpPr>
        <p:spPr>
          <a:xfrm>
            <a:off x="846172" y="5307200"/>
            <a:ext cx="1164101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/>
              <a:t>12</a:t>
            </a:r>
            <a:r>
              <a:rPr lang="ko-KR" altLang="en-US" sz="1400"/>
              <a:t>개 특징맵</a:t>
            </a:r>
            <a:endParaRPr lang="en-US" altLang="ko-KR" sz="1400"/>
          </a:p>
          <a:p>
            <a:pPr algn="ctr"/>
            <a:r>
              <a:rPr lang="en-US" altLang="ko-KR" sz="1400"/>
              <a:t>5*5 </a:t>
            </a:r>
            <a:r>
              <a:rPr lang="ko-KR" altLang="en-US" sz="1400"/>
              <a:t>필터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348CEA-4F7E-4045-9765-2B935D954EB1}"/>
              </a:ext>
            </a:extLst>
          </p:cNvPr>
          <p:cNvSpPr txBox="1"/>
          <p:nvPr/>
        </p:nvSpPr>
        <p:spPr>
          <a:xfrm>
            <a:off x="3634195" y="5620261"/>
            <a:ext cx="1164101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/>
              <a:t>16</a:t>
            </a:r>
            <a:r>
              <a:rPr lang="ko-KR" altLang="en-US" sz="1400"/>
              <a:t>개 특징맵</a:t>
            </a:r>
            <a:endParaRPr lang="en-US" altLang="ko-KR" sz="1400"/>
          </a:p>
          <a:p>
            <a:pPr algn="ctr"/>
            <a:r>
              <a:rPr lang="en-US" altLang="ko-KR" sz="1400"/>
              <a:t>5*5 </a:t>
            </a:r>
            <a:r>
              <a:rPr lang="ko-KR" altLang="en-US" sz="1400"/>
              <a:t>필터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194B60-DEE1-46A9-A026-3677CA7D63E3}"/>
              </a:ext>
            </a:extLst>
          </p:cNvPr>
          <p:cNvSpPr txBox="1"/>
          <p:nvPr/>
        </p:nvSpPr>
        <p:spPr>
          <a:xfrm>
            <a:off x="2124641" y="5666427"/>
            <a:ext cx="1412566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/>
              <a:t>poolong window</a:t>
            </a:r>
            <a:r>
              <a:rPr lang="ko-KR" altLang="en-US" sz="1100"/>
              <a:t>는</a:t>
            </a:r>
            <a:endParaRPr lang="en-US" altLang="ko-KR" sz="1100"/>
          </a:p>
          <a:p>
            <a:pPr algn="ctr"/>
            <a:r>
              <a:rPr lang="ko-KR" altLang="en-US" sz="1100"/>
              <a:t> </a:t>
            </a:r>
            <a:r>
              <a:rPr lang="en-US" altLang="ko-KR" sz="1100"/>
              <a:t>2*2</a:t>
            </a:r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17051330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E570E6-41AE-4DE2-93D2-E8C9DA0B2D7B}"/>
              </a:ext>
            </a:extLst>
          </p:cNvPr>
          <p:cNvSpPr txBox="1"/>
          <p:nvPr/>
        </p:nvSpPr>
        <p:spPr>
          <a:xfrm>
            <a:off x="4302881" y="166693"/>
            <a:ext cx="35862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>
                <a:solidFill>
                  <a:schemeClr val="bg1"/>
                </a:solidFill>
              </a:rPr>
              <a:t>합성곱신경망</a:t>
            </a:r>
            <a:r>
              <a:rPr lang="en-US" altLang="ko-KR" sz="2800" b="1">
                <a:solidFill>
                  <a:schemeClr val="bg1"/>
                </a:solidFill>
              </a:rPr>
              <a:t>(13/13)</a:t>
            </a:r>
            <a:endParaRPr lang="ko-KR" altLang="en-US" sz="2800" b="1">
              <a:solidFill>
                <a:schemeClr val="bg1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63A652A-7374-435D-B5C9-A3AA751A5B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2400" y="1913965"/>
            <a:ext cx="12039600" cy="411175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E51874F-7FC4-4487-99A6-57FCC260A7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469" y="1442151"/>
            <a:ext cx="1642267" cy="4243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42546D3-7412-46B3-981A-86C4DB64254A}"/>
              </a:ext>
            </a:extLst>
          </p:cNvPr>
          <p:cNvSpPr txBox="1"/>
          <p:nvPr/>
        </p:nvSpPr>
        <p:spPr>
          <a:xfrm>
            <a:off x="2968056" y="1596039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/>
              <a:t>필터크기</a:t>
            </a:r>
          </a:p>
        </p:txBody>
      </p: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84A9FB4E-A156-4599-BF8D-17A0C07D7FC4}"/>
              </a:ext>
            </a:extLst>
          </p:cNvPr>
          <p:cNvSpPr/>
          <p:nvPr/>
        </p:nvSpPr>
        <p:spPr>
          <a:xfrm>
            <a:off x="2843762" y="1782901"/>
            <a:ext cx="350542" cy="493776"/>
          </a:xfrm>
          <a:custGeom>
            <a:avLst/>
            <a:gdLst>
              <a:gd name="connsiteX0" fmla="*/ 350542 w 350542"/>
              <a:gd name="connsiteY0" fmla="*/ 36576 h 493776"/>
              <a:gd name="connsiteX1" fmla="*/ 240814 w 350542"/>
              <a:gd name="connsiteY1" fmla="*/ 27432 h 493776"/>
              <a:gd name="connsiteX2" fmla="*/ 94510 w 350542"/>
              <a:gd name="connsiteY2" fmla="*/ 9144 h 493776"/>
              <a:gd name="connsiteX3" fmla="*/ 67078 w 350542"/>
              <a:gd name="connsiteY3" fmla="*/ 0 h 493776"/>
              <a:gd name="connsiteX4" fmla="*/ 12214 w 350542"/>
              <a:gd name="connsiteY4" fmla="*/ 36576 h 493776"/>
              <a:gd name="connsiteX5" fmla="*/ 39646 w 350542"/>
              <a:gd name="connsiteY5" fmla="*/ 45720 h 493776"/>
              <a:gd name="connsiteX6" fmla="*/ 85366 w 350542"/>
              <a:gd name="connsiteY6" fmla="*/ 54864 h 493776"/>
              <a:gd name="connsiteX7" fmla="*/ 140230 w 350542"/>
              <a:gd name="connsiteY7" fmla="*/ 73152 h 493776"/>
              <a:gd name="connsiteX8" fmla="*/ 158518 w 350542"/>
              <a:gd name="connsiteY8" fmla="*/ 100584 h 493776"/>
              <a:gd name="connsiteX9" fmla="*/ 131086 w 350542"/>
              <a:gd name="connsiteY9" fmla="*/ 128016 h 493776"/>
              <a:gd name="connsiteX10" fmla="*/ 76222 w 350542"/>
              <a:gd name="connsiteY10" fmla="*/ 137160 h 493776"/>
              <a:gd name="connsiteX11" fmla="*/ 30502 w 350542"/>
              <a:gd name="connsiteY11" fmla="*/ 146304 h 493776"/>
              <a:gd name="connsiteX12" fmla="*/ 12214 w 350542"/>
              <a:gd name="connsiteY12" fmla="*/ 173736 h 493776"/>
              <a:gd name="connsiteX13" fmla="*/ 39646 w 350542"/>
              <a:gd name="connsiteY13" fmla="*/ 192024 h 493776"/>
              <a:gd name="connsiteX14" fmla="*/ 121942 w 350542"/>
              <a:gd name="connsiteY14" fmla="*/ 219456 h 493776"/>
              <a:gd name="connsiteX15" fmla="*/ 176806 w 350542"/>
              <a:gd name="connsiteY15" fmla="*/ 237744 h 493776"/>
              <a:gd name="connsiteX16" fmla="*/ 185950 w 350542"/>
              <a:gd name="connsiteY16" fmla="*/ 265176 h 493776"/>
              <a:gd name="connsiteX17" fmla="*/ 176806 w 350542"/>
              <a:gd name="connsiteY17" fmla="*/ 301752 h 493776"/>
              <a:gd name="connsiteX18" fmla="*/ 131086 w 350542"/>
              <a:gd name="connsiteY18" fmla="*/ 384048 h 493776"/>
              <a:gd name="connsiteX19" fmla="*/ 112798 w 350542"/>
              <a:gd name="connsiteY19" fmla="*/ 438912 h 493776"/>
              <a:gd name="connsiteX20" fmla="*/ 103654 w 350542"/>
              <a:gd name="connsiteY20" fmla="*/ 466344 h 493776"/>
              <a:gd name="connsiteX21" fmla="*/ 85366 w 350542"/>
              <a:gd name="connsiteY21" fmla="*/ 493776 h 493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350542" h="493776">
                <a:moveTo>
                  <a:pt x="350542" y="36576"/>
                </a:moveTo>
                <a:lnTo>
                  <a:pt x="240814" y="27432"/>
                </a:lnTo>
                <a:cubicBezTo>
                  <a:pt x="198004" y="23540"/>
                  <a:pt x="138990" y="19028"/>
                  <a:pt x="94510" y="9144"/>
                </a:cubicBezTo>
                <a:cubicBezTo>
                  <a:pt x="85101" y="7053"/>
                  <a:pt x="76222" y="3048"/>
                  <a:pt x="67078" y="0"/>
                </a:cubicBezTo>
                <a:cubicBezTo>
                  <a:pt x="55980" y="1585"/>
                  <a:pt x="-31675" y="-7313"/>
                  <a:pt x="12214" y="36576"/>
                </a:cubicBezTo>
                <a:cubicBezTo>
                  <a:pt x="19030" y="43392"/>
                  <a:pt x="30295" y="43382"/>
                  <a:pt x="39646" y="45720"/>
                </a:cubicBezTo>
                <a:cubicBezTo>
                  <a:pt x="54724" y="49489"/>
                  <a:pt x="70372" y="50775"/>
                  <a:pt x="85366" y="54864"/>
                </a:cubicBezTo>
                <a:cubicBezTo>
                  <a:pt x="103964" y="59936"/>
                  <a:pt x="140230" y="73152"/>
                  <a:pt x="140230" y="73152"/>
                </a:cubicBezTo>
                <a:cubicBezTo>
                  <a:pt x="146326" y="82296"/>
                  <a:pt x="160325" y="89744"/>
                  <a:pt x="158518" y="100584"/>
                </a:cubicBezTo>
                <a:cubicBezTo>
                  <a:pt x="156392" y="113340"/>
                  <a:pt x="142903" y="122764"/>
                  <a:pt x="131086" y="128016"/>
                </a:cubicBezTo>
                <a:cubicBezTo>
                  <a:pt x="114144" y="135546"/>
                  <a:pt x="94463" y="133843"/>
                  <a:pt x="76222" y="137160"/>
                </a:cubicBezTo>
                <a:cubicBezTo>
                  <a:pt x="60931" y="139940"/>
                  <a:pt x="45742" y="143256"/>
                  <a:pt x="30502" y="146304"/>
                </a:cubicBezTo>
                <a:cubicBezTo>
                  <a:pt x="24406" y="155448"/>
                  <a:pt x="10059" y="162960"/>
                  <a:pt x="12214" y="173736"/>
                </a:cubicBezTo>
                <a:cubicBezTo>
                  <a:pt x="14369" y="184512"/>
                  <a:pt x="29816" y="187109"/>
                  <a:pt x="39646" y="192024"/>
                </a:cubicBezTo>
                <a:cubicBezTo>
                  <a:pt x="85483" y="214942"/>
                  <a:pt x="78287" y="206359"/>
                  <a:pt x="121942" y="219456"/>
                </a:cubicBezTo>
                <a:cubicBezTo>
                  <a:pt x="140406" y="224995"/>
                  <a:pt x="176806" y="237744"/>
                  <a:pt x="176806" y="237744"/>
                </a:cubicBezTo>
                <a:cubicBezTo>
                  <a:pt x="179854" y="246888"/>
                  <a:pt x="185950" y="255537"/>
                  <a:pt x="185950" y="265176"/>
                </a:cubicBezTo>
                <a:cubicBezTo>
                  <a:pt x="185950" y="277743"/>
                  <a:pt x="180417" y="289715"/>
                  <a:pt x="176806" y="301752"/>
                </a:cubicBezTo>
                <a:cubicBezTo>
                  <a:pt x="157625" y="365687"/>
                  <a:pt x="170005" y="345129"/>
                  <a:pt x="131086" y="384048"/>
                </a:cubicBezTo>
                <a:lnTo>
                  <a:pt x="112798" y="438912"/>
                </a:lnTo>
                <a:cubicBezTo>
                  <a:pt x="109750" y="448056"/>
                  <a:pt x="109001" y="458324"/>
                  <a:pt x="103654" y="466344"/>
                </a:cubicBezTo>
                <a:lnTo>
                  <a:pt x="85366" y="493776"/>
                </a:ln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CFA9B555-16CA-41DF-BE7D-A183934D37E7}"/>
              </a:ext>
            </a:extLst>
          </p:cNvPr>
          <p:cNvSpPr/>
          <p:nvPr/>
        </p:nvSpPr>
        <p:spPr>
          <a:xfrm>
            <a:off x="6831370" y="1749928"/>
            <a:ext cx="350542" cy="493776"/>
          </a:xfrm>
          <a:custGeom>
            <a:avLst/>
            <a:gdLst>
              <a:gd name="connsiteX0" fmla="*/ 350542 w 350542"/>
              <a:gd name="connsiteY0" fmla="*/ 36576 h 493776"/>
              <a:gd name="connsiteX1" fmla="*/ 240814 w 350542"/>
              <a:gd name="connsiteY1" fmla="*/ 27432 h 493776"/>
              <a:gd name="connsiteX2" fmla="*/ 94510 w 350542"/>
              <a:gd name="connsiteY2" fmla="*/ 9144 h 493776"/>
              <a:gd name="connsiteX3" fmla="*/ 67078 w 350542"/>
              <a:gd name="connsiteY3" fmla="*/ 0 h 493776"/>
              <a:gd name="connsiteX4" fmla="*/ 12214 w 350542"/>
              <a:gd name="connsiteY4" fmla="*/ 36576 h 493776"/>
              <a:gd name="connsiteX5" fmla="*/ 39646 w 350542"/>
              <a:gd name="connsiteY5" fmla="*/ 45720 h 493776"/>
              <a:gd name="connsiteX6" fmla="*/ 85366 w 350542"/>
              <a:gd name="connsiteY6" fmla="*/ 54864 h 493776"/>
              <a:gd name="connsiteX7" fmla="*/ 140230 w 350542"/>
              <a:gd name="connsiteY7" fmla="*/ 73152 h 493776"/>
              <a:gd name="connsiteX8" fmla="*/ 158518 w 350542"/>
              <a:gd name="connsiteY8" fmla="*/ 100584 h 493776"/>
              <a:gd name="connsiteX9" fmla="*/ 131086 w 350542"/>
              <a:gd name="connsiteY9" fmla="*/ 128016 h 493776"/>
              <a:gd name="connsiteX10" fmla="*/ 76222 w 350542"/>
              <a:gd name="connsiteY10" fmla="*/ 137160 h 493776"/>
              <a:gd name="connsiteX11" fmla="*/ 30502 w 350542"/>
              <a:gd name="connsiteY11" fmla="*/ 146304 h 493776"/>
              <a:gd name="connsiteX12" fmla="*/ 12214 w 350542"/>
              <a:gd name="connsiteY12" fmla="*/ 173736 h 493776"/>
              <a:gd name="connsiteX13" fmla="*/ 39646 w 350542"/>
              <a:gd name="connsiteY13" fmla="*/ 192024 h 493776"/>
              <a:gd name="connsiteX14" fmla="*/ 121942 w 350542"/>
              <a:gd name="connsiteY14" fmla="*/ 219456 h 493776"/>
              <a:gd name="connsiteX15" fmla="*/ 176806 w 350542"/>
              <a:gd name="connsiteY15" fmla="*/ 237744 h 493776"/>
              <a:gd name="connsiteX16" fmla="*/ 185950 w 350542"/>
              <a:gd name="connsiteY16" fmla="*/ 265176 h 493776"/>
              <a:gd name="connsiteX17" fmla="*/ 176806 w 350542"/>
              <a:gd name="connsiteY17" fmla="*/ 301752 h 493776"/>
              <a:gd name="connsiteX18" fmla="*/ 131086 w 350542"/>
              <a:gd name="connsiteY18" fmla="*/ 384048 h 493776"/>
              <a:gd name="connsiteX19" fmla="*/ 112798 w 350542"/>
              <a:gd name="connsiteY19" fmla="*/ 438912 h 493776"/>
              <a:gd name="connsiteX20" fmla="*/ 103654 w 350542"/>
              <a:gd name="connsiteY20" fmla="*/ 466344 h 493776"/>
              <a:gd name="connsiteX21" fmla="*/ 85366 w 350542"/>
              <a:gd name="connsiteY21" fmla="*/ 493776 h 493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350542" h="493776">
                <a:moveTo>
                  <a:pt x="350542" y="36576"/>
                </a:moveTo>
                <a:lnTo>
                  <a:pt x="240814" y="27432"/>
                </a:lnTo>
                <a:cubicBezTo>
                  <a:pt x="198004" y="23540"/>
                  <a:pt x="138990" y="19028"/>
                  <a:pt x="94510" y="9144"/>
                </a:cubicBezTo>
                <a:cubicBezTo>
                  <a:pt x="85101" y="7053"/>
                  <a:pt x="76222" y="3048"/>
                  <a:pt x="67078" y="0"/>
                </a:cubicBezTo>
                <a:cubicBezTo>
                  <a:pt x="55980" y="1585"/>
                  <a:pt x="-31675" y="-7313"/>
                  <a:pt x="12214" y="36576"/>
                </a:cubicBezTo>
                <a:cubicBezTo>
                  <a:pt x="19030" y="43392"/>
                  <a:pt x="30295" y="43382"/>
                  <a:pt x="39646" y="45720"/>
                </a:cubicBezTo>
                <a:cubicBezTo>
                  <a:pt x="54724" y="49489"/>
                  <a:pt x="70372" y="50775"/>
                  <a:pt x="85366" y="54864"/>
                </a:cubicBezTo>
                <a:cubicBezTo>
                  <a:pt x="103964" y="59936"/>
                  <a:pt x="140230" y="73152"/>
                  <a:pt x="140230" y="73152"/>
                </a:cubicBezTo>
                <a:cubicBezTo>
                  <a:pt x="146326" y="82296"/>
                  <a:pt x="160325" y="89744"/>
                  <a:pt x="158518" y="100584"/>
                </a:cubicBezTo>
                <a:cubicBezTo>
                  <a:pt x="156392" y="113340"/>
                  <a:pt x="142903" y="122764"/>
                  <a:pt x="131086" y="128016"/>
                </a:cubicBezTo>
                <a:cubicBezTo>
                  <a:pt x="114144" y="135546"/>
                  <a:pt x="94463" y="133843"/>
                  <a:pt x="76222" y="137160"/>
                </a:cubicBezTo>
                <a:cubicBezTo>
                  <a:pt x="60931" y="139940"/>
                  <a:pt x="45742" y="143256"/>
                  <a:pt x="30502" y="146304"/>
                </a:cubicBezTo>
                <a:cubicBezTo>
                  <a:pt x="24406" y="155448"/>
                  <a:pt x="10059" y="162960"/>
                  <a:pt x="12214" y="173736"/>
                </a:cubicBezTo>
                <a:cubicBezTo>
                  <a:pt x="14369" y="184512"/>
                  <a:pt x="29816" y="187109"/>
                  <a:pt x="39646" y="192024"/>
                </a:cubicBezTo>
                <a:cubicBezTo>
                  <a:pt x="85483" y="214942"/>
                  <a:pt x="78287" y="206359"/>
                  <a:pt x="121942" y="219456"/>
                </a:cubicBezTo>
                <a:cubicBezTo>
                  <a:pt x="140406" y="224995"/>
                  <a:pt x="176806" y="237744"/>
                  <a:pt x="176806" y="237744"/>
                </a:cubicBezTo>
                <a:cubicBezTo>
                  <a:pt x="179854" y="246888"/>
                  <a:pt x="185950" y="255537"/>
                  <a:pt x="185950" y="265176"/>
                </a:cubicBezTo>
                <a:cubicBezTo>
                  <a:pt x="185950" y="277743"/>
                  <a:pt x="180417" y="289715"/>
                  <a:pt x="176806" y="301752"/>
                </a:cubicBezTo>
                <a:cubicBezTo>
                  <a:pt x="157625" y="365687"/>
                  <a:pt x="170005" y="345129"/>
                  <a:pt x="131086" y="384048"/>
                </a:cubicBezTo>
                <a:lnTo>
                  <a:pt x="112798" y="438912"/>
                </a:lnTo>
                <a:cubicBezTo>
                  <a:pt x="109750" y="448056"/>
                  <a:pt x="109001" y="458324"/>
                  <a:pt x="103654" y="466344"/>
                </a:cubicBezTo>
                <a:lnTo>
                  <a:pt x="85366" y="493776"/>
                </a:ln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541B36-0620-4A50-8007-DA67B7A086F5}"/>
              </a:ext>
            </a:extLst>
          </p:cNvPr>
          <p:cNvSpPr txBox="1"/>
          <p:nvPr/>
        </p:nvSpPr>
        <p:spPr>
          <a:xfrm>
            <a:off x="6810012" y="1416928"/>
            <a:ext cx="16898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/>
              <a:t>흑백이미지</a:t>
            </a:r>
            <a:r>
              <a:rPr lang="en-US" altLang="ko-KR" sz="1400"/>
              <a:t>(</a:t>
            </a:r>
            <a:r>
              <a:rPr lang="ko-KR" altLang="en-US" sz="1400"/>
              <a:t>컬러</a:t>
            </a:r>
            <a:r>
              <a:rPr lang="en-US" altLang="ko-KR" sz="1400"/>
              <a:t>:3)</a:t>
            </a:r>
            <a:endParaRPr lang="ko-KR" altLang="en-US" sz="140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85ED4F0-73A7-4D5C-968A-04C8BE24E0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2912" y="1272337"/>
            <a:ext cx="763972" cy="763972"/>
          </a:xfrm>
          <a:prstGeom prst="rect">
            <a:avLst/>
          </a:prstGeom>
        </p:spPr>
      </p:pic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06E86C2F-0461-41A3-8AF3-702EBF18772D}"/>
              </a:ext>
            </a:extLst>
          </p:cNvPr>
          <p:cNvSpPr/>
          <p:nvPr/>
        </p:nvSpPr>
        <p:spPr>
          <a:xfrm>
            <a:off x="3137647" y="1685365"/>
            <a:ext cx="1488141" cy="914400"/>
          </a:xfrm>
          <a:custGeom>
            <a:avLst/>
            <a:gdLst>
              <a:gd name="connsiteX0" fmla="*/ 1488141 w 1488141"/>
              <a:gd name="connsiteY0" fmla="*/ 197224 h 914400"/>
              <a:gd name="connsiteX1" fmla="*/ 1443318 w 1488141"/>
              <a:gd name="connsiteY1" fmla="*/ 161365 h 914400"/>
              <a:gd name="connsiteX2" fmla="*/ 1425388 w 1488141"/>
              <a:gd name="connsiteY2" fmla="*/ 143435 h 914400"/>
              <a:gd name="connsiteX3" fmla="*/ 1389529 w 1488141"/>
              <a:gd name="connsiteY3" fmla="*/ 125506 h 914400"/>
              <a:gd name="connsiteX4" fmla="*/ 1326777 w 1488141"/>
              <a:gd name="connsiteY4" fmla="*/ 89647 h 914400"/>
              <a:gd name="connsiteX5" fmla="*/ 1281953 w 1488141"/>
              <a:gd name="connsiteY5" fmla="*/ 80682 h 914400"/>
              <a:gd name="connsiteX6" fmla="*/ 1246094 w 1488141"/>
              <a:gd name="connsiteY6" fmla="*/ 62753 h 914400"/>
              <a:gd name="connsiteX7" fmla="*/ 1192306 w 1488141"/>
              <a:gd name="connsiteY7" fmla="*/ 44824 h 914400"/>
              <a:gd name="connsiteX8" fmla="*/ 1165412 w 1488141"/>
              <a:gd name="connsiteY8" fmla="*/ 35859 h 914400"/>
              <a:gd name="connsiteX9" fmla="*/ 1102659 w 1488141"/>
              <a:gd name="connsiteY9" fmla="*/ 17929 h 914400"/>
              <a:gd name="connsiteX10" fmla="*/ 959224 w 1488141"/>
              <a:gd name="connsiteY10" fmla="*/ 0 h 914400"/>
              <a:gd name="connsiteX11" fmla="*/ 914400 w 1488141"/>
              <a:gd name="connsiteY11" fmla="*/ 17929 h 914400"/>
              <a:gd name="connsiteX12" fmla="*/ 932329 w 1488141"/>
              <a:gd name="connsiteY12" fmla="*/ 116541 h 914400"/>
              <a:gd name="connsiteX13" fmla="*/ 959224 w 1488141"/>
              <a:gd name="connsiteY13" fmla="*/ 152400 h 914400"/>
              <a:gd name="connsiteX14" fmla="*/ 968188 w 1488141"/>
              <a:gd name="connsiteY14" fmla="*/ 179294 h 914400"/>
              <a:gd name="connsiteX15" fmla="*/ 986118 w 1488141"/>
              <a:gd name="connsiteY15" fmla="*/ 197224 h 914400"/>
              <a:gd name="connsiteX16" fmla="*/ 1004047 w 1488141"/>
              <a:gd name="connsiteY16" fmla="*/ 224118 h 914400"/>
              <a:gd name="connsiteX17" fmla="*/ 582706 w 1488141"/>
              <a:gd name="connsiteY17" fmla="*/ 242047 h 914400"/>
              <a:gd name="connsiteX18" fmla="*/ 573741 w 1488141"/>
              <a:gd name="connsiteY18" fmla="*/ 268941 h 914400"/>
              <a:gd name="connsiteX19" fmla="*/ 582706 w 1488141"/>
              <a:gd name="connsiteY19" fmla="*/ 528918 h 914400"/>
              <a:gd name="connsiteX20" fmla="*/ 304800 w 1488141"/>
              <a:gd name="connsiteY20" fmla="*/ 591671 h 914400"/>
              <a:gd name="connsiteX21" fmla="*/ 286871 w 1488141"/>
              <a:gd name="connsiteY21" fmla="*/ 618565 h 914400"/>
              <a:gd name="connsiteX22" fmla="*/ 259977 w 1488141"/>
              <a:gd name="connsiteY22" fmla="*/ 708212 h 914400"/>
              <a:gd name="connsiteX23" fmla="*/ 242047 w 1488141"/>
              <a:gd name="connsiteY23" fmla="*/ 762000 h 914400"/>
              <a:gd name="connsiteX24" fmla="*/ 233082 w 1488141"/>
              <a:gd name="connsiteY24" fmla="*/ 797859 h 914400"/>
              <a:gd name="connsiteX25" fmla="*/ 152400 w 1488141"/>
              <a:gd name="connsiteY25" fmla="*/ 833718 h 914400"/>
              <a:gd name="connsiteX26" fmla="*/ 80682 w 1488141"/>
              <a:gd name="connsiteY26" fmla="*/ 851647 h 914400"/>
              <a:gd name="connsiteX27" fmla="*/ 53788 w 1488141"/>
              <a:gd name="connsiteY27" fmla="*/ 860612 h 914400"/>
              <a:gd name="connsiteX28" fmla="*/ 8965 w 1488141"/>
              <a:gd name="connsiteY28" fmla="*/ 896471 h 914400"/>
              <a:gd name="connsiteX29" fmla="*/ 0 w 1488141"/>
              <a:gd name="connsiteY29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488141" h="914400">
                <a:moveTo>
                  <a:pt x="1488141" y="197224"/>
                </a:moveTo>
                <a:cubicBezTo>
                  <a:pt x="1473200" y="185271"/>
                  <a:pt x="1457845" y="173817"/>
                  <a:pt x="1443318" y="161365"/>
                </a:cubicBezTo>
                <a:cubicBezTo>
                  <a:pt x="1436901" y="155864"/>
                  <a:pt x="1432421" y="148123"/>
                  <a:pt x="1425388" y="143435"/>
                </a:cubicBezTo>
                <a:cubicBezTo>
                  <a:pt x="1414269" y="136022"/>
                  <a:pt x="1401132" y="132136"/>
                  <a:pt x="1389529" y="125506"/>
                </a:cubicBezTo>
                <a:cubicBezTo>
                  <a:pt x="1361983" y="109766"/>
                  <a:pt x="1359289" y="100484"/>
                  <a:pt x="1326777" y="89647"/>
                </a:cubicBezTo>
                <a:cubicBezTo>
                  <a:pt x="1312322" y="84829"/>
                  <a:pt x="1296894" y="83670"/>
                  <a:pt x="1281953" y="80682"/>
                </a:cubicBezTo>
                <a:cubicBezTo>
                  <a:pt x="1270000" y="74706"/>
                  <a:pt x="1258502" y="67716"/>
                  <a:pt x="1246094" y="62753"/>
                </a:cubicBezTo>
                <a:cubicBezTo>
                  <a:pt x="1228547" y="55734"/>
                  <a:pt x="1210235" y="50800"/>
                  <a:pt x="1192306" y="44824"/>
                </a:cubicBezTo>
                <a:cubicBezTo>
                  <a:pt x="1183341" y="41836"/>
                  <a:pt x="1174498" y="38455"/>
                  <a:pt x="1165412" y="35859"/>
                </a:cubicBezTo>
                <a:cubicBezTo>
                  <a:pt x="1144494" y="29882"/>
                  <a:pt x="1124092" y="21657"/>
                  <a:pt x="1102659" y="17929"/>
                </a:cubicBezTo>
                <a:cubicBezTo>
                  <a:pt x="1055188" y="9673"/>
                  <a:pt x="1007036" y="5976"/>
                  <a:pt x="959224" y="0"/>
                </a:cubicBezTo>
                <a:cubicBezTo>
                  <a:pt x="944283" y="5976"/>
                  <a:pt x="920377" y="2988"/>
                  <a:pt x="914400" y="17929"/>
                </a:cubicBezTo>
                <a:cubicBezTo>
                  <a:pt x="911930" y="24105"/>
                  <a:pt x="920692" y="96176"/>
                  <a:pt x="932329" y="116541"/>
                </a:cubicBezTo>
                <a:cubicBezTo>
                  <a:pt x="939742" y="129514"/>
                  <a:pt x="950259" y="140447"/>
                  <a:pt x="959224" y="152400"/>
                </a:cubicBezTo>
                <a:cubicBezTo>
                  <a:pt x="962212" y="161365"/>
                  <a:pt x="963326" y="171191"/>
                  <a:pt x="968188" y="179294"/>
                </a:cubicBezTo>
                <a:cubicBezTo>
                  <a:pt x="972537" y="186542"/>
                  <a:pt x="980838" y="190624"/>
                  <a:pt x="986118" y="197224"/>
                </a:cubicBezTo>
                <a:cubicBezTo>
                  <a:pt x="992849" y="205637"/>
                  <a:pt x="998071" y="215153"/>
                  <a:pt x="1004047" y="224118"/>
                </a:cubicBezTo>
                <a:cubicBezTo>
                  <a:pt x="863600" y="230094"/>
                  <a:pt x="722524" y="227483"/>
                  <a:pt x="582706" y="242047"/>
                </a:cubicBezTo>
                <a:cubicBezTo>
                  <a:pt x="573307" y="243026"/>
                  <a:pt x="573741" y="259491"/>
                  <a:pt x="573741" y="268941"/>
                </a:cubicBezTo>
                <a:cubicBezTo>
                  <a:pt x="573741" y="355652"/>
                  <a:pt x="579718" y="442259"/>
                  <a:pt x="582706" y="528918"/>
                </a:cubicBezTo>
                <a:cubicBezTo>
                  <a:pt x="558087" y="676629"/>
                  <a:pt x="596387" y="555222"/>
                  <a:pt x="304800" y="591671"/>
                </a:cubicBezTo>
                <a:cubicBezTo>
                  <a:pt x="294109" y="593007"/>
                  <a:pt x="291247" y="608719"/>
                  <a:pt x="286871" y="618565"/>
                </a:cubicBezTo>
                <a:cubicBezTo>
                  <a:pt x="267359" y="662467"/>
                  <a:pt x="272016" y="668083"/>
                  <a:pt x="259977" y="708212"/>
                </a:cubicBezTo>
                <a:cubicBezTo>
                  <a:pt x="254546" y="726314"/>
                  <a:pt x="246631" y="743665"/>
                  <a:pt x="242047" y="762000"/>
                </a:cubicBezTo>
                <a:cubicBezTo>
                  <a:pt x="239059" y="773953"/>
                  <a:pt x="239195" y="787161"/>
                  <a:pt x="233082" y="797859"/>
                </a:cubicBezTo>
                <a:cubicBezTo>
                  <a:pt x="211313" y="835955"/>
                  <a:pt x="192919" y="825035"/>
                  <a:pt x="152400" y="833718"/>
                </a:cubicBezTo>
                <a:cubicBezTo>
                  <a:pt x="128305" y="838881"/>
                  <a:pt x="104059" y="843854"/>
                  <a:pt x="80682" y="851647"/>
                </a:cubicBezTo>
                <a:cubicBezTo>
                  <a:pt x="71717" y="854635"/>
                  <a:pt x="62240" y="856386"/>
                  <a:pt x="53788" y="860612"/>
                </a:cubicBezTo>
                <a:cubicBezTo>
                  <a:pt x="39671" y="867671"/>
                  <a:pt x="18972" y="883128"/>
                  <a:pt x="8965" y="896471"/>
                </a:cubicBezTo>
                <a:cubicBezTo>
                  <a:pt x="4956" y="901816"/>
                  <a:pt x="2988" y="908424"/>
                  <a:pt x="0" y="914400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8638AFB5-68A3-4FF4-81FF-57EB391F60B7}"/>
              </a:ext>
            </a:extLst>
          </p:cNvPr>
          <p:cNvSpPr/>
          <p:nvPr/>
        </p:nvSpPr>
        <p:spPr>
          <a:xfrm>
            <a:off x="1721224" y="1371536"/>
            <a:ext cx="887505" cy="1004111"/>
          </a:xfrm>
          <a:custGeom>
            <a:avLst/>
            <a:gdLst>
              <a:gd name="connsiteX0" fmla="*/ 0 w 887505"/>
              <a:gd name="connsiteY0" fmla="*/ 968253 h 1004111"/>
              <a:gd name="connsiteX1" fmla="*/ 71717 w 887505"/>
              <a:gd name="connsiteY1" fmla="*/ 995147 h 1004111"/>
              <a:gd name="connsiteX2" fmla="*/ 107576 w 887505"/>
              <a:gd name="connsiteY2" fmla="*/ 1004111 h 1004111"/>
              <a:gd name="connsiteX3" fmla="*/ 206188 w 887505"/>
              <a:gd name="connsiteY3" fmla="*/ 986182 h 1004111"/>
              <a:gd name="connsiteX4" fmla="*/ 233082 w 887505"/>
              <a:gd name="connsiteY4" fmla="*/ 968253 h 1004111"/>
              <a:gd name="connsiteX5" fmla="*/ 277905 w 887505"/>
              <a:gd name="connsiteY5" fmla="*/ 923429 h 1004111"/>
              <a:gd name="connsiteX6" fmla="*/ 295835 w 887505"/>
              <a:gd name="connsiteY6" fmla="*/ 905500 h 1004111"/>
              <a:gd name="connsiteX7" fmla="*/ 331694 w 887505"/>
              <a:gd name="connsiteY7" fmla="*/ 842747 h 1004111"/>
              <a:gd name="connsiteX8" fmla="*/ 349623 w 887505"/>
              <a:gd name="connsiteY8" fmla="*/ 788958 h 1004111"/>
              <a:gd name="connsiteX9" fmla="*/ 367552 w 887505"/>
              <a:gd name="connsiteY9" fmla="*/ 753100 h 1004111"/>
              <a:gd name="connsiteX10" fmla="*/ 385482 w 887505"/>
              <a:gd name="connsiteY10" fmla="*/ 699311 h 1004111"/>
              <a:gd name="connsiteX11" fmla="*/ 403411 w 887505"/>
              <a:gd name="connsiteY11" fmla="*/ 672417 h 1004111"/>
              <a:gd name="connsiteX12" fmla="*/ 421341 w 887505"/>
              <a:gd name="connsiteY12" fmla="*/ 609664 h 1004111"/>
              <a:gd name="connsiteX13" fmla="*/ 439270 w 887505"/>
              <a:gd name="connsiteY13" fmla="*/ 555876 h 1004111"/>
              <a:gd name="connsiteX14" fmla="*/ 448235 w 887505"/>
              <a:gd name="connsiteY14" fmla="*/ 528982 h 1004111"/>
              <a:gd name="connsiteX15" fmla="*/ 484094 w 887505"/>
              <a:gd name="connsiteY15" fmla="*/ 457264 h 1004111"/>
              <a:gd name="connsiteX16" fmla="*/ 502023 w 887505"/>
              <a:gd name="connsiteY16" fmla="*/ 430370 h 1004111"/>
              <a:gd name="connsiteX17" fmla="*/ 519952 w 887505"/>
              <a:gd name="connsiteY17" fmla="*/ 376582 h 1004111"/>
              <a:gd name="connsiteX18" fmla="*/ 528917 w 887505"/>
              <a:gd name="connsiteY18" fmla="*/ 349688 h 1004111"/>
              <a:gd name="connsiteX19" fmla="*/ 537882 w 887505"/>
              <a:gd name="connsiteY19" fmla="*/ 322794 h 1004111"/>
              <a:gd name="connsiteX20" fmla="*/ 555811 w 887505"/>
              <a:gd name="connsiteY20" fmla="*/ 304864 h 1004111"/>
              <a:gd name="connsiteX21" fmla="*/ 582705 w 887505"/>
              <a:gd name="connsiteY21" fmla="*/ 251076 h 1004111"/>
              <a:gd name="connsiteX22" fmla="*/ 600635 w 887505"/>
              <a:gd name="connsiteY22" fmla="*/ 233147 h 1004111"/>
              <a:gd name="connsiteX23" fmla="*/ 663388 w 887505"/>
              <a:gd name="connsiteY23" fmla="*/ 161429 h 1004111"/>
              <a:gd name="connsiteX24" fmla="*/ 690282 w 887505"/>
              <a:gd name="connsiteY24" fmla="*/ 134535 h 1004111"/>
              <a:gd name="connsiteX25" fmla="*/ 708211 w 887505"/>
              <a:gd name="connsiteY25" fmla="*/ 116605 h 1004111"/>
              <a:gd name="connsiteX26" fmla="*/ 735105 w 887505"/>
              <a:gd name="connsiteY26" fmla="*/ 98676 h 1004111"/>
              <a:gd name="connsiteX27" fmla="*/ 753035 w 887505"/>
              <a:gd name="connsiteY27" fmla="*/ 80747 h 1004111"/>
              <a:gd name="connsiteX28" fmla="*/ 779929 w 887505"/>
              <a:gd name="connsiteY28" fmla="*/ 71782 h 1004111"/>
              <a:gd name="connsiteX29" fmla="*/ 833717 w 887505"/>
              <a:gd name="connsiteY29" fmla="*/ 26958 h 1004111"/>
              <a:gd name="connsiteX30" fmla="*/ 860611 w 887505"/>
              <a:gd name="connsiteY30" fmla="*/ 17994 h 1004111"/>
              <a:gd name="connsiteX31" fmla="*/ 887505 w 887505"/>
              <a:gd name="connsiteY31" fmla="*/ 64 h 1004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887505" h="1004111">
                <a:moveTo>
                  <a:pt x="0" y="968253"/>
                </a:moveTo>
                <a:cubicBezTo>
                  <a:pt x="23671" y="977721"/>
                  <a:pt x="47130" y="988122"/>
                  <a:pt x="71717" y="995147"/>
                </a:cubicBezTo>
                <a:cubicBezTo>
                  <a:pt x="83564" y="998532"/>
                  <a:pt x="95623" y="1001123"/>
                  <a:pt x="107576" y="1004111"/>
                </a:cubicBezTo>
                <a:cubicBezTo>
                  <a:pt x="140447" y="998135"/>
                  <a:pt x="174064" y="995360"/>
                  <a:pt x="206188" y="986182"/>
                </a:cubicBezTo>
                <a:cubicBezTo>
                  <a:pt x="216548" y="983222"/>
                  <a:pt x="224974" y="975348"/>
                  <a:pt x="233082" y="968253"/>
                </a:cubicBezTo>
                <a:cubicBezTo>
                  <a:pt x="248984" y="954339"/>
                  <a:pt x="262964" y="938370"/>
                  <a:pt x="277905" y="923429"/>
                </a:cubicBezTo>
                <a:cubicBezTo>
                  <a:pt x="283882" y="917452"/>
                  <a:pt x="291147" y="912533"/>
                  <a:pt x="295835" y="905500"/>
                </a:cubicBezTo>
                <a:cubicBezTo>
                  <a:pt x="312003" y="881246"/>
                  <a:pt x="320323" y="871174"/>
                  <a:pt x="331694" y="842747"/>
                </a:cubicBezTo>
                <a:cubicBezTo>
                  <a:pt x="338713" y="825199"/>
                  <a:pt x="341171" y="805862"/>
                  <a:pt x="349623" y="788958"/>
                </a:cubicBezTo>
                <a:cubicBezTo>
                  <a:pt x="355599" y="777005"/>
                  <a:pt x="362589" y="765508"/>
                  <a:pt x="367552" y="753100"/>
                </a:cubicBezTo>
                <a:cubicBezTo>
                  <a:pt x="374571" y="735552"/>
                  <a:pt x="374999" y="715036"/>
                  <a:pt x="385482" y="699311"/>
                </a:cubicBezTo>
                <a:cubicBezTo>
                  <a:pt x="391458" y="690346"/>
                  <a:pt x="398593" y="682054"/>
                  <a:pt x="403411" y="672417"/>
                </a:cubicBezTo>
                <a:cubicBezTo>
                  <a:pt x="410943" y="657352"/>
                  <a:pt x="417032" y="624027"/>
                  <a:pt x="421341" y="609664"/>
                </a:cubicBezTo>
                <a:cubicBezTo>
                  <a:pt x="426772" y="591562"/>
                  <a:pt x="433294" y="573805"/>
                  <a:pt x="439270" y="555876"/>
                </a:cubicBezTo>
                <a:cubicBezTo>
                  <a:pt x="442258" y="546911"/>
                  <a:pt x="444009" y="537434"/>
                  <a:pt x="448235" y="528982"/>
                </a:cubicBezTo>
                <a:cubicBezTo>
                  <a:pt x="460188" y="505076"/>
                  <a:pt x="469268" y="479503"/>
                  <a:pt x="484094" y="457264"/>
                </a:cubicBezTo>
                <a:cubicBezTo>
                  <a:pt x="490070" y="448299"/>
                  <a:pt x="497647" y="440216"/>
                  <a:pt x="502023" y="430370"/>
                </a:cubicBezTo>
                <a:cubicBezTo>
                  <a:pt x="509699" y="413100"/>
                  <a:pt x="513976" y="394511"/>
                  <a:pt x="519952" y="376582"/>
                </a:cubicBezTo>
                <a:lnTo>
                  <a:pt x="528917" y="349688"/>
                </a:lnTo>
                <a:cubicBezTo>
                  <a:pt x="531905" y="340723"/>
                  <a:pt x="531200" y="329476"/>
                  <a:pt x="537882" y="322794"/>
                </a:cubicBezTo>
                <a:lnTo>
                  <a:pt x="555811" y="304864"/>
                </a:lnTo>
                <a:cubicBezTo>
                  <a:pt x="565279" y="276460"/>
                  <a:pt x="562845" y="275900"/>
                  <a:pt x="582705" y="251076"/>
                </a:cubicBezTo>
                <a:cubicBezTo>
                  <a:pt x="587985" y="244476"/>
                  <a:pt x="595355" y="239747"/>
                  <a:pt x="600635" y="233147"/>
                </a:cubicBezTo>
                <a:cubicBezTo>
                  <a:pt x="659943" y="159013"/>
                  <a:pt x="552780" y="272037"/>
                  <a:pt x="663388" y="161429"/>
                </a:cubicBezTo>
                <a:lnTo>
                  <a:pt x="690282" y="134535"/>
                </a:lnTo>
                <a:cubicBezTo>
                  <a:pt x="696258" y="128558"/>
                  <a:pt x="701178" y="121293"/>
                  <a:pt x="708211" y="116605"/>
                </a:cubicBezTo>
                <a:cubicBezTo>
                  <a:pt x="717176" y="110629"/>
                  <a:pt x="726692" y="105406"/>
                  <a:pt x="735105" y="98676"/>
                </a:cubicBezTo>
                <a:cubicBezTo>
                  <a:pt x="741705" y="93396"/>
                  <a:pt x="745787" y="85095"/>
                  <a:pt x="753035" y="80747"/>
                </a:cubicBezTo>
                <a:cubicBezTo>
                  <a:pt x="761138" y="75885"/>
                  <a:pt x="770964" y="74770"/>
                  <a:pt x="779929" y="71782"/>
                </a:cubicBezTo>
                <a:cubicBezTo>
                  <a:pt x="799753" y="51958"/>
                  <a:pt x="808757" y="39438"/>
                  <a:pt x="833717" y="26958"/>
                </a:cubicBezTo>
                <a:cubicBezTo>
                  <a:pt x="842169" y="22732"/>
                  <a:pt x="851646" y="20982"/>
                  <a:pt x="860611" y="17994"/>
                </a:cubicBezTo>
                <a:cubicBezTo>
                  <a:pt x="880654" y="-2049"/>
                  <a:pt x="870089" y="64"/>
                  <a:pt x="887505" y="64"/>
                </a:cubicBezTo>
              </a:path>
            </a:pathLst>
          </a:custGeom>
          <a:noFill/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AE821C-1B4B-4B1B-A788-D6CB0FE329B8}"/>
              </a:ext>
            </a:extLst>
          </p:cNvPr>
          <p:cNvSpPr txBox="1"/>
          <p:nvPr/>
        </p:nvSpPr>
        <p:spPr>
          <a:xfrm>
            <a:off x="2516650" y="1199965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/>
              <a:t>특징맵갯수</a:t>
            </a:r>
          </a:p>
        </p:txBody>
      </p:sp>
    </p:spTree>
    <p:extLst>
      <p:ext uri="{BB962C8B-B14F-4D97-AF65-F5344CB8AC3E}">
        <p14:creationId xmlns:p14="http://schemas.microsoft.com/office/powerpoint/2010/main" val="10720451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178B32E-9B44-4A8F-8289-A0DECBFF7706}"/>
              </a:ext>
            </a:extLst>
          </p:cNvPr>
          <p:cNvSpPr txBox="1"/>
          <p:nvPr/>
        </p:nvSpPr>
        <p:spPr>
          <a:xfrm>
            <a:off x="4236988" y="116537"/>
            <a:ext cx="35862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>
                <a:solidFill>
                  <a:schemeClr val="bg1"/>
                </a:solidFill>
              </a:rPr>
              <a:t>합성곱신경망</a:t>
            </a:r>
            <a:r>
              <a:rPr lang="en-US" altLang="ko-KR" sz="2800" b="1">
                <a:solidFill>
                  <a:schemeClr val="bg1"/>
                </a:solidFill>
              </a:rPr>
              <a:t>(13/13)</a:t>
            </a:r>
            <a:endParaRPr lang="ko-KR" altLang="en-US" sz="2800" b="1">
              <a:solidFill>
                <a:schemeClr val="bg1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4759348-FD72-4D77-8DC0-043BE48A9D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762" y="1251792"/>
            <a:ext cx="11006476" cy="3707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6109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E570E6-41AE-4DE2-93D2-E8C9DA0B2D7B}"/>
              </a:ext>
            </a:extLst>
          </p:cNvPr>
          <p:cNvSpPr txBox="1"/>
          <p:nvPr/>
        </p:nvSpPr>
        <p:spPr>
          <a:xfrm>
            <a:off x="4858240" y="152397"/>
            <a:ext cx="30187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>
                <a:solidFill>
                  <a:schemeClr val="bg1"/>
                </a:solidFill>
              </a:rPr>
              <a:t>순환신경망</a:t>
            </a:r>
            <a:r>
              <a:rPr lang="en-US" altLang="ko-KR" sz="2800" b="1">
                <a:solidFill>
                  <a:schemeClr val="bg1"/>
                </a:solidFill>
              </a:rPr>
              <a:t>(1/12)</a:t>
            </a:r>
            <a:endParaRPr lang="ko-KR" altLang="en-US" sz="2800" b="1">
              <a:solidFill>
                <a:schemeClr val="bg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3F1081D-8D35-4646-9DFE-584F53274B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7935" y="1081896"/>
            <a:ext cx="6026020" cy="4389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6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E570E6-41AE-4DE2-93D2-E8C9DA0B2D7B}"/>
              </a:ext>
            </a:extLst>
          </p:cNvPr>
          <p:cNvSpPr txBox="1"/>
          <p:nvPr/>
        </p:nvSpPr>
        <p:spPr>
          <a:xfrm>
            <a:off x="5154075" y="143432"/>
            <a:ext cx="30187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>
                <a:solidFill>
                  <a:schemeClr val="bg1"/>
                </a:solidFill>
              </a:rPr>
              <a:t>순환신경망</a:t>
            </a:r>
            <a:r>
              <a:rPr lang="en-US" altLang="ko-KR" sz="2800" b="1">
                <a:solidFill>
                  <a:schemeClr val="bg1"/>
                </a:solidFill>
              </a:rPr>
              <a:t>(2/12)</a:t>
            </a:r>
            <a:endParaRPr lang="ko-KR" altLang="en-US" sz="2800" b="1">
              <a:solidFill>
                <a:schemeClr val="bg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A5218CC-7F30-4FB0-977A-11F6D5840E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3898" y="1360192"/>
            <a:ext cx="8444204" cy="38157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9E9A945-17A9-485A-AD1B-D50575E451F2}"/>
              </a:ext>
            </a:extLst>
          </p:cNvPr>
          <p:cNvSpPr txBox="1"/>
          <p:nvPr/>
        </p:nvSpPr>
        <p:spPr>
          <a:xfrm>
            <a:off x="7458635" y="990860"/>
            <a:ext cx="2425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solidFill>
                  <a:srgbClr val="7030A0"/>
                </a:solidFill>
              </a:rPr>
              <a:t>순서있는 데이터 학습</a:t>
            </a:r>
          </a:p>
        </p:txBody>
      </p:sp>
    </p:spTree>
    <p:extLst>
      <p:ext uri="{BB962C8B-B14F-4D97-AF65-F5344CB8AC3E}">
        <p14:creationId xmlns:p14="http://schemas.microsoft.com/office/powerpoint/2010/main" val="21578660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E570E6-41AE-4DE2-93D2-E8C9DA0B2D7B}"/>
              </a:ext>
            </a:extLst>
          </p:cNvPr>
          <p:cNvSpPr txBox="1"/>
          <p:nvPr/>
        </p:nvSpPr>
        <p:spPr>
          <a:xfrm>
            <a:off x="4858240" y="161361"/>
            <a:ext cx="30187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>
                <a:solidFill>
                  <a:schemeClr val="bg1"/>
                </a:solidFill>
              </a:rPr>
              <a:t>순환신경망</a:t>
            </a:r>
            <a:r>
              <a:rPr lang="en-US" altLang="ko-KR" sz="2800" b="1">
                <a:solidFill>
                  <a:schemeClr val="bg1"/>
                </a:solidFill>
              </a:rPr>
              <a:t>(3/12)</a:t>
            </a:r>
            <a:endParaRPr lang="ko-KR" altLang="en-US" sz="2800" b="1">
              <a:solidFill>
                <a:schemeClr val="bg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685D40E-D10F-4B50-A03A-4AFAB8D3E6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8248" y="1006081"/>
            <a:ext cx="8446135" cy="48458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293E61A-EBBB-4AC9-AA25-A17FD1D0DA29}"/>
              </a:ext>
            </a:extLst>
          </p:cNvPr>
          <p:cNvSpPr txBox="1"/>
          <p:nvPr/>
        </p:nvSpPr>
        <p:spPr>
          <a:xfrm>
            <a:off x="5161757" y="5851919"/>
            <a:ext cx="247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rgbClr val="7030A0"/>
                </a:solidFill>
              </a:rPr>
              <a:t>I</a:t>
            </a:r>
            <a:endParaRPr lang="ko-KR" altLang="en-US">
              <a:solidFill>
                <a:srgbClr val="7030A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DB9EB1-E8D0-447E-BA72-B9F5E3E1A180}"/>
              </a:ext>
            </a:extLst>
          </p:cNvPr>
          <p:cNvSpPr txBox="1"/>
          <p:nvPr/>
        </p:nvSpPr>
        <p:spPr>
          <a:xfrm>
            <a:off x="6179230" y="5845647"/>
            <a:ext cx="532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rgbClr val="7030A0"/>
                </a:solidFill>
              </a:rPr>
              <a:t>like</a:t>
            </a:r>
            <a:endParaRPr lang="ko-KR" altLang="en-US">
              <a:solidFill>
                <a:srgbClr val="7030A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260FAF-F377-499B-BB4B-BC47CA6203E8}"/>
              </a:ext>
            </a:extLst>
          </p:cNvPr>
          <p:cNvSpPr txBox="1"/>
          <p:nvPr/>
        </p:nvSpPr>
        <p:spPr>
          <a:xfrm>
            <a:off x="7215714" y="5833748"/>
            <a:ext cx="568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rgbClr val="7030A0"/>
                </a:solidFill>
              </a:rPr>
              <a:t>you</a:t>
            </a:r>
            <a:endParaRPr lang="ko-KR" altLang="en-US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93928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E570E6-41AE-4DE2-93D2-E8C9DA0B2D7B}"/>
              </a:ext>
            </a:extLst>
          </p:cNvPr>
          <p:cNvSpPr txBox="1"/>
          <p:nvPr/>
        </p:nvSpPr>
        <p:spPr>
          <a:xfrm>
            <a:off x="5154075" y="143432"/>
            <a:ext cx="30187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>
                <a:solidFill>
                  <a:schemeClr val="bg1"/>
                </a:solidFill>
              </a:rPr>
              <a:t>순환신경망</a:t>
            </a:r>
            <a:r>
              <a:rPr lang="en-US" altLang="ko-KR" sz="2800" b="1">
                <a:solidFill>
                  <a:schemeClr val="bg1"/>
                </a:solidFill>
              </a:rPr>
              <a:t>(4/12)</a:t>
            </a:r>
            <a:endParaRPr lang="ko-KR" altLang="en-US" sz="2800" b="1">
              <a:solidFill>
                <a:schemeClr val="bg1"/>
              </a:solidFill>
            </a:endParaRP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CB6DFB28-F497-47AB-9737-AED6269FCCD5}"/>
              </a:ext>
            </a:extLst>
          </p:cNvPr>
          <p:cNvCxnSpPr/>
          <p:nvPr/>
        </p:nvCxnSpPr>
        <p:spPr>
          <a:xfrm>
            <a:off x="4823012" y="4312024"/>
            <a:ext cx="1434353" cy="5737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1AFFCE66-AE6E-4421-86BA-B7916FFC02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2871" y="1264549"/>
            <a:ext cx="7557247" cy="426306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BEEE5A0-7E62-4433-B5B7-65629C25C5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877" y="1075747"/>
            <a:ext cx="1711017" cy="377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2363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E570E6-41AE-4DE2-93D2-E8C9DA0B2D7B}"/>
              </a:ext>
            </a:extLst>
          </p:cNvPr>
          <p:cNvSpPr txBox="1"/>
          <p:nvPr/>
        </p:nvSpPr>
        <p:spPr>
          <a:xfrm>
            <a:off x="5154075" y="143432"/>
            <a:ext cx="30187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>
                <a:solidFill>
                  <a:schemeClr val="bg1"/>
                </a:solidFill>
              </a:rPr>
              <a:t>순환신경망</a:t>
            </a:r>
            <a:r>
              <a:rPr lang="en-US" altLang="ko-KR" sz="2800" b="1">
                <a:solidFill>
                  <a:schemeClr val="bg1"/>
                </a:solidFill>
              </a:rPr>
              <a:t>(5/12)</a:t>
            </a:r>
            <a:endParaRPr lang="ko-KR" altLang="en-US" sz="2800" b="1">
              <a:solidFill>
                <a:schemeClr val="bg1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814C70F-6F92-4276-AD34-19D3EED371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700" y="878822"/>
            <a:ext cx="3421975" cy="37623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0B98887-B7CC-4CF2-A7A3-E71E924A1E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4359" y="1255060"/>
            <a:ext cx="8153400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9003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E570E6-41AE-4DE2-93D2-E8C9DA0B2D7B}"/>
              </a:ext>
            </a:extLst>
          </p:cNvPr>
          <p:cNvSpPr txBox="1"/>
          <p:nvPr/>
        </p:nvSpPr>
        <p:spPr>
          <a:xfrm>
            <a:off x="4517581" y="108459"/>
            <a:ext cx="30187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>
                <a:solidFill>
                  <a:schemeClr val="bg1"/>
                </a:solidFill>
              </a:rPr>
              <a:t>순환신경망</a:t>
            </a:r>
            <a:r>
              <a:rPr lang="en-US" altLang="ko-KR" sz="2800" b="1">
                <a:solidFill>
                  <a:schemeClr val="bg1"/>
                </a:solidFill>
              </a:rPr>
              <a:t>(6/12)</a:t>
            </a:r>
            <a:endParaRPr lang="ko-KR" altLang="en-US" sz="2800" b="1">
              <a:solidFill>
                <a:schemeClr val="bg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0646865-8379-4C3B-9F0E-804BC20681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810" y="966909"/>
            <a:ext cx="8854751" cy="486338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7E6CF8F-0DD6-4908-91B1-73B086417E57}"/>
              </a:ext>
            </a:extLst>
          </p:cNvPr>
          <p:cNvSpPr txBox="1"/>
          <p:nvPr/>
        </p:nvSpPr>
        <p:spPr>
          <a:xfrm>
            <a:off x="5512186" y="2565919"/>
            <a:ext cx="10871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>
                <a:solidFill>
                  <a:srgbClr val="FF0000"/>
                </a:solidFill>
              </a:rPr>
              <a:t>긍정</a:t>
            </a:r>
            <a:r>
              <a:rPr lang="en-US" altLang="ko-KR" sz="1600">
                <a:solidFill>
                  <a:srgbClr val="FF0000"/>
                </a:solidFill>
              </a:rPr>
              <a:t>/</a:t>
            </a:r>
            <a:r>
              <a:rPr lang="ko-KR" altLang="en-US" sz="1600">
                <a:solidFill>
                  <a:srgbClr val="FF0000"/>
                </a:solidFill>
              </a:rPr>
              <a:t>부정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8E2C17-0F95-43BC-B53D-4D4F96D09DEF}"/>
              </a:ext>
            </a:extLst>
          </p:cNvPr>
          <p:cNvSpPr txBox="1"/>
          <p:nvPr/>
        </p:nvSpPr>
        <p:spPr>
          <a:xfrm>
            <a:off x="4405019" y="5184693"/>
            <a:ext cx="1141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rgbClr val="7030A0"/>
                </a:solidFill>
              </a:rPr>
              <a:t>I like you</a:t>
            </a:r>
            <a:endParaRPr lang="ko-KR" altLang="en-US">
              <a:solidFill>
                <a:srgbClr val="7030A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DA426D-BBD1-46FD-A906-AB8015BDD06A}"/>
              </a:ext>
            </a:extLst>
          </p:cNvPr>
          <p:cNvSpPr txBox="1"/>
          <p:nvPr/>
        </p:nvSpPr>
        <p:spPr>
          <a:xfrm>
            <a:off x="6193982" y="5229518"/>
            <a:ext cx="9300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>
                <a:solidFill>
                  <a:srgbClr val="7030A0"/>
                </a:solidFill>
              </a:rPr>
              <a:t>I like you</a:t>
            </a:r>
            <a:endParaRPr lang="ko-KR" altLang="en-US" sz="1400">
              <a:solidFill>
                <a:srgbClr val="7030A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F00339-8CE9-4C83-BDAE-D677B5EFE8E7}"/>
              </a:ext>
            </a:extLst>
          </p:cNvPr>
          <p:cNvSpPr txBox="1"/>
          <p:nvPr/>
        </p:nvSpPr>
        <p:spPr>
          <a:xfrm>
            <a:off x="6965398" y="2381253"/>
            <a:ext cx="144302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>
                <a:solidFill>
                  <a:srgbClr val="7030A0"/>
                </a:solidFill>
              </a:rPr>
              <a:t>나는 너를 좋아한다</a:t>
            </a:r>
            <a:r>
              <a:rPr lang="en-US" altLang="ko-KR" sz="1100">
                <a:solidFill>
                  <a:srgbClr val="7030A0"/>
                </a:solidFill>
              </a:rPr>
              <a:t>.</a:t>
            </a:r>
            <a:endParaRPr lang="ko-KR" altLang="en-US" sz="1100">
              <a:solidFill>
                <a:srgbClr val="7030A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11FE27-47A1-4180-94C2-1425431A79AC}"/>
              </a:ext>
            </a:extLst>
          </p:cNvPr>
          <p:cNvSpPr txBox="1"/>
          <p:nvPr/>
        </p:nvSpPr>
        <p:spPr>
          <a:xfrm>
            <a:off x="8758518" y="5507126"/>
            <a:ext cx="12827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/>
              <a:t>품사태깅</a:t>
            </a:r>
            <a:endParaRPr lang="en-US" altLang="ko-KR" sz="1600"/>
          </a:p>
          <a:p>
            <a:r>
              <a:rPr lang="ko-KR" altLang="en-US" sz="1600"/>
              <a:t>개체명 인식</a:t>
            </a:r>
          </a:p>
        </p:txBody>
      </p:sp>
    </p:spTree>
    <p:extLst>
      <p:ext uri="{BB962C8B-B14F-4D97-AF65-F5344CB8AC3E}">
        <p14:creationId xmlns:p14="http://schemas.microsoft.com/office/powerpoint/2010/main" val="21914918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E570E6-41AE-4DE2-93D2-E8C9DA0B2D7B}"/>
              </a:ext>
            </a:extLst>
          </p:cNvPr>
          <p:cNvSpPr txBox="1"/>
          <p:nvPr/>
        </p:nvSpPr>
        <p:spPr>
          <a:xfrm>
            <a:off x="5154075" y="143432"/>
            <a:ext cx="30187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>
                <a:solidFill>
                  <a:schemeClr val="bg1"/>
                </a:solidFill>
              </a:rPr>
              <a:t>순환신경망</a:t>
            </a:r>
            <a:r>
              <a:rPr lang="en-US" altLang="ko-KR" sz="2800" b="1">
                <a:solidFill>
                  <a:schemeClr val="bg1"/>
                </a:solidFill>
              </a:rPr>
              <a:t>(7/12)</a:t>
            </a:r>
            <a:endParaRPr lang="ko-KR" altLang="en-US" sz="2800" b="1">
              <a:solidFill>
                <a:schemeClr val="bg1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685A1EB-A3C1-43C8-B1FC-107F877974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055" y="1084101"/>
            <a:ext cx="7915275" cy="211455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CC69B4D-AE3F-4F9F-878B-5E0BDF7969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0809" y="4052660"/>
            <a:ext cx="6865485" cy="556449"/>
          </a:xfrm>
          <a:prstGeom prst="rect">
            <a:avLst/>
          </a:prstGeom>
        </p:spPr>
      </p:pic>
      <p:sp>
        <p:nvSpPr>
          <p:cNvPr id="6" name="화살표: 아래쪽 5">
            <a:extLst>
              <a:ext uri="{FF2B5EF4-FFF2-40B4-BE49-F238E27FC236}">
                <a16:creationId xmlns:a16="http://schemas.microsoft.com/office/drawing/2014/main" id="{907CC176-F9AF-4A36-86A0-53B9D1F7F754}"/>
              </a:ext>
            </a:extLst>
          </p:cNvPr>
          <p:cNvSpPr/>
          <p:nvPr/>
        </p:nvSpPr>
        <p:spPr>
          <a:xfrm>
            <a:off x="5346441" y="3429000"/>
            <a:ext cx="550506" cy="45253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57AC0AA-AA8A-4931-A670-C9A3CCDBC2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22366" y="5057215"/>
            <a:ext cx="1931709" cy="9355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90268D2-50A1-4F96-AEE3-1838B0D5EE81}"/>
              </a:ext>
            </a:extLst>
          </p:cNvPr>
          <p:cNvSpPr txBox="1"/>
          <p:nvPr/>
        </p:nvSpPr>
        <p:spPr>
          <a:xfrm>
            <a:off x="5033071" y="4942902"/>
            <a:ext cx="58862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/>
              <a:t>...</a:t>
            </a:r>
            <a:endParaRPr lang="ko-KR" altLang="en-US" sz="4800"/>
          </a:p>
        </p:txBody>
      </p:sp>
    </p:spTree>
    <p:extLst>
      <p:ext uri="{BB962C8B-B14F-4D97-AF65-F5344CB8AC3E}">
        <p14:creationId xmlns:p14="http://schemas.microsoft.com/office/powerpoint/2010/main" val="37096130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E570E6-41AE-4DE2-93D2-E8C9DA0B2D7B}"/>
              </a:ext>
            </a:extLst>
          </p:cNvPr>
          <p:cNvSpPr txBox="1"/>
          <p:nvPr/>
        </p:nvSpPr>
        <p:spPr>
          <a:xfrm>
            <a:off x="5154075" y="143432"/>
            <a:ext cx="30187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>
                <a:solidFill>
                  <a:schemeClr val="bg1"/>
                </a:solidFill>
              </a:rPr>
              <a:t>순환신경망</a:t>
            </a:r>
            <a:r>
              <a:rPr lang="en-US" altLang="ko-KR" sz="2800" b="1">
                <a:solidFill>
                  <a:schemeClr val="bg1"/>
                </a:solidFill>
              </a:rPr>
              <a:t>(8/12)</a:t>
            </a:r>
            <a:endParaRPr lang="ko-KR" altLang="en-US" sz="2800" b="1">
              <a:solidFill>
                <a:schemeClr val="bg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F575968-7760-4BCF-998E-DAEFFD5502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0221" y="1139990"/>
            <a:ext cx="8733453" cy="4578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4640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E570E6-41AE-4DE2-93D2-E8C9DA0B2D7B}"/>
              </a:ext>
            </a:extLst>
          </p:cNvPr>
          <p:cNvSpPr txBox="1"/>
          <p:nvPr/>
        </p:nvSpPr>
        <p:spPr>
          <a:xfrm>
            <a:off x="5154075" y="143432"/>
            <a:ext cx="30187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>
                <a:solidFill>
                  <a:schemeClr val="bg1"/>
                </a:solidFill>
              </a:rPr>
              <a:t>순환신경망</a:t>
            </a:r>
            <a:r>
              <a:rPr lang="en-US" altLang="ko-KR" sz="2800" b="1">
                <a:solidFill>
                  <a:schemeClr val="bg1"/>
                </a:solidFill>
              </a:rPr>
              <a:t>(9/12)</a:t>
            </a:r>
            <a:endParaRPr lang="ko-KR" altLang="en-US" sz="2800" b="1">
              <a:solidFill>
                <a:schemeClr val="bg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DA785BF-3CC7-4FAD-A317-92C694E08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1042544"/>
            <a:ext cx="8686800" cy="4622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8385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E570E6-41AE-4DE2-93D2-E8C9DA0B2D7B}"/>
              </a:ext>
            </a:extLst>
          </p:cNvPr>
          <p:cNvSpPr txBox="1"/>
          <p:nvPr/>
        </p:nvSpPr>
        <p:spPr>
          <a:xfrm>
            <a:off x="4482417" y="152397"/>
            <a:ext cx="32271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>
                <a:solidFill>
                  <a:schemeClr val="bg1"/>
                </a:solidFill>
              </a:rPr>
              <a:t>순환신경망</a:t>
            </a:r>
            <a:r>
              <a:rPr lang="en-US" altLang="ko-KR" sz="2800" b="1">
                <a:solidFill>
                  <a:schemeClr val="bg1"/>
                </a:solidFill>
              </a:rPr>
              <a:t>(10/12)</a:t>
            </a:r>
            <a:endParaRPr lang="ko-KR" altLang="en-US" sz="2800" b="1">
              <a:solidFill>
                <a:schemeClr val="bg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46C6F28-E7EE-4C82-9AA5-CD281C4DCF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3486" y="1092261"/>
            <a:ext cx="8892073" cy="4196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216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E570E6-41AE-4DE2-93D2-E8C9DA0B2D7B}"/>
              </a:ext>
            </a:extLst>
          </p:cNvPr>
          <p:cNvSpPr txBox="1"/>
          <p:nvPr/>
        </p:nvSpPr>
        <p:spPr>
          <a:xfrm>
            <a:off x="5154075" y="143432"/>
            <a:ext cx="32271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>
                <a:solidFill>
                  <a:schemeClr val="bg1"/>
                </a:solidFill>
              </a:rPr>
              <a:t>순환신경망</a:t>
            </a:r>
            <a:r>
              <a:rPr lang="en-US" altLang="ko-KR" sz="2800" b="1">
                <a:solidFill>
                  <a:schemeClr val="bg1"/>
                </a:solidFill>
              </a:rPr>
              <a:t>(11/12)</a:t>
            </a:r>
            <a:endParaRPr lang="ko-KR" altLang="en-US" sz="2800" b="1">
              <a:solidFill>
                <a:schemeClr val="bg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48C2854-E8B0-498C-BA4B-1727CAC354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6119" y="1038640"/>
            <a:ext cx="7479848" cy="513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9323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E570E6-41AE-4DE2-93D2-E8C9DA0B2D7B}"/>
              </a:ext>
            </a:extLst>
          </p:cNvPr>
          <p:cNvSpPr txBox="1"/>
          <p:nvPr/>
        </p:nvSpPr>
        <p:spPr>
          <a:xfrm>
            <a:off x="4482417" y="80679"/>
            <a:ext cx="32271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>
                <a:solidFill>
                  <a:schemeClr val="bg1"/>
                </a:solidFill>
              </a:rPr>
              <a:t>순환신경망</a:t>
            </a:r>
            <a:r>
              <a:rPr lang="en-US" altLang="ko-KR" sz="2800" b="1">
                <a:solidFill>
                  <a:schemeClr val="bg1"/>
                </a:solidFill>
              </a:rPr>
              <a:t>(12/12)</a:t>
            </a:r>
            <a:endParaRPr lang="ko-KR" altLang="en-US" sz="2800" b="1">
              <a:solidFill>
                <a:schemeClr val="bg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BD0D99D-3821-4FBF-83E7-C88229A0A8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848" y="1031172"/>
            <a:ext cx="1981200" cy="43338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645733E-6509-4FC1-BB6E-015846E71C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9817" y="860842"/>
            <a:ext cx="8835335" cy="48227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29D2065-CA61-495B-8DF4-54E4D3B414A3}"/>
              </a:ext>
            </a:extLst>
          </p:cNvPr>
          <p:cNvSpPr txBox="1"/>
          <p:nvPr/>
        </p:nvSpPr>
        <p:spPr>
          <a:xfrm>
            <a:off x="3083859" y="3926542"/>
            <a:ext cx="22573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/>
              <a:t>model = Sequential()</a:t>
            </a:r>
            <a:endParaRPr lang="ko-KR" altLang="en-US" sz="1600" b="1"/>
          </a:p>
        </p:txBody>
      </p:sp>
    </p:spTree>
    <p:extLst>
      <p:ext uri="{BB962C8B-B14F-4D97-AF65-F5344CB8AC3E}">
        <p14:creationId xmlns:p14="http://schemas.microsoft.com/office/powerpoint/2010/main" val="33533133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E570E6-41AE-4DE2-93D2-E8C9DA0B2D7B}"/>
              </a:ext>
            </a:extLst>
          </p:cNvPr>
          <p:cNvSpPr txBox="1"/>
          <p:nvPr/>
        </p:nvSpPr>
        <p:spPr>
          <a:xfrm>
            <a:off x="4261203" y="161362"/>
            <a:ext cx="33105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>
                <a:solidFill>
                  <a:schemeClr val="bg1"/>
                </a:solidFill>
              </a:rPr>
              <a:t>파이썬 딥러닝 실습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B300546-A185-4C3D-8316-0B4C1D2532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460" y="940150"/>
            <a:ext cx="5571004" cy="47446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ECF7AE3-F7EF-4054-8739-009C549D4ECF}"/>
              </a:ext>
            </a:extLst>
          </p:cNvPr>
          <p:cNvSpPr txBox="1"/>
          <p:nvPr/>
        </p:nvSpPr>
        <p:spPr>
          <a:xfrm>
            <a:off x="6194611" y="1083585"/>
            <a:ext cx="5225277" cy="3970318"/>
          </a:xfrm>
          <a:prstGeom prst="rect">
            <a:avLst/>
          </a:prstGeom>
          <a:solidFill>
            <a:srgbClr val="FFFFCC"/>
          </a:solidFill>
        </p:spPr>
        <p:txBody>
          <a:bodyPr wrap="none" rtlCol="0">
            <a:spAutoFit/>
          </a:bodyPr>
          <a:lstStyle/>
          <a:p>
            <a:r>
              <a:rPr lang="en-US" altLang="ko-KR"/>
              <a:t># </a:t>
            </a:r>
            <a:r>
              <a:rPr lang="ko-KR" altLang="en-US"/>
              <a:t>아나콘다 </a:t>
            </a:r>
            <a:r>
              <a:rPr lang="en-US" altLang="ko-KR"/>
              <a:t>Power Shell</a:t>
            </a:r>
            <a:r>
              <a:rPr lang="ko-KR" altLang="en-US"/>
              <a:t>을 관리자모드로 실행 후</a:t>
            </a:r>
            <a:r>
              <a:rPr lang="en-US" altLang="ko-KR"/>
              <a:t>,</a:t>
            </a:r>
          </a:p>
          <a:p>
            <a:r>
              <a:rPr lang="en-US" altLang="ko-KR"/>
              <a:t>#</a:t>
            </a:r>
            <a:r>
              <a:rPr lang="ko-KR" altLang="en-US"/>
              <a:t>다음 명령어를 순차적으로 입력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en-US" altLang="ko-KR" b="1">
                <a:solidFill>
                  <a:srgbClr val="002060"/>
                </a:solidFill>
              </a:rPr>
              <a:t>conda create -n tfenv python=3.10</a:t>
            </a:r>
          </a:p>
          <a:p>
            <a:r>
              <a:rPr lang="en-US" altLang="ko-KR" b="1">
                <a:solidFill>
                  <a:srgbClr val="002060"/>
                </a:solidFill>
              </a:rPr>
              <a:t>conda activate tfenv</a:t>
            </a:r>
          </a:p>
          <a:p>
            <a:r>
              <a:rPr lang="en-US" altLang="ko-KR" b="1">
                <a:solidFill>
                  <a:srgbClr val="002060"/>
                </a:solidFill>
              </a:rPr>
              <a:t>pip install tensorflow</a:t>
            </a:r>
          </a:p>
          <a:p>
            <a:r>
              <a:rPr lang="en-US" altLang="ko-KR" b="1">
                <a:solidFill>
                  <a:srgbClr val="002060"/>
                </a:solidFill>
              </a:rPr>
              <a:t>pip install numpy==1.26.4</a:t>
            </a:r>
          </a:p>
          <a:p>
            <a:r>
              <a:rPr lang="en-US" altLang="ko-KR" b="1">
                <a:solidFill>
                  <a:srgbClr val="002060"/>
                </a:solidFill>
              </a:rPr>
              <a:t>pip install pandas</a:t>
            </a:r>
          </a:p>
          <a:p>
            <a:r>
              <a:rPr lang="en-US" altLang="ko-KR" b="1">
                <a:solidFill>
                  <a:srgbClr val="002060"/>
                </a:solidFill>
              </a:rPr>
              <a:t>pip install matplotlib</a:t>
            </a:r>
          </a:p>
          <a:p>
            <a:r>
              <a:rPr lang="en-US" altLang="ko-KR" b="1">
                <a:solidFill>
                  <a:srgbClr val="002060"/>
                </a:solidFill>
              </a:rPr>
              <a:t>pip install scikit-learn</a:t>
            </a:r>
          </a:p>
          <a:p>
            <a:r>
              <a:rPr lang="en-US" altLang="ko-KR" b="1">
                <a:solidFill>
                  <a:srgbClr val="002060"/>
                </a:solidFill>
              </a:rPr>
              <a:t>pip install spyder</a:t>
            </a:r>
          </a:p>
          <a:p>
            <a:r>
              <a:rPr lang="en-US" altLang="ko-KR" b="1">
                <a:solidFill>
                  <a:srgbClr val="002060"/>
                </a:solidFill>
              </a:rPr>
              <a:t>spyder </a:t>
            </a:r>
            <a:endParaRPr lang="ko-KR" altLang="en-US" b="1">
              <a:solidFill>
                <a:srgbClr val="002060"/>
              </a:solidFill>
            </a:endParaRPr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55695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TextBox 1">
            <a:extLst>
              <a:ext uri="{FF2B5EF4-FFF2-40B4-BE49-F238E27FC236}">
                <a16:creationId xmlns:a16="http://schemas.microsoft.com/office/drawing/2014/main" id="{2DB29A70-DB06-4203-9F65-D6C3B13B15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2465388"/>
            <a:ext cx="4233863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/>
            <a:r>
              <a:rPr lang="ko-KR" altLang="en-US" sz="6000" b="1">
                <a:solidFill>
                  <a:srgbClr val="0070C0"/>
                </a:solidFill>
              </a:rPr>
              <a:t>감사합니다</a:t>
            </a:r>
            <a:r>
              <a:rPr lang="en-US" altLang="ko-KR" sz="6000" b="1">
                <a:solidFill>
                  <a:srgbClr val="0070C0"/>
                </a:solidFill>
              </a:rPr>
              <a:t>.</a:t>
            </a:r>
            <a:endParaRPr lang="ko-KR" altLang="en-US" sz="6000" b="1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8576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7930</TotalTime>
  <Words>426</Words>
  <Application>Microsoft Office PowerPoint</Application>
  <PresentationFormat>와이드스크린</PresentationFormat>
  <Paragraphs>139</Paragraphs>
  <Slides>30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4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1210</cp:revision>
  <dcterms:created xsi:type="dcterms:W3CDTF">2024-09-09T09:01:14Z</dcterms:created>
  <dcterms:modified xsi:type="dcterms:W3CDTF">2025-09-25T20:25:22Z</dcterms:modified>
</cp:coreProperties>
</file>