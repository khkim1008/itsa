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87" r:id="rId2"/>
    <p:sldId id="535" r:id="rId3"/>
    <p:sldId id="520" r:id="rId4"/>
    <p:sldId id="536" r:id="rId5"/>
    <p:sldId id="532" r:id="rId6"/>
    <p:sldId id="534" r:id="rId7"/>
    <p:sldId id="527" r:id="rId8"/>
    <p:sldId id="528" r:id="rId9"/>
    <p:sldId id="529" r:id="rId10"/>
    <p:sldId id="530" r:id="rId11"/>
    <p:sldId id="526" r:id="rId12"/>
    <p:sldId id="491" r:id="rId13"/>
    <p:sldId id="500" r:id="rId14"/>
    <p:sldId id="537" r:id="rId15"/>
    <p:sldId id="539" r:id="rId16"/>
    <p:sldId id="538" r:id="rId17"/>
    <p:sldId id="540" r:id="rId18"/>
    <p:sldId id="438" r:id="rId19"/>
  </p:sldIdLst>
  <p:sldSz cx="12192000" cy="6858000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FF99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81" autoAdjust="0"/>
  </p:normalViewPr>
  <p:slideViewPr>
    <p:cSldViewPr snapToGrid="0">
      <p:cViewPr varScale="1">
        <p:scale>
          <a:sx n="107" d="100"/>
          <a:sy n="107" d="100"/>
        </p:scale>
        <p:origin x="6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06"/>
    </p:cViewPr>
  </p:sorterViewPr>
  <p:notesViewPr>
    <p:cSldViewPr snapToGrid="0">
      <p:cViewPr varScale="1">
        <p:scale>
          <a:sx n="86" d="100"/>
          <a:sy n="86" d="100"/>
        </p:scale>
        <p:origin x="386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DE57BD7-6E0A-4654-8A8E-45C9B546CB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90836C-64D8-4B00-AF23-4EC6ECD071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8A3DF36-72CB-4BD0-95EF-0A4C8AB0C029}" type="datetimeFigureOut">
              <a:rPr lang="ko-KR" altLang="en-US"/>
              <a:pPr>
                <a:defRPr/>
              </a:pPr>
              <a:t>2025-10-24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3CE8BD2C-751C-4D6A-BAA0-6B48B088C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219AC6DE-15A7-4637-BE2A-1F6A92DAAB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 편집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A6FB4F-BC62-43BA-8162-7B34D70C09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73F8414-35E0-440F-9014-C342F8BBA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53F1AAE-D5E4-44D4-AE0C-3A0245E2814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944ECADE-0669-4872-8D8E-C5CB57DCD3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3B427204-7DE6-4C76-AF97-3E2CB57B1C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F3D1D7C0-6309-4C8D-85CA-77DA949686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3300433-F9B5-4E0B-BA5E-40933C2DF285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404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7215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833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64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50040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9215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558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4276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4690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94274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316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8629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9056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42628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65230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A4261-55F5-4066-9E06-2EC8008B092C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89072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슬라이드 이미지 개체 틀 1">
            <a:extLst>
              <a:ext uri="{FF2B5EF4-FFF2-40B4-BE49-F238E27FC236}">
                <a16:creationId xmlns:a16="http://schemas.microsoft.com/office/drawing/2014/main" id="{7D134615-8354-4988-90A3-ACC602B443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슬라이드 노트 개체 틀 2">
            <a:extLst>
              <a:ext uri="{FF2B5EF4-FFF2-40B4-BE49-F238E27FC236}">
                <a16:creationId xmlns:a16="http://schemas.microsoft.com/office/drawing/2014/main" id="{09D80C2F-1DF4-4032-9AAC-F267E47823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99332" name="슬라이드 번호 개체 틀 3">
            <a:extLst>
              <a:ext uri="{FF2B5EF4-FFF2-40B4-BE49-F238E27FC236}">
                <a16:creationId xmlns:a16="http://schemas.microsoft.com/office/drawing/2014/main" id="{B606F641-B9C1-42A4-B9E0-4AE21EF710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978118F-0833-4CE6-ACF9-EDCD7E8F2FDC}" type="slidenum">
              <a:rPr lang="ko-KR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168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3E70D-639B-4F24-9546-1A1D88E92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29BD01-DB6D-481D-8812-AC619E822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CB16EF-AF43-443C-964F-E3637FEDE5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5D93F610-EC9F-49AF-BEE7-BFECFBEE6B62}" type="datetimeFigureOut">
              <a:rPr lang="ko-KR" altLang="en-US"/>
              <a:pPr>
                <a:defRPr/>
              </a:pPr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C4EA2F-911D-48DE-8BEF-3CAA8C66B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5EBBB8-3312-4ED0-8229-46139B8B3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358AB4F4-AAE8-4439-8C60-54BA36FC84B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246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9769A8-9AF7-406A-9493-ABFDEEB62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2DDFD6-07A0-4F2E-AAA4-B8EBF1FD4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92C10F-8AD1-4CEE-B22F-D5531E702C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7DEF653-2431-4A0E-9654-9ACB9D51FBE7}" type="datetimeFigureOut">
              <a:rPr lang="ko-KR" altLang="en-US"/>
              <a:pPr>
                <a:defRPr/>
              </a:pPr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535EECA-72DC-4BD4-B0AB-FA64181B6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60EC19-3B01-4402-96B5-C499BD89A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4E1167C-F991-4836-8C18-AE230C6BF58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661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54FECC-54DA-4AE7-A17E-22058E2CE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D8DFE1E-F1FA-45E7-983F-80552D737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AEA5F0-8154-43A8-8D33-471531B12E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3F262E2-F89F-4A75-B54F-D6A8EF2BF1D9}" type="datetimeFigureOut">
              <a:rPr lang="ko-KR" altLang="en-US"/>
              <a:pPr>
                <a:defRPr/>
              </a:pPr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314E77-F129-48B9-AC09-211BAEF70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0FB410-842C-48FF-BFF7-119062E7B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938400F-1A3B-4F2D-8A86-FE816161704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9B64CD-C159-42EE-9204-80C8CA91D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5E1860-5D8C-4122-8171-2DF7F74BE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030E9D-78D7-42AB-BE75-DCC781A2C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5BC3B4-068C-4788-9769-E92FD9620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3B8D971-5704-4145-A919-9D554FEA486D}" type="datetimeFigureOut">
              <a:rPr lang="ko-KR" altLang="en-US"/>
              <a:pPr>
                <a:defRPr/>
              </a:pPr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8AFBA1-12A0-4947-A3CD-1A8E91F71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DA3913B-B113-47D4-84EA-EB6436573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3363F4B-481F-40B9-AF0B-5BC614D296D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904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17A24-C952-4A9A-B023-1E809E300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C70054-A956-453B-ADB4-760D845B6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8F5E92-8FF3-47E1-B76E-9ED7E685B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D61E73-1E7C-48BE-A066-630009497B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D66483-D5D0-4515-BE36-5F11985994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514F2B-EEC2-4AB0-B950-A46D79B5A0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3B7BDD3F-43B3-4C4F-8D08-A54CB3D7E68D}" type="datetimeFigureOut">
              <a:rPr lang="ko-KR" altLang="en-US"/>
              <a:pPr>
                <a:defRPr/>
              </a:pPr>
              <a:t>2025-10-24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F24F9E2-F0E1-41AA-BCF4-EE8BAA01B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9F09759-156F-4647-9F42-84D66ABF7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65DD5644-BEC7-463E-B6D9-F45E0D64698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9832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FBF5D4-9CC4-443F-A94E-0956745B5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FE8C62-0803-48ED-A0C0-4641E34249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73355378-CBBB-46C3-9CB1-42FDE5043C5B}" type="datetimeFigureOut">
              <a:rPr lang="ko-KR" altLang="en-US"/>
              <a:pPr>
                <a:defRPr/>
              </a:pPr>
              <a:t>2025-10-24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BB9E311-E6EA-4E0E-908C-3C6DB9F00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0BB1C2-B304-4BA4-8AC9-50C1E26F0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312DAEF-D8BE-4A95-9621-3C7C61594A2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9702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F610685-5AA5-4BCE-A1A5-33921F02192B}"/>
              </a:ext>
            </a:extLst>
          </p:cNvPr>
          <p:cNvSpPr/>
          <p:nvPr userDrawn="1"/>
        </p:nvSpPr>
        <p:spPr>
          <a:xfrm>
            <a:off x="0" y="0"/>
            <a:ext cx="12192000" cy="906463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837423A-65A9-4B83-BDCA-3F6F474D4956}"/>
              </a:ext>
            </a:extLst>
          </p:cNvPr>
          <p:cNvSpPr/>
          <p:nvPr userDrawn="1"/>
        </p:nvSpPr>
        <p:spPr>
          <a:xfrm>
            <a:off x="0" y="6375400"/>
            <a:ext cx="12192000" cy="51593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4" name="바닥글 개체 틀 2">
            <a:extLst>
              <a:ext uri="{FF2B5EF4-FFF2-40B4-BE49-F238E27FC236}">
                <a16:creationId xmlns:a16="http://schemas.microsoft.com/office/drawing/2014/main" id="{03C89755-87E1-4D6C-B740-03B4E772C406}"/>
              </a:ext>
            </a:extLst>
          </p:cNvPr>
          <p:cNvSpPr txBox="1">
            <a:spLocks/>
          </p:cNvSpPr>
          <p:nvPr userDrawn="1"/>
        </p:nvSpPr>
        <p:spPr>
          <a:xfrm>
            <a:off x="104775" y="6453188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>
                <a:solidFill>
                  <a:schemeClr val="bg1"/>
                </a:solidFill>
              </a:rPr>
              <a:t>빅데이터분석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737D079-2C0D-4521-A876-B9F4A5FA5F09}"/>
              </a:ext>
            </a:extLst>
          </p:cNvPr>
          <p:cNvSpPr txBox="1">
            <a:spLocks/>
          </p:cNvSpPr>
          <p:nvPr userDrawn="1"/>
        </p:nvSpPr>
        <p:spPr>
          <a:xfrm>
            <a:off x="9281720" y="6452429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9A57A4BD-6EDC-46A2-834B-61CF7CE0EBB4}" type="slidenum">
              <a:rPr lang="ko-KR" altLang="en-US" sz="1400" b="1" smtClean="0">
                <a:highlight>
                  <a:srgbClr val="FFFF00"/>
                </a:highlight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ko-KR" altLang="en-US" sz="1400" b="1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5993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E6E4C-8DC1-4A6E-90F7-4279984F9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DBCDBD-ABFC-4B82-96DF-BB8BEE9C8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F6CFB77-90F2-48E2-8A9E-01A4DBE30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1036D9-3BB3-46E6-B802-D293EB269A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158422B7-24C4-472A-88B6-6AA6CE96B749}" type="datetimeFigureOut">
              <a:rPr lang="ko-KR" altLang="en-US"/>
              <a:pPr>
                <a:defRPr/>
              </a:pPr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436836-273F-4845-A376-27200544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B74232-E956-49BA-BDA5-BA77544F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10B0596-D5FC-4448-AEED-9D032750900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8983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E77DCA-43CC-47A7-88FB-A41ECECB4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237996-607D-4B3D-BAC5-25D979EA01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9851F2-09B6-4956-9BF0-DFEF038CA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5C56C3-12A8-4759-8E4A-40EA84B33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17EDF4F-80DE-426F-943F-FF36A6E1559A}" type="datetimeFigureOut">
              <a:rPr lang="ko-KR" altLang="en-US"/>
              <a:pPr>
                <a:defRPr/>
              </a:pPr>
              <a:t>2025-10-24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A47C3B-8032-4D3E-A47B-4B42405E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3CFC89-AEEF-4956-BE87-8BC4DE099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296D3F32-FF73-4782-9A44-4690EBFCA6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4214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B2C7B6-4FA9-4E7B-80EB-4943C2A97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0FEE5A-6421-4F73-841B-000457CEDF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4BDD94-E9E6-406E-A82E-C020B84125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F8A923E1-B626-4A76-A4A7-3115B0A6081E}" type="datetimeFigureOut">
              <a:rPr lang="ko-KR" altLang="en-US"/>
              <a:pPr>
                <a:defRPr/>
              </a:pPr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BFED8-F9E0-4F82-881D-E9B658914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BB101-8682-41CF-889C-33F581DAD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0FA2CD7F-A1BC-4C3E-B760-D215897D13B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89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F15334E-4487-4417-967C-1054F7FAAC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96C0DBE-A6CA-4D05-A2C8-13FBC03B1B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2B6FFD-80C7-4D3E-B5D7-444EFD0C27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E945837B-DF37-466E-9BF2-3F16DC998E80}" type="datetimeFigureOut">
              <a:rPr lang="ko-KR" altLang="en-US"/>
              <a:pPr>
                <a:defRPr/>
              </a:pPr>
              <a:t>2025-10-24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A3EF1A-449A-4DB3-9434-6F6DB4340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BCB683-FD5A-4B72-BD46-BFF8BD502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eaLnBrk="1" fontAlgn="auto" latinLnBrk="1" hangingPunct="1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fld id="{9A05E1FA-DA96-4D65-98BA-2FD6AD42277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107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E86BCFE-0854-406E-BAA5-E392B5800975}"/>
              </a:ext>
            </a:extLst>
          </p:cNvPr>
          <p:cNvSpPr/>
          <p:nvPr userDrawn="1"/>
        </p:nvSpPr>
        <p:spPr>
          <a:xfrm>
            <a:off x="0" y="0"/>
            <a:ext cx="12192000" cy="763588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EA93F6A-40FD-4B81-A662-D35E24C518E6}"/>
              </a:ext>
            </a:extLst>
          </p:cNvPr>
          <p:cNvSpPr/>
          <p:nvPr userDrawn="1"/>
        </p:nvSpPr>
        <p:spPr>
          <a:xfrm>
            <a:off x="0" y="6411913"/>
            <a:ext cx="12192000" cy="446087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/>
          </a:p>
        </p:txBody>
      </p:sp>
      <p:sp>
        <p:nvSpPr>
          <p:cNvPr id="9" name="바닥글 개체 틀 2">
            <a:extLst>
              <a:ext uri="{FF2B5EF4-FFF2-40B4-BE49-F238E27FC236}">
                <a16:creationId xmlns:a16="http://schemas.microsoft.com/office/drawing/2014/main" id="{AF16C193-7CA1-46B5-A79B-0B26BD580F18}"/>
              </a:ext>
            </a:extLst>
          </p:cNvPr>
          <p:cNvSpPr txBox="1">
            <a:spLocks/>
          </p:cNvSpPr>
          <p:nvPr userDrawn="1"/>
        </p:nvSpPr>
        <p:spPr>
          <a:xfrm>
            <a:off x="104775" y="6453188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b="1">
                <a:solidFill>
                  <a:schemeClr val="bg1"/>
                </a:solidFill>
              </a:rPr>
              <a:t>머신러닝</a:t>
            </a:r>
            <a:r>
              <a:rPr lang="en-US" altLang="ko-KR" b="1">
                <a:solidFill>
                  <a:schemeClr val="bg1"/>
                </a:solidFill>
              </a:rPr>
              <a:t>/</a:t>
            </a:r>
            <a:r>
              <a:rPr lang="ko-KR" altLang="en-US" b="1">
                <a:solidFill>
                  <a:schemeClr val="bg1"/>
                </a:solidFill>
              </a:rPr>
              <a:t>딥러닝</a:t>
            </a: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1B77644E-9142-4F20-8A5E-A4B49795C21C}"/>
              </a:ext>
            </a:extLst>
          </p:cNvPr>
          <p:cNvSpPr txBox="1">
            <a:spLocks/>
          </p:cNvSpPr>
          <p:nvPr userDrawn="1"/>
        </p:nvSpPr>
        <p:spPr>
          <a:xfrm>
            <a:off x="9344025" y="6453188"/>
            <a:ext cx="2743200" cy="365125"/>
          </a:xfrm>
          <a:prstGeom prst="rect">
            <a:avLst/>
          </a:prstGeom>
          <a:noFill/>
        </p:spPr>
        <p:txBody>
          <a:bodyPr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fld id="{7C3584EE-FCFA-4EFB-96C3-7202F341AB65}" type="slidenum">
              <a:rPr lang="ko-KR" altLang="en-US" sz="1600" b="1" smtClean="0">
                <a:solidFill>
                  <a:schemeClr val="bg1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ko-KR" altLang="en-US" sz="1600" b="1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</p:sldLayoutIdLst>
  <p:txStyles>
    <p:titleStyle>
      <a:lvl1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2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4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6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800" algn="l" rtl="0" fontAlgn="base" latinLnBrk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marL="228600" indent="-228600" algn="l" rtl="0" eaLnBrk="0" fontAlgn="base" latinLnBrk="1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gpt.com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emini.google.com/app?hl=ko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Box 1">
            <a:extLst>
              <a:ext uri="{FF2B5EF4-FFF2-40B4-BE49-F238E27FC236}">
                <a16:creationId xmlns:a16="http://schemas.microsoft.com/office/drawing/2014/main" id="{A7751103-04CE-4552-8DD0-29E3DCA86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73" y="1245533"/>
            <a:ext cx="1062823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/>
            <a:r>
              <a:rPr lang="en-US" altLang="ko-KR" sz="4800" b="1">
                <a:solidFill>
                  <a:srgbClr val="7030A0"/>
                </a:solidFill>
              </a:rPr>
              <a:t>Navigation</a:t>
            </a:r>
            <a:r>
              <a:rPr lang="ko-KR" altLang="en-US" sz="4800" b="1">
                <a:solidFill>
                  <a:srgbClr val="7030A0"/>
                </a:solidFill>
              </a:rPr>
              <a:t>시스템 도착 예측 모델링 </a:t>
            </a:r>
            <a:endParaRPr lang="ko-KR" altLang="en-US" sz="4800" b="1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B0D86E-DDC0-41BE-B7BB-DEBBACD16BF7}"/>
              </a:ext>
            </a:extLst>
          </p:cNvPr>
          <p:cNvSpPr txBox="1"/>
          <p:nvPr/>
        </p:nvSpPr>
        <p:spPr>
          <a:xfrm>
            <a:off x="2396775" y="2196147"/>
            <a:ext cx="6684471" cy="3785652"/>
          </a:xfrm>
          <a:prstGeom prst="rect">
            <a:avLst/>
          </a:prstGeom>
          <a:solidFill>
            <a:srgbClr val="FFFF99"/>
          </a:solidFill>
        </p:spPr>
        <p:txBody>
          <a:bodyPr wrap="square">
            <a:spAutoFit/>
          </a:bodyPr>
          <a:lstStyle/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도메인의 이해</a:t>
            </a:r>
            <a:endParaRPr lang="en-US" altLang="ko-KR" sz="2400" b="1">
              <a:solidFill>
                <a:srgbClr val="002060"/>
              </a:solidFill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분석대상 데이터 이해 </a:t>
            </a:r>
            <a:endParaRPr lang="en-US" altLang="ko-KR" sz="2400" b="1">
              <a:solidFill>
                <a:srgbClr val="002060"/>
              </a:solidFill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데이터탐색</a:t>
            </a:r>
            <a:r>
              <a:rPr lang="en-US" altLang="ko-KR" sz="2400" b="1">
                <a:solidFill>
                  <a:srgbClr val="002060"/>
                </a:solidFill>
                <a:latin typeface="+mn-lt"/>
                <a:ea typeface="+mn-ea"/>
              </a:rPr>
              <a:t>(</a:t>
            </a: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시각화</a:t>
            </a:r>
            <a:r>
              <a:rPr lang="en-US" altLang="ko-KR" sz="2400" b="1">
                <a:solidFill>
                  <a:srgbClr val="002060"/>
                </a:solidFill>
                <a:latin typeface="+mn-lt"/>
                <a:ea typeface="+mn-ea"/>
              </a:rPr>
              <a:t>)</a:t>
            </a: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데이터 전처리</a:t>
            </a:r>
            <a:endParaRPr lang="en-US" altLang="ko-KR" sz="2400" b="1">
              <a:solidFill>
                <a:srgbClr val="002060"/>
              </a:solidFill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002060"/>
                </a:solidFill>
              </a:rPr>
              <a:t>파이썬 실습</a:t>
            </a:r>
            <a:endParaRPr lang="en-US" altLang="ko-KR" sz="2400" b="1">
              <a:solidFill>
                <a:srgbClr val="002060"/>
              </a:solidFill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002060"/>
                </a:solidFill>
                <a:latin typeface="+mn-lt"/>
                <a:ea typeface="+mn-ea"/>
              </a:rPr>
              <a:t>인공지능 활용을 통한 데이터분석 및 전처리</a:t>
            </a:r>
            <a:endParaRPr lang="en-US" altLang="ko-KR" sz="2400" b="1">
              <a:solidFill>
                <a:srgbClr val="002060"/>
              </a:solidFill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92D050"/>
                </a:solidFill>
                <a:latin typeface="+mn-lt"/>
                <a:ea typeface="+mn-ea"/>
              </a:rPr>
              <a:t>추론모델과 예측모델</a:t>
            </a:r>
            <a:endParaRPr lang="en-US" altLang="ko-KR" sz="2400" b="1">
              <a:solidFill>
                <a:srgbClr val="92D050"/>
              </a:solidFill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92D050"/>
                </a:solidFill>
                <a:latin typeface="+mn-lt"/>
                <a:ea typeface="+mn-ea"/>
              </a:rPr>
              <a:t>머신러닝 모델링</a:t>
            </a:r>
            <a:endParaRPr lang="en-US" altLang="ko-KR" sz="2400" b="1">
              <a:solidFill>
                <a:srgbClr val="92D050"/>
              </a:solidFill>
              <a:latin typeface="+mn-lt"/>
              <a:ea typeface="+mn-ea"/>
            </a:endParaRP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92D050"/>
                </a:solidFill>
                <a:latin typeface="+mn-lt"/>
                <a:ea typeface="+mn-ea"/>
              </a:rPr>
              <a:t>딥러닝 모델링</a:t>
            </a:r>
            <a:r>
              <a:rPr lang="en-US" altLang="ko-KR" sz="2400" b="1">
                <a:solidFill>
                  <a:srgbClr val="92D050"/>
                </a:solidFill>
                <a:latin typeface="+mn-lt"/>
                <a:ea typeface="+mn-ea"/>
              </a:rPr>
              <a:t> </a:t>
            </a:r>
          </a:p>
          <a:p>
            <a:pPr marL="285750" indent="-285750" eaLnBrk="1" fontAlgn="auto" latinLnBrk="1" hangingPunct="1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2400" b="1">
                <a:solidFill>
                  <a:srgbClr val="92D050"/>
                </a:solidFill>
                <a:latin typeface="+mn-lt"/>
                <a:ea typeface="+mn-ea"/>
              </a:rPr>
              <a:t>파이썬 실습</a:t>
            </a:r>
            <a:endParaRPr lang="en-US" altLang="ko-KR" sz="2400" b="1">
              <a:solidFill>
                <a:srgbClr val="92D050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A09DEFC-A4B6-4F5F-AFC9-1D77836F7F8A}"/>
              </a:ext>
            </a:extLst>
          </p:cNvPr>
          <p:cNvSpPr txBox="1"/>
          <p:nvPr/>
        </p:nvSpPr>
        <p:spPr>
          <a:xfrm>
            <a:off x="4366888" y="134470"/>
            <a:ext cx="3201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모델링 프로세스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010A9D-050A-41DA-A8D3-CFAC23106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709" y="1196228"/>
            <a:ext cx="9363075" cy="22193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97F19D-87BD-4035-A189-521F1953D63F}"/>
              </a:ext>
            </a:extLst>
          </p:cNvPr>
          <p:cNvSpPr txBox="1"/>
          <p:nvPr/>
        </p:nvSpPr>
        <p:spPr>
          <a:xfrm>
            <a:off x="1479178" y="3569370"/>
            <a:ext cx="110799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2060"/>
                </a:solidFill>
              </a:rPr>
              <a:t>문제이해</a:t>
            </a:r>
            <a:endParaRPr lang="en-US" altLang="ko-KR" b="1">
              <a:solidFill>
                <a:srgbClr val="002060"/>
              </a:solidFill>
            </a:endParaRPr>
          </a:p>
          <a:p>
            <a:r>
              <a:rPr lang="ko-KR" altLang="en-US" b="1">
                <a:solidFill>
                  <a:srgbClr val="002060"/>
                </a:solidFill>
              </a:rPr>
              <a:t>및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BAE24E-8F1D-4228-BF9C-1C25B46D8FC0}"/>
              </a:ext>
            </a:extLst>
          </p:cNvPr>
          <p:cNvSpPr txBox="1"/>
          <p:nvPr/>
        </p:nvSpPr>
        <p:spPr>
          <a:xfrm>
            <a:off x="3451412" y="3569370"/>
            <a:ext cx="133882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2060"/>
                </a:solidFill>
              </a:rPr>
              <a:t>데이터수집</a:t>
            </a:r>
            <a:endParaRPr lang="en-US" altLang="ko-KR" b="1">
              <a:solidFill>
                <a:srgbClr val="002060"/>
              </a:solidFill>
            </a:endParaRPr>
          </a:p>
          <a:p>
            <a:r>
              <a:rPr lang="ko-KR" altLang="en-US" b="1">
                <a:solidFill>
                  <a:srgbClr val="002060"/>
                </a:solidFill>
              </a:rPr>
              <a:t>데이터병합</a:t>
            </a:r>
            <a:endParaRPr lang="en-US" altLang="ko-KR" b="1">
              <a:solidFill>
                <a:srgbClr val="002060"/>
              </a:solidFill>
            </a:endParaRPr>
          </a:p>
          <a:p>
            <a:r>
              <a:rPr lang="ko-KR" altLang="en-US" b="1">
                <a:solidFill>
                  <a:srgbClr val="002060"/>
                </a:solidFill>
              </a:rPr>
              <a:t>시각화</a:t>
            </a:r>
            <a:endParaRPr lang="en-US" altLang="ko-KR" b="1">
              <a:solidFill>
                <a:srgbClr val="002060"/>
              </a:solidFill>
            </a:endParaRPr>
          </a:p>
          <a:p>
            <a:r>
              <a:rPr lang="ko-KR" altLang="en-US" b="1">
                <a:solidFill>
                  <a:srgbClr val="002060"/>
                </a:solidFill>
              </a:rPr>
              <a:t>상관분석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73D0A5-D438-4A33-BFCE-FDE08EDEB08F}"/>
              </a:ext>
            </a:extLst>
          </p:cNvPr>
          <p:cNvSpPr txBox="1"/>
          <p:nvPr/>
        </p:nvSpPr>
        <p:spPr>
          <a:xfrm>
            <a:off x="5426586" y="3562298"/>
            <a:ext cx="142058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002060"/>
                </a:solidFill>
              </a:rPr>
              <a:t>결측치 처리</a:t>
            </a:r>
            <a:endParaRPr lang="en-US" altLang="ko-KR" b="1">
              <a:solidFill>
                <a:srgbClr val="002060"/>
              </a:solidFill>
            </a:endParaRPr>
          </a:p>
          <a:p>
            <a:r>
              <a:rPr lang="ko-KR" altLang="en-US" b="1">
                <a:solidFill>
                  <a:srgbClr val="002060"/>
                </a:solidFill>
              </a:rPr>
              <a:t>이상치 처리</a:t>
            </a:r>
            <a:endParaRPr lang="en-US" altLang="ko-KR" b="1">
              <a:solidFill>
                <a:srgbClr val="002060"/>
              </a:solidFill>
            </a:endParaRPr>
          </a:p>
          <a:p>
            <a:r>
              <a:rPr lang="ko-KR" altLang="en-US" b="1">
                <a:solidFill>
                  <a:srgbClr val="002060"/>
                </a:solidFill>
              </a:rPr>
              <a:t>변수 변환</a:t>
            </a:r>
            <a:endParaRPr lang="en-US" altLang="ko-KR" b="1">
              <a:solidFill>
                <a:srgbClr val="002060"/>
              </a:solidFill>
            </a:endParaRPr>
          </a:p>
          <a:p>
            <a:r>
              <a:rPr lang="ko-KR" altLang="en-US" b="1">
                <a:solidFill>
                  <a:srgbClr val="002060"/>
                </a:solidFill>
              </a:rPr>
              <a:t>스케일링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FEB86C-C8C2-449F-B3FA-EC9420F2E4EA}"/>
              </a:ext>
            </a:extLst>
          </p:cNvPr>
          <p:cNvSpPr txBox="1"/>
          <p:nvPr/>
        </p:nvSpPr>
        <p:spPr>
          <a:xfrm>
            <a:off x="7300209" y="3569370"/>
            <a:ext cx="156966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00B050"/>
                </a:solidFill>
              </a:rPr>
              <a:t>회귀분석</a:t>
            </a:r>
            <a:endParaRPr lang="en-US" altLang="ko-KR">
              <a:solidFill>
                <a:srgbClr val="00B050"/>
              </a:solidFill>
            </a:endParaRPr>
          </a:p>
          <a:p>
            <a:r>
              <a:rPr lang="ko-KR" altLang="en-US">
                <a:solidFill>
                  <a:srgbClr val="00B050"/>
                </a:solidFill>
              </a:rPr>
              <a:t>의사결정트리</a:t>
            </a:r>
            <a:endParaRPr lang="en-US" altLang="ko-KR">
              <a:solidFill>
                <a:srgbClr val="00B050"/>
              </a:solidFill>
            </a:endParaRPr>
          </a:p>
          <a:p>
            <a:r>
              <a:rPr lang="ko-KR" altLang="en-US">
                <a:solidFill>
                  <a:srgbClr val="00B050"/>
                </a:solidFill>
              </a:rPr>
              <a:t>랜덤포레스트</a:t>
            </a:r>
            <a:endParaRPr lang="en-US" altLang="ko-KR">
              <a:solidFill>
                <a:srgbClr val="00B050"/>
              </a:solidFill>
            </a:endParaRPr>
          </a:p>
          <a:p>
            <a:r>
              <a:rPr lang="en-US" altLang="ko-KR">
                <a:solidFill>
                  <a:srgbClr val="00B050"/>
                </a:solidFill>
              </a:rPr>
              <a:t>XGBoost</a:t>
            </a:r>
          </a:p>
          <a:p>
            <a:r>
              <a:rPr lang="ko-KR" altLang="en-US">
                <a:solidFill>
                  <a:srgbClr val="00B050"/>
                </a:solidFill>
              </a:rPr>
              <a:t>딥러닝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FD9E8C-C853-412C-A5C0-FB47EE84F1AC}"/>
              </a:ext>
            </a:extLst>
          </p:cNvPr>
          <p:cNvSpPr txBox="1"/>
          <p:nvPr/>
        </p:nvSpPr>
        <p:spPr>
          <a:xfrm>
            <a:off x="9227621" y="3570356"/>
            <a:ext cx="19639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00B050"/>
                </a:solidFill>
              </a:rPr>
              <a:t>모델 평가</a:t>
            </a:r>
            <a:endParaRPr lang="en-US" altLang="ko-KR">
              <a:solidFill>
                <a:srgbClr val="00B050"/>
              </a:solidFill>
            </a:endParaRPr>
          </a:p>
          <a:p>
            <a:r>
              <a:rPr lang="ko-KR" altLang="en-US">
                <a:solidFill>
                  <a:srgbClr val="00B050"/>
                </a:solidFill>
              </a:rPr>
              <a:t>및 파라미터 조정</a:t>
            </a:r>
          </a:p>
        </p:txBody>
      </p:sp>
    </p:spTree>
    <p:extLst>
      <p:ext uri="{BB962C8B-B14F-4D97-AF65-F5344CB8AC3E}">
        <p14:creationId xmlns:p14="http://schemas.microsoft.com/office/powerpoint/2010/main" val="2591845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FC85BFA-D99B-46D7-A930-1B7563DCFBAD}"/>
              </a:ext>
            </a:extLst>
          </p:cNvPr>
          <p:cNvSpPr txBox="1"/>
          <p:nvPr/>
        </p:nvSpPr>
        <p:spPr>
          <a:xfrm>
            <a:off x="4833052" y="89647"/>
            <a:ext cx="33297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도메인 이해</a:t>
            </a:r>
            <a:r>
              <a:rPr lang="en-US" altLang="ko-KR" sz="3200" b="1">
                <a:solidFill>
                  <a:schemeClr val="bg1"/>
                </a:solidFill>
              </a:rPr>
              <a:t>(1/3)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54A3951-30F0-49AD-8889-84C034CAD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959" y="1895402"/>
            <a:ext cx="8180345" cy="35909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01280C-45F9-4750-8D07-83B578D41E28}"/>
              </a:ext>
            </a:extLst>
          </p:cNvPr>
          <p:cNvSpPr txBox="1"/>
          <p:nvPr/>
        </p:nvSpPr>
        <p:spPr>
          <a:xfrm>
            <a:off x="394449" y="880384"/>
            <a:ext cx="903164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sz="2000" b="1">
                <a:solidFill>
                  <a:srgbClr val="00B050"/>
                </a:solidFill>
              </a:rPr>
              <a:t> </a:t>
            </a:r>
            <a:r>
              <a:rPr lang="ko-KR" altLang="en-US" sz="2000" b="1">
                <a:solidFill>
                  <a:srgbClr val="00B050"/>
                </a:solidFill>
              </a:rPr>
              <a:t>내비게이션 도착 예측 시간 정확도 향상</a:t>
            </a:r>
            <a:endParaRPr lang="en-US" altLang="ko-KR" sz="2000" b="1">
              <a:solidFill>
                <a:srgbClr val="00B05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z="2000"/>
              <a:t>  </a:t>
            </a:r>
            <a:r>
              <a:rPr lang="ko-KR" altLang="en-US" sz="2000" b="1">
                <a:solidFill>
                  <a:srgbClr val="002060"/>
                </a:solidFill>
              </a:rPr>
              <a:t>과거 주행 데이터를 기반으로 </a:t>
            </a:r>
            <a:r>
              <a:rPr lang="en-US" altLang="ko-KR" sz="2000" b="1">
                <a:solidFill>
                  <a:srgbClr val="002060"/>
                </a:solidFill>
              </a:rPr>
              <a:t>navigation </a:t>
            </a:r>
            <a:r>
              <a:rPr lang="ko-KR" altLang="en-US" sz="2000" b="1">
                <a:solidFill>
                  <a:srgbClr val="002060"/>
                </a:solidFill>
              </a:rPr>
              <a:t>도착시간 예측 정확도 개선 </a:t>
            </a:r>
          </a:p>
        </p:txBody>
      </p:sp>
    </p:spTree>
    <p:extLst>
      <p:ext uri="{BB962C8B-B14F-4D97-AF65-F5344CB8AC3E}">
        <p14:creationId xmlns:p14="http://schemas.microsoft.com/office/powerpoint/2010/main" val="4279617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FC85BFA-D99B-46D7-A930-1B7563DCFBAD}"/>
              </a:ext>
            </a:extLst>
          </p:cNvPr>
          <p:cNvSpPr txBox="1"/>
          <p:nvPr/>
        </p:nvSpPr>
        <p:spPr>
          <a:xfrm>
            <a:off x="4833052" y="89647"/>
            <a:ext cx="33297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도메인 이해</a:t>
            </a:r>
            <a:r>
              <a:rPr lang="en-US" altLang="ko-KR" sz="3200" b="1">
                <a:solidFill>
                  <a:schemeClr val="bg1"/>
                </a:solidFill>
              </a:rPr>
              <a:t>(2/3)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54A3951-30F0-49AD-8889-84C034CAD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77" y="833718"/>
            <a:ext cx="6400340" cy="28096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8F98D12-47B6-4291-953E-019F9CCCAB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657" y="4175591"/>
            <a:ext cx="7539038" cy="15906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177231-497A-43DA-90E5-6C7DD97D1991}"/>
              </a:ext>
            </a:extLst>
          </p:cNvPr>
          <p:cNvSpPr txBox="1"/>
          <p:nvPr/>
        </p:nvSpPr>
        <p:spPr>
          <a:xfrm>
            <a:off x="493059" y="380625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>
                <a:solidFill>
                  <a:srgbClr val="7030A0"/>
                </a:solidFill>
              </a:rPr>
              <a:t>경로정보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04F5AAA-EB92-4934-B779-681C1E94D0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4779" y="3643331"/>
            <a:ext cx="3098966" cy="153016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80D563C-49DF-47EA-9BF0-B2A3B02D2502}"/>
              </a:ext>
            </a:extLst>
          </p:cNvPr>
          <p:cNvSpPr txBox="1"/>
          <p:nvPr/>
        </p:nvSpPr>
        <p:spPr>
          <a:xfrm>
            <a:off x="8522208" y="1137428"/>
            <a:ext cx="2924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9933"/>
                </a:solidFill>
              </a:rPr>
              <a:t>추가정보</a:t>
            </a:r>
            <a:r>
              <a:rPr lang="en-US" altLang="ko-KR">
                <a:solidFill>
                  <a:srgbClr val="FF9933"/>
                </a:solidFill>
              </a:rPr>
              <a:t>1(</a:t>
            </a:r>
            <a:r>
              <a:rPr lang="ko-KR" altLang="en-US">
                <a:solidFill>
                  <a:srgbClr val="FF9933"/>
                </a:solidFill>
              </a:rPr>
              <a:t>경로 출발도시</a:t>
            </a:r>
            <a:r>
              <a:rPr lang="en-US" altLang="ko-KR">
                <a:solidFill>
                  <a:srgbClr val="FF9933"/>
                </a:solidFill>
              </a:rPr>
              <a:t>)</a:t>
            </a:r>
            <a:endParaRPr lang="ko-KR" altLang="en-US">
              <a:solidFill>
                <a:srgbClr val="FF9933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5186F743-3F7A-4125-BD30-BCEE81892D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208" y="1446118"/>
            <a:ext cx="3431917" cy="111673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B39336B-4F6C-4E4D-A52A-5CDEE98240C8}"/>
              </a:ext>
            </a:extLst>
          </p:cNvPr>
          <p:cNvSpPr txBox="1"/>
          <p:nvPr/>
        </p:nvSpPr>
        <p:spPr>
          <a:xfrm>
            <a:off x="8731330" y="3254188"/>
            <a:ext cx="33858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C00000"/>
                </a:solidFill>
              </a:rPr>
              <a:t>추가정보</a:t>
            </a:r>
            <a:r>
              <a:rPr lang="en-US" altLang="ko-KR">
                <a:solidFill>
                  <a:srgbClr val="C00000"/>
                </a:solidFill>
              </a:rPr>
              <a:t>2(</a:t>
            </a:r>
            <a:r>
              <a:rPr lang="ko-KR" altLang="en-US">
                <a:solidFill>
                  <a:srgbClr val="C00000"/>
                </a:solidFill>
              </a:rPr>
              <a:t>경로의 신호등 갯수</a:t>
            </a:r>
            <a:r>
              <a:rPr lang="en-US" altLang="ko-KR">
                <a:solidFill>
                  <a:srgbClr val="C00000"/>
                </a:solidFill>
              </a:rPr>
              <a:t>)</a:t>
            </a:r>
            <a:endParaRPr lang="ko-KR" altLang="en-US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223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FC85BFA-D99B-46D7-A930-1B7563DCFBAD}"/>
              </a:ext>
            </a:extLst>
          </p:cNvPr>
          <p:cNvSpPr txBox="1"/>
          <p:nvPr/>
        </p:nvSpPr>
        <p:spPr>
          <a:xfrm>
            <a:off x="4833052" y="89647"/>
            <a:ext cx="33297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도메인 이해</a:t>
            </a:r>
            <a:r>
              <a:rPr lang="en-US" altLang="ko-KR" sz="3200" b="1">
                <a:solidFill>
                  <a:schemeClr val="bg1"/>
                </a:solidFill>
              </a:rPr>
              <a:t>(3/3)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DD4974-C49D-40F0-9E99-447C2D6F7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33" y="2405343"/>
            <a:ext cx="11677650" cy="1581150"/>
          </a:xfrm>
          <a:prstGeom prst="rect">
            <a:avLst/>
          </a:prstGeom>
        </p:spPr>
      </p:pic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10AE2EB7-5086-4AB5-9E14-E28E5EE7D301}"/>
              </a:ext>
            </a:extLst>
          </p:cNvPr>
          <p:cNvSpPr/>
          <p:nvPr/>
        </p:nvSpPr>
        <p:spPr>
          <a:xfrm>
            <a:off x="7340421" y="2070847"/>
            <a:ext cx="657371" cy="1999130"/>
          </a:xfrm>
          <a:custGeom>
            <a:avLst/>
            <a:gdLst>
              <a:gd name="connsiteX0" fmla="*/ 73390 w 657371"/>
              <a:gd name="connsiteY0" fmla="*/ 0 h 1999130"/>
              <a:gd name="connsiteX1" fmla="*/ 73390 w 657371"/>
              <a:gd name="connsiteY1" fmla="*/ 690283 h 1999130"/>
              <a:gd name="connsiteX2" fmla="*/ 64425 w 657371"/>
              <a:gd name="connsiteY2" fmla="*/ 1246094 h 1999130"/>
              <a:gd name="connsiteX3" fmla="*/ 55461 w 657371"/>
              <a:gd name="connsiteY3" fmla="*/ 1398494 h 1999130"/>
              <a:gd name="connsiteX4" fmla="*/ 37531 w 657371"/>
              <a:gd name="connsiteY4" fmla="*/ 1443318 h 1999130"/>
              <a:gd name="connsiteX5" fmla="*/ 19602 w 657371"/>
              <a:gd name="connsiteY5" fmla="*/ 1568824 h 1999130"/>
              <a:gd name="connsiteX6" fmla="*/ 28566 w 657371"/>
              <a:gd name="connsiteY6" fmla="*/ 1792941 h 1999130"/>
              <a:gd name="connsiteX7" fmla="*/ 46496 w 657371"/>
              <a:gd name="connsiteY7" fmla="*/ 1810871 h 1999130"/>
              <a:gd name="connsiteX8" fmla="*/ 100284 w 657371"/>
              <a:gd name="connsiteY8" fmla="*/ 1909483 h 1999130"/>
              <a:gd name="connsiteX9" fmla="*/ 163037 w 657371"/>
              <a:gd name="connsiteY9" fmla="*/ 1963271 h 1999130"/>
              <a:gd name="connsiteX10" fmla="*/ 189931 w 657371"/>
              <a:gd name="connsiteY10" fmla="*/ 1981200 h 1999130"/>
              <a:gd name="connsiteX11" fmla="*/ 243719 w 657371"/>
              <a:gd name="connsiteY11" fmla="*/ 1999130 h 1999130"/>
              <a:gd name="connsiteX12" fmla="*/ 324402 w 657371"/>
              <a:gd name="connsiteY12" fmla="*/ 1990165 h 1999130"/>
              <a:gd name="connsiteX13" fmla="*/ 351296 w 657371"/>
              <a:gd name="connsiteY13" fmla="*/ 1972235 h 1999130"/>
              <a:gd name="connsiteX14" fmla="*/ 414049 w 657371"/>
              <a:gd name="connsiteY14" fmla="*/ 1936377 h 1999130"/>
              <a:gd name="connsiteX15" fmla="*/ 440943 w 657371"/>
              <a:gd name="connsiteY15" fmla="*/ 1909483 h 1999130"/>
              <a:gd name="connsiteX16" fmla="*/ 530590 w 657371"/>
              <a:gd name="connsiteY16" fmla="*/ 1846730 h 1999130"/>
              <a:gd name="connsiteX17" fmla="*/ 593343 w 657371"/>
              <a:gd name="connsiteY17" fmla="*/ 1775012 h 1999130"/>
              <a:gd name="connsiteX18" fmla="*/ 620237 w 657371"/>
              <a:gd name="connsiteY18" fmla="*/ 1712259 h 1999130"/>
              <a:gd name="connsiteX19" fmla="*/ 629202 w 657371"/>
              <a:gd name="connsiteY19" fmla="*/ 1676400 h 1999130"/>
              <a:gd name="connsiteX20" fmla="*/ 638166 w 657371"/>
              <a:gd name="connsiteY20" fmla="*/ 869577 h 1999130"/>
              <a:gd name="connsiteX21" fmla="*/ 656096 w 657371"/>
              <a:gd name="connsiteY21" fmla="*/ 806824 h 1999130"/>
              <a:gd name="connsiteX22" fmla="*/ 647131 w 657371"/>
              <a:gd name="connsiteY22" fmla="*/ 349624 h 1999130"/>
              <a:gd name="connsiteX23" fmla="*/ 620237 w 657371"/>
              <a:gd name="connsiteY23" fmla="*/ 304800 h 1999130"/>
              <a:gd name="connsiteX24" fmla="*/ 611272 w 657371"/>
              <a:gd name="connsiteY24" fmla="*/ 277906 h 1999130"/>
              <a:gd name="connsiteX25" fmla="*/ 593343 w 657371"/>
              <a:gd name="connsiteY25" fmla="*/ 251012 h 1999130"/>
              <a:gd name="connsiteX26" fmla="*/ 557484 w 657371"/>
              <a:gd name="connsiteY26" fmla="*/ 188259 h 1999130"/>
              <a:gd name="connsiteX27" fmla="*/ 521625 w 657371"/>
              <a:gd name="connsiteY27" fmla="*/ 134471 h 1999130"/>
              <a:gd name="connsiteX28" fmla="*/ 503696 w 657371"/>
              <a:gd name="connsiteY28" fmla="*/ 89647 h 1999130"/>
              <a:gd name="connsiteX29" fmla="*/ 476802 w 657371"/>
              <a:gd name="connsiteY29" fmla="*/ 71718 h 1999130"/>
              <a:gd name="connsiteX30" fmla="*/ 431978 w 657371"/>
              <a:gd name="connsiteY30" fmla="*/ 26894 h 1999130"/>
              <a:gd name="connsiteX31" fmla="*/ 360261 w 657371"/>
              <a:gd name="connsiteY31" fmla="*/ 0 h 1999130"/>
              <a:gd name="connsiteX32" fmla="*/ 118213 w 657371"/>
              <a:gd name="connsiteY32" fmla="*/ 8965 h 1999130"/>
              <a:gd name="connsiteX33" fmla="*/ 19602 w 657371"/>
              <a:gd name="connsiteY33" fmla="*/ 26894 h 1999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57371" h="1999130">
                <a:moveTo>
                  <a:pt x="73390" y="0"/>
                </a:moveTo>
                <a:cubicBezTo>
                  <a:pt x="28751" y="267826"/>
                  <a:pt x="73390" y="-19711"/>
                  <a:pt x="73390" y="690283"/>
                </a:cubicBezTo>
                <a:cubicBezTo>
                  <a:pt x="73390" y="875577"/>
                  <a:pt x="69114" y="1060859"/>
                  <a:pt x="64425" y="1246094"/>
                </a:cubicBezTo>
                <a:cubicBezTo>
                  <a:pt x="63137" y="1296966"/>
                  <a:pt x="62337" y="1348073"/>
                  <a:pt x="55461" y="1398494"/>
                </a:cubicBezTo>
                <a:cubicBezTo>
                  <a:pt x="53287" y="1414439"/>
                  <a:pt x="42155" y="1427904"/>
                  <a:pt x="37531" y="1443318"/>
                </a:cubicBezTo>
                <a:cubicBezTo>
                  <a:pt x="27456" y="1476901"/>
                  <a:pt x="22795" y="1540081"/>
                  <a:pt x="19602" y="1568824"/>
                </a:cubicBezTo>
                <a:cubicBezTo>
                  <a:pt x="22590" y="1643530"/>
                  <a:pt x="20310" y="1718633"/>
                  <a:pt x="28566" y="1792941"/>
                </a:cubicBezTo>
                <a:cubicBezTo>
                  <a:pt x="29499" y="1801342"/>
                  <a:pt x="42147" y="1803623"/>
                  <a:pt x="46496" y="1810871"/>
                </a:cubicBezTo>
                <a:cubicBezTo>
                  <a:pt x="63984" y="1840017"/>
                  <a:pt x="76878" y="1881395"/>
                  <a:pt x="100284" y="1909483"/>
                </a:cubicBezTo>
                <a:cubicBezTo>
                  <a:pt x="119448" y="1932480"/>
                  <a:pt x="138597" y="1945814"/>
                  <a:pt x="163037" y="1963271"/>
                </a:cubicBezTo>
                <a:cubicBezTo>
                  <a:pt x="171804" y="1969533"/>
                  <a:pt x="180085" y="1976824"/>
                  <a:pt x="189931" y="1981200"/>
                </a:cubicBezTo>
                <a:cubicBezTo>
                  <a:pt x="207201" y="1988876"/>
                  <a:pt x="243719" y="1999130"/>
                  <a:pt x="243719" y="1999130"/>
                </a:cubicBezTo>
                <a:cubicBezTo>
                  <a:pt x="270613" y="1996142"/>
                  <a:pt x="298150" y="1996728"/>
                  <a:pt x="324402" y="1990165"/>
                </a:cubicBezTo>
                <a:cubicBezTo>
                  <a:pt x="334855" y="1987552"/>
                  <a:pt x="342529" y="1978497"/>
                  <a:pt x="351296" y="1972235"/>
                </a:cubicBezTo>
                <a:cubicBezTo>
                  <a:pt x="398783" y="1938315"/>
                  <a:pt x="370407" y="1950923"/>
                  <a:pt x="414049" y="1936377"/>
                </a:cubicBezTo>
                <a:cubicBezTo>
                  <a:pt x="423014" y="1927412"/>
                  <a:pt x="430936" y="1917267"/>
                  <a:pt x="440943" y="1909483"/>
                </a:cubicBezTo>
                <a:cubicBezTo>
                  <a:pt x="484379" y="1875700"/>
                  <a:pt x="493290" y="1879367"/>
                  <a:pt x="530590" y="1846730"/>
                </a:cubicBezTo>
                <a:cubicBezTo>
                  <a:pt x="564353" y="1817187"/>
                  <a:pt x="567497" y="1809473"/>
                  <a:pt x="593343" y="1775012"/>
                </a:cubicBezTo>
                <a:cubicBezTo>
                  <a:pt x="619081" y="1672062"/>
                  <a:pt x="583091" y="1798933"/>
                  <a:pt x="620237" y="1712259"/>
                </a:cubicBezTo>
                <a:cubicBezTo>
                  <a:pt x="625090" y="1700934"/>
                  <a:pt x="626214" y="1688353"/>
                  <a:pt x="629202" y="1676400"/>
                </a:cubicBezTo>
                <a:cubicBezTo>
                  <a:pt x="632190" y="1407459"/>
                  <a:pt x="629852" y="1138406"/>
                  <a:pt x="638166" y="869577"/>
                </a:cubicBezTo>
                <a:cubicBezTo>
                  <a:pt x="638839" y="847833"/>
                  <a:pt x="655721" y="828576"/>
                  <a:pt x="656096" y="806824"/>
                </a:cubicBezTo>
                <a:cubicBezTo>
                  <a:pt x="658724" y="654417"/>
                  <a:pt x="657991" y="501666"/>
                  <a:pt x="647131" y="349624"/>
                </a:cubicBezTo>
                <a:cubicBezTo>
                  <a:pt x="645890" y="332244"/>
                  <a:pt x="628029" y="320385"/>
                  <a:pt x="620237" y="304800"/>
                </a:cubicBezTo>
                <a:cubicBezTo>
                  <a:pt x="616011" y="296348"/>
                  <a:pt x="615498" y="286358"/>
                  <a:pt x="611272" y="277906"/>
                </a:cubicBezTo>
                <a:cubicBezTo>
                  <a:pt x="606454" y="268269"/>
                  <a:pt x="598161" y="260649"/>
                  <a:pt x="593343" y="251012"/>
                </a:cubicBezTo>
                <a:cubicBezTo>
                  <a:pt x="559120" y="182566"/>
                  <a:pt x="622513" y="274966"/>
                  <a:pt x="557484" y="188259"/>
                </a:cubicBezTo>
                <a:cubicBezTo>
                  <a:pt x="533783" y="117158"/>
                  <a:pt x="569593" y="211220"/>
                  <a:pt x="521625" y="134471"/>
                </a:cubicBezTo>
                <a:cubicBezTo>
                  <a:pt x="513096" y="120825"/>
                  <a:pt x="513049" y="102742"/>
                  <a:pt x="503696" y="89647"/>
                </a:cubicBezTo>
                <a:cubicBezTo>
                  <a:pt x="497434" y="80880"/>
                  <a:pt x="484910" y="78813"/>
                  <a:pt x="476802" y="71718"/>
                </a:cubicBezTo>
                <a:cubicBezTo>
                  <a:pt x="460900" y="57804"/>
                  <a:pt x="452024" y="33576"/>
                  <a:pt x="431978" y="26894"/>
                </a:cubicBezTo>
                <a:cubicBezTo>
                  <a:pt x="389818" y="12842"/>
                  <a:pt x="413858" y="21440"/>
                  <a:pt x="360261" y="0"/>
                </a:cubicBezTo>
                <a:cubicBezTo>
                  <a:pt x="279578" y="2988"/>
                  <a:pt x="198687" y="2440"/>
                  <a:pt x="118213" y="8965"/>
                </a:cubicBezTo>
                <a:cubicBezTo>
                  <a:pt x="-110140" y="27480"/>
                  <a:pt x="72353" y="26894"/>
                  <a:pt x="19602" y="26894"/>
                </a:cubicBezTo>
              </a:path>
            </a:pathLst>
          </a:cu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11C0E1-3907-4B42-9E45-BFA5942F0B2F}"/>
              </a:ext>
            </a:extLst>
          </p:cNvPr>
          <p:cNvSpPr txBox="1"/>
          <p:nvPr/>
        </p:nvSpPr>
        <p:spPr>
          <a:xfrm>
            <a:off x="7115108" y="204548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목표변수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8B725E-768B-44DF-8375-7538C0FECDB9}"/>
              </a:ext>
            </a:extLst>
          </p:cNvPr>
          <p:cNvSpPr txBox="1"/>
          <p:nvPr/>
        </p:nvSpPr>
        <p:spPr>
          <a:xfrm>
            <a:off x="573741" y="1120588"/>
            <a:ext cx="117889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>
                <a:solidFill>
                  <a:srgbClr val="FF0000"/>
                </a:solidFill>
              </a:rPr>
              <a:t>목표변수</a:t>
            </a:r>
            <a:r>
              <a:rPr lang="ko-KR" altLang="en-US" sz="2000" b="1"/>
              <a:t> </a:t>
            </a:r>
            <a:r>
              <a:rPr lang="en-US" altLang="ko-KR" sz="2000" b="1"/>
              <a:t>: ET(</a:t>
            </a:r>
            <a:r>
              <a:rPr lang="ko-KR" altLang="en-US" sz="2000" b="1"/>
              <a:t>실주행시간</a:t>
            </a:r>
            <a:r>
              <a:rPr lang="en-US" altLang="ko-KR" sz="2000" b="1"/>
              <a:t>)</a:t>
            </a:r>
          </a:p>
          <a:p>
            <a:r>
              <a:rPr lang="ko-KR" altLang="en-US" sz="2000" b="1">
                <a:solidFill>
                  <a:srgbClr val="00B050"/>
                </a:solidFill>
              </a:rPr>
              <a:t>설명변수</a:t>
            </a:r>
            <a:r>
              <a:rPr lang="ko-KR" altLang="en-US" sz="2000" b="1"/>
              <a:t> </a:t>
            </a:r>
            <a:r>
              <a:rPr lang="en-US" altLang="ko-KR" sz="2000" b="1"/>
              <a:t>: </a:t>
            </a:r>
            <a:r>
              <a:rPr lang="ko-KR" altLang="en-US" sz="2000" b="1"/>
              <a:t>거리</a:t>
            </a:r>
            <a:r>
              <a:rPr lang="en-US" altLang="ko-KR" sz="2000" b="1"/>
              <a:t>(Distance) + ETA(</a:t>
            </a:r>
            <a:r>
              <a:rPr lang="ko-KR" altLang="en-US" sz="2000" b="1"/>
              <a:t>과거 예측주행시간</a:t>
            </a:r>
            <a:r>
              <a:rPr lang="en-US" altLang="ko-KR" sz="2000" b="1"/>
              <a:t>) + </a:t>
            </a:r>
            <a:r>
              <a:rPr lang="ko-KR" altLang="en-US" sz="2000" b="1"/>
              <a:t>신호등</a:t>
            </a:r>
            <a:r>
              <a:rPr lang="en-US" altLang="ko-KR" sz="2000" b="1"/>
              <a:t>(Signal) + </a:t>
            </a:r>
            <a:r>
              <a:rPr lang="ko-KR" altLang="en-US" sz="2000" b="1"/>
              <a:t>요일 </a:t>
            </a:r>
            <a:r>
              <a:rPr lang="en-US" altLang="ko-KR" sz="2000" b="1"/>
              <a:t>+ </a:t>
            </a:r>
            <a:r>
              <a:rPr lang="ko-KR" altLang="en-US" sz="2000" b="1"/>
              <a:t>시간대 </a:t>
            </a:r>
            <a:r>
              <a:rPr lang="en-US" altLang="ko-KR" sz="2000" b="1"/>
              <a:t>+ </a:t>
            </a:r>
            <a:r>
              <a:rPr lang="ko-KR" altLang="en-US" sz="2000" b="1"/>
              <a:t>경유도시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3A011D5-5ECB-4A68-A20E-515B54FBD3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838" y="4776674"/>
            <a:ext cx="3930998" cy="136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211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2402FF9-E2CF-4C70-B8BD-B36F7130FC1F}"/>
              </a:ext>
            </a:extLst>
          </p:cNvPr>
          <p:cNvSpPr txBox="1"/>
          <p:nvPr/>
        </p:nvSpPr>
        <p:spPr>
          <a:xfrm>
            <a:off x="4232417" y="125506"/>
            <a:ext cx="32015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분석대상 데이터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6B80A41-861E-41C6-8F59-00DE4907E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503" y="1433269"/>
            <a:ext cx="6282633" cy="12142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1423A10-3004-4260-AD3A-09E852A32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503" y="3659832"/>
            <a:ext cx="6219344" cy="11445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AB4D55-D24F-4954-AAD2-C94414E161E9}"/>
              </a:ext>
            </a:extLst>
          </p:cNvPr>
          <p:cNvSpPr txBox="1"/>
          <p:nvPr/>
        </p:nvSpPr>
        <p:spPr>
          <a:xfrm>
            <a:off x="379755" y="971604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>
                <a:solidFill>
                  <a:srgbClr val="0070C0"/>
                </a:solidFill>
              </a:rPr>
              <a:t>기본 데이터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09FD27-0FAB-4F17-84BF-2CFED602E97C}"/>
              </a:ext>
            </a:extLst>
          </p:cNvPr>
          <p:cNvSpPr txBox="1"/>
          <p:nvPr/>
        </p:nvSpPr>
        <p:spPr>
          <a:xfrm>
            <a:off x="423503" y="3198167"/>
            <a:ext cx="2669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>
                <a:solidFill>
                  <a:srgbClr val="FF0000"/>
                </a:solidFill>
              </a:rPr>
              <a:t>연계</a:t>
            </a:r>
            <a:r>
              <a:rPr lang="en-US" altLang="ko-KR" sz="2400" b="1">
                <a:solidFill>
                  <a:srgbClr val="FF0000"/>
                </a:solidFill>
              </a:rPr>
              <a:t>(</a:t>
            </a:r>
            <a:r>
              <a:rPr lang="ko-KR" altLang="en-US" sz="2400" b="1">
                <a:solidFill>
                  <a:srgbClr val="FF0000"/>
                </a:solidFill>
              </a:rPr>
              <a:t>추가</a:t>
            </a:r>
            <a:r>
              <a:rPr lang="en-US" altLang="ko-KR" sz="2400" b="1">
                <a:solidFill>
                  <a:srgbClr val="FF0000"/>
                </a:solidFill>
              </a:rPr>
              <a:t>)</a:t>
            </a:r>
            <a:r>
              <a:rPr lang="ko-KR" altLang="en-US" sz="2400" b="1">
                <a:solidFill>
                  <a:srgbClr val="FF0000"/>
                </a:solidFill>
              </a:rPr>
              <a:t> 데이터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8CC91D-67D9-4DD1-A6F8-C60AAD374B02}"/>
              </a:ext>
            </a:extLst>
          </p:cNvPr>
          <p:cNvSpPr txBox="1"/>
          <p:nvPr/>
        </p:nvSpPr>
        <p:spPr>
          <a:xfrm>
            <a:off x="1542471" y="1448162"/>
            <a:ext cx="2022348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/>
              <a:t>navi_train.csv</a:t>
            </a:r>
            <a:endParaRPr lang="ko-KR" altLang="en-US" sz="1200" b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1F7782-1AEC-4E87-9A38-891F078A115C}"/>
              </a:ext>
            </a:extLst>
          </p:cNvPr>
          <p:cNvSpPr txBox="1"/>
          <p:nvPr/>
        </p:nvSpPr>
        <p:spPr>
          <a:xfrm>
            <a:off x="1542471" y="2105144"/>
            <a:ext cx="261715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/>
              <a:t>navi_evaluation.csv</a:t>
            </a:r>
            <a:endParaRPr lang="ko-KR" altLang="en-US" sz="1200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534317-34DC-4157-85BE-23F105B16367}"/>
              </a:ext>
            </a:extLst>
          </p:cNvPr>
          <p:cNvSpPr txBox="1"/>
          <p:nvPr/>
        </p:nvSpPr>
        <p:spPr>
          <a:xfrm>
            <a:off x="2250681" y="3659832"/>
            <a:ext cx="261715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/>
              <a:t>navi_pnu.csv</a:t>
            </a:r>
            <a:endParaRPr lang="ko-KR" altLang="en-US" sz="1200" b="1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057F80-F444-4E9D-A062-157AC4AE05F8}"/>
              </a:ext>
            </a:extLst>
          </p:cNvPr>
          <p:cNvSpPr txBox="1"/>
          <p:nvPr/>
        </p:nvSpPr>
        <p:spPr>
          <a:xfrm>
            <a:off x="2250681" y="4259996"/>
            <a:ext cx="2617153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200" b="1"/>
              <a:t>navi_signal.csv</a:t>
            </a:r>
            <a:endParaRPr lang="ko-KR" altLang="en-US" sz="1200" b="1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2A5DE37-8846-4BA6-AEA0-E7DA180D52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397" y="971604"/>
            <a:ext cx="5439593" cy="1469134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A4CC0965-5C00-4231-B781-332DCDDD82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8549" y="2488450"/>
            <a:ext cx="3239103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995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21942E-9AED-4A0C-BC76-D34F23086F6D}"/>
              </a:ext>
            </a:extLst>
          </p:cNvPr>
          <p:cNvSpPr txBox="1"/>
          <p:nvPr/>
        </p:nvSpPr>
        <p:spPr>
          <a:xfrm>
            <a:off x="4437529" y="134472"/>
            <a:ext cx="3081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데이터 탐색</a:t>
            </a:r>
            <a:r>
              <a:rPr lang="en-US" altLang="ko-KR" sz="2800" b="1">
                <a:solidFill>
                  <a:schemeClr val="bg1"/>
                </a:solidFill>
              </a:rPr>
              <a:t>(</a:t>
            </a:r>
            <a:r>
              <a:rPr lang="ko-KR" altLang="en-US" sz="2800" b="1">
                <a:solidFill>
                  <a:schemeClr val="bg1"/>
                </a:solidFill>
              </a:rPr>
              <a:t>분석</a:t>
            </a:r>
            <a:r>
              <a:rPr lang="en-US" altLang="ko-KR" sz="2800" b="1">
                <a:solidFill>
                  <a:schemeClr val="bg1"/>
                </a:solidFill>
              </a:rPr>
              <a:t>)</a:t>
            </a:r>
            <a:endParaRPr lang="ko-KR" altLang="en-US" sz="2800" b="1">
              <a:solidFill>
                <a:schemeClr val="bg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7F286BF-A6E2-4F49-9235-92D844F027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306" y="1085289"/>
            <a:ext cx="6644528" cy="30051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EBB3E19-4BB3-41D6-A547-39E0689DA7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675" y="1255619"/>
            <a:ext cx="3613337" cy="1519628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9193E03F-6340-4144-986B-6CC4FE0FAAE2}"/>
              </a:ext>
            </a:extLst>
          </p:cNvPr>
          <p:cNvSpPr/>
          <p:nvPr/>
        </p:nvSpPr>
        <p:spPr>
          <a:xfrm flipH="1">
            <a:off x="7265801" y="1492213"/>
            <a:ext cx="506041" cy="5232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35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DE9AF9-326C-428C-ABAF-903BFD3BC64A}"/>
              </a:ext>
            </a:extLst>
          </p:cNvPr>
          <p:cNvSpPr txBox="1"/>
          <p:nvPr/>
        </p:nvSpPr>
        <p:spPr>
          <a:xfrm>
            <a:off x="4437529" y="134472"/>
            <a:ext cx="2465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데이터 전처리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23D4EF8-D794-4736-893A-AA1EDC6A5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74" y="1385608"/>
            <a:ext cx="5422776" cy="227199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89D88D2-B344-43C2-8F75-B08652F4FE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329" y="1385608"/>
            <a:ext cx="3290607" cy="2188490"/>
          </a:xfrm>
          <a:prstGeom prst="rect">
            <a:avLst/>
          </a:prstGeom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7EE6A761-0A26-4211-9C01-44D8C5033ED4}"/>
              </a:ext>
            </a:extLst>
          </p:cNvPr>
          <p:cNvSpPr/>
          <p:nvPr/>
        </p:nvSpPr>
        <p:spPr>
          <a:xfrm flipH="1">
            <a:off x="6903269" y="1775012"/>
            <a:ext cx="506041" cy="5232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593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A73921-34F1-4F8C-B4C5-9A34646E63CB}"/>
              </a:ext>
            </a:extLst>
          </p:cNvPr>
          <p:cNvSpPr txBox="1"/>
          <p:nvPr/>
        </p:nvSpPr>
        <p:spPr>
          <a:xfrm>
            <a:off x="4876800" y="170331"/>
            <a:ext cx="2824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머신러닝 모델링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2114864-64CF-4637-9FC1-3C6956E9D9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" y="1418385"/>
            <a:ext cx="5681943" cy="11400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22C9D90-8FEE-4015-B230-060F15D0F8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147" y="1330138"/>
            <a:ext cx="3673288" cy="163430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7A1621-C091-4F21-B862-392872DCC260}"/>
              </a:ext>
            </a:extLst>
          </p:cNvPr>
          <p:cNvSpPr txBox="1"/>
          <p:nvPr/>
        </p:nvSpPr>
        <p:spPr>
          <a:xfrm>
            <a:off x="7342093" y="3254189"/>
            <a:ext cx="300434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/>
              <a:t> LinearRegression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/>
              <a:t> RandomForest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/>
              <a:t> GradientBoosting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/>
              <a:t> XGBoost</a:t>
            </a:r>
            <a:endParaRPr lang="ko-KR" altLang="en-US" sz="2400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4073C02C-DD25-4742-9EF0-1BF831F73E33}"/>
              </a:ext>
            </a:extLst>
          </p:cNvPr>
          <p:cNvSpPr/>
          <p:nvPr/>
        </p:nvSpPr>
        <p:spPr>
          <a:xfrm flipH="1">
            <a:off x="6289206" y="1712259"/>
            <a:ext cx="506041" cy="5232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845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9B93EB-9033-4776-9145-8A5FC53AE66D}"/>
              </a:ext>
            </a:extLst>
          </p:cNvPr>
          <p:cNvSpPr txBox="1"/>
          <p:nvPr/>
        </p:nvSpPr>
        <p:spPr>
          <a:xfrm>
            <a:off x="4876800" y="170331"/>
            <a:ext cx="2465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딥러닝 모델링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0D248B3-DBB0-4610-97B5-651366114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32" y="1338823"/>
            <a:ext cx="4313985" cy="13361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1D35A2B-20AA-4FBA-B04D-466793B593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376" y="1338823"/>
            <a:ext cx="4927508" cy="1950624"/>
          </a:xfrm>
          <a:prstGeom prst="rect">
            <a:avLst/>
          </a:prstGeom>
        </p:spPr>
      </p:pic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193B728B-B597-4886-8F79-98ECBF30DCD1}"/>
              </a:ext>
            </a:extLst>
          </p:cNvPr>
          <p:cNvSpPr/>
          <p:nvPr/>
        </p:nvSpPr>
        <p:spPr>
          <a:xfrm flipH="1">
            <a:off x="5407584" y="1586753"/>
            <a:ext cx="506041" cy="5232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4274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570E6-41AE-4DE2-93D2-E8C9DA0B2D7B}"/>
              </a:ext>
            </a:extLst>
          </p:cNvPr>
          <p:cNvSpPr txBox="1"/>
          <p:nvPr/>
        </p:nvSpPr>
        <p:spPr>
          <a:xfrm>
            <a:off x="4261203" y="161362"/>
            <a:ext cx="3310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>
                <a:solidFill>
                  <a:schemeClr val="bg1"/>
                </a:solidFill>
              </a:rPr>
              <a:t>파이썬 딥러닝 실습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B300546-A185-4C3D-8316-0B4C1D253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560" y="1056692"/>
            <a:ext cx="5571004" cy="474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569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E7E792-202E-455D-8375-508AB0824034}"/>
              </a:ext>
            </a:extLst>
          </p:cNvPr>
          <p:cNvSpPr txBox="1"/>
          <p:nvPr/>
        </p:nvSpPr>
        <p:spPr>
          <a:xfrm>
            <a:off x="3883175" y="152400"/>
            <a:ext cx="51203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생성형 </a:t>
            </a:r>
            <a:r>
              <a:rPr lang="en-US" altLang="ko-KR" sz="3200" b="1">
                <a:solidFill>
                  <a:schemeClr val="bg1"/>
                </a:solidFill>
              </a:rPr>
              <a:t>AI</a:t>
            </a:r>
            <a:r>
              <a:rPr lang="ko-KR" altLang="en-US" sz="3200" b="1">
                <a:solidFill>
                  <a:schemeClr val="bg1"/>
                </a:solidFill>
              </a:rPr>
              <a:t>서비스 활용</a:t>
            </a:r>
            <a:r>
              <a:rPr lang="en-US" altLang="ko-KR" sz="3200" b="1">
                <a:solidFill>
                  <a:schemeClr val="bg1"/>
                </a:solidFill>
              </a:rPr>
              <a:t>(1/6)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7AF38E-21AF-4CB6-A710-8873F2312760}"/>
              </a:ext>
            </a:extLst>
          </p:cNvPr>
          <p:cNvSpPr txBox="1"/>
          <p:nvPr/>
        </p:nvSpPr>
        <p:spPr>
          <a:xfrm>
            <a:off x="367553" y="985278"/>
            <a:ext cx="588943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b="1">
                <a:solidFill>
                  <a:srgbClr val="FF0000"/>
                </a:solidFill>
              </a:rPr>
              <a:t> ChatGPT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/>
              <a:t> </a:t>
            </a:r>
            <a:r>
              <a:rPr lang="ko-KR" altLang="en-US"/>
              <a:t>무료 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US" altLang="ko-KR"/>
              <a:t>  </a:t>
            </a:r>
            <a:r>
              <a:rPr lang="en-US" altLang="ko-KR">
                <a:hlinkClick r:id="rId3"/>
              </a:rPr>
              <a:t>https://chatgpt.com/</a:t>
            </a:r>
            <a:r>
              <a:rPr lang="en-US" altLang="ko-KR"/>
              <a:t> </a:t>
            </a:r>
            <a:r>
              <a:rPr lang="ko-KR" altLang="en-US"/>
              <a:t>에서 무료 회원 가입</a:t>
            </a:r>
            <a:endParaRPr lang="en-US" altLang="ko-KR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/>
              <a:t> </a:t>
            </a:r>
            <a:r>
              <a:rPr lang="ko-KR" altLang="en-US"/>
              <a:t>유료</a:t>
            </a:r>
            <a:endParaRPr lang="en-US" altLang="ko-KR"/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US" altLang="ko-KR"/>
              <a:t> </a:t>
            </a:r>
            <a:r>
              <a:rPr lang="ko-KR" altLang="en-US"/>
              <a:t>무료에서 </a:t>
            </a:r>
            <a:r>
              <a:rPr lang="en-US" altLang="ko-KR"/>
              <a:t>‘</a:t>
            </a:r>
            <a:r>
              <a:rPr lang="ko-KR" altLang="en-US"/>
              <a:t>플랜업그레이드</a:t>
            </a:r>
            <a:r>
              <a:rPr lang="en-US" altLang="ko-KR"/>
              <a:t>’ 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6CB47E7-093F-43F7-A90F-982316AC59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2856" y="2537011"/>
            <a:ext cx="4713499" cy="310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0243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7E7E792-202E-455D-8375-508AB0824034}"/>
              </a:ext>
            </a:extLst>
          </p:cNvPr>
          <p:cNvSpPr txBox="1"/>
          <p:nvPr/>
        </p:nvSpPr>
        <p:spPr>
          <a:xfrm>
            <a:off x="3883175" y="152400"/>
            <a:ext cx="51203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생성형 </a:t>
            </a:r>
            <a:r>
              <a:rPr lang="en-US" altLang="ko-KR" sz="3200" b="1">
                <a:solidFill>
                  <a:schemeClr val="bg1"/>
                </a:solidFill>
              </a:rPr>
              <a:t>AI</a:t>
            </a:r>
            <a:r>
              <a:rPr lang="ko-KR" altLang="en-US" sz="3200" b="1">
                <a:solidFill>
                  <a:schemeClr val="bg1"/>
                </a:solidFill>
              </a:rPr>
              <a:t>서비스 활용</a:t>
            </a:r>
            <a:r>
              <a:rPr lang="en-US" altLang="ko-KR" sz="3200" b="1">
                <a:solidFill>
                  <a:schemeClr val="bg1"/>
                </a:solidFill>
              </a:rPr>
              <a:t>(2/6)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7AF38E-21AF-4CB6-A710-8873F2312760}"/>
              </a:ext>
            </a:extLst>
          </p:cNvPr>
          <p:cNvSpPr txBox="1"/>
          <p:nvPr/>
        </p:nvSpPr>
        <p:spPr>
          <a:xfrm>
            <a:off x="367553" y="985278"/>
            <a:ext cx="769140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b="1">
                <a:solidFill>
                  <a:srgbClr val="FF0000"/>
                </a:solidFill>
              </a:rPr>
              <a:t> Google Gemini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/>
              <a:t> </a:t>
            </a:r>
            <a:r>
              <a:rPr lang="ko-KR" altLang="en-US"/>
              <a:t>무료 </a:t>
            </a:r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US" altLang="ko-KR"/>
              <a:t>  </a:t>
            </a:r>
            <a:r>
              <a:rPr lang="en-US" altLang="ko-KR">
                <a:hlinkClick r:id="rId3"/>
              </a:rPr>
              <a:t>https://gemini.google.com/app?hl=ko</a:t>
            </a:r>
            <a:r>
              <a:rPr lang="en-US" altLang="ko-KR"/>
              <a:t> </a:t>
            </a:r>
            <a:r>
              <a:rPr lang="ko-KR" altLang="en-US"/>
              <a:t>에서 무료 회원 가입</a:t>
            </a:r>
            <a:endParaRPr lang="en-US" altLang="ko-KR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/>
              <a:t> </a:t>
            </a:r>
            <a:r>
              <a:rPr lang="ko-KR" altLang="en-US"/>
              <a:t>유료</a:t>
            </a:r>
            <a:endParaRPr lang="en-US" altLang="ko-KR"/>
          </a:p>
          <a:p>
            <a:pPr marL="1200150" lvl="2" indent="-285750">
              <a:buFont typeface="Wingdings" panose="05000000000000000000" pitchFamily="2" charset="2"/>
              <a:buChar char="ü"/>
            </a:pPr>
            <a:r>
              <a:rPr lang="en-US" altLang="ko-KR"/>
              <a:t> ???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7992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C60858-EC3B-4510-8EE9-194F86FFBE15}"/>
              </a:ext>
            </a:extLst>
          </p:cNvPr>
          <p:cNvSpPr txBox="1"/>
          <p:nvPr/>
        </p:nvSpPr>
        <p:spPr>
          <a:xfrm>
            <a:off x="3659058" y="116541"/>
            <a:ext cx="51203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생성형 </a:t>
            </a:r>
            <a:r>
              <a:rPr lang="en-US" altLang="ko-KR" sz="3200" b="1">
                <a:solidFill>
                  <a:schemeClr val="bg1"/>
                </a:solidFill>
              </a:rPr>
              <a:t>AI</a:t>
            </a:r>
            <a:r>
              <a:rPr lang="ko-KR" altLang="en-US" sz="3200" b="1">
                <a:solidFill>
                  <a:schemeClr val="bg1"/>
                </a:solidFill>
              </a:rPr>
              <a:t>서비스 활용</a:t>
            </a:r>
            <a:r>
              <a:rPr lang="en-US" altLang="ko-KR" sz="3200" b="1">
                <a:solidFill>
                  <a:schemeClr val="bg1"/>
                </a:solidFill>
              </a:rPr>
              <a:t>(3/6)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003E11-A046-4089-8073-241C2DC059F2}"/>
              </a:ext>
            </a:extLst>
          </p:cNvPr>
          <p:cNvSpPr txBox="1"/>
          <p:nvPr/>
        </p:nvSpPr>
        <p:spPr>
          <a:xfrm>
            <a:off x="627529" y="905435"/>
            <a:ext cx="2435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ChatGPT </a:t>
            </a:r>
            <a:r>
              <a:rPr lang="ko-KR" altLang="en-US"/>
              <a:t>활용</a:t>
            </a:r>
            <a:r>
              <a:rPr lang="en-US" altLang="ko-KR"/>
              <a:t>(</a:t>
            </a:r>
            <a:r>
              <a:rPr lang="ko-KR" altLang="en-US"/>
              <a:t>버전 </a:t>
            </a:r>
            <a:r>
              <a:rPr lang="en-US" altLang="ko-KR"/>
              <a:t>5)</a:t>
            </a:r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D5990F8-CD2E-44D4-911C-43B78450F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558" y="1090101"/>
            <a:ext cx="5776913" cy="48443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B1004B8-93BD-416D-929B-75BBE11E3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6" y="1385888"/>
            <a:ext cx="4476750" cy="4286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40212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C60858-EC3B-4510-8EE9-194F86FFBE15}"/>
              </a:ext>
            </a:extLst>
          </p:cNvPr>
          <p:cNvSpPr txBox="1"/>
          <p:nvPr/>
        </p:nvSpPr>
        <p:spPr>
          <a:xfrm>
            <a:off x="3659058" y="116541"/>
            <a:ext cx="51203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생성형 </a:t>
            </a:r>
            <a:r>
              <a:rPr lang="en-US" altLang="ko-KR" sz="3200" b="1">
                <a:solidFill>
                  <a:schemeClr val="bg1"/>
                </a:solidFill>
              </a:rPr>
              <a:t>AI</a:t>
            </a:r>
            <a:r>
              <a:rPr lang="ko-KR" altLang="en-US" sz="3200" b="1">
                <a:solidFill>
                  <a:schemeClr val="bg1"/>
                </a:solidFill>
              </a:rPr>
              <a:t>서비스 활용</a:t>
            </a:r>
            <a:r>
              <a:rPr lang="en-US" altLang="ko-KR" sz="3200" b="1">
                <a:solidFill>
                  <a:schemeClr val="bg1"/>
                </a:solidFill>
              </a:rPr>
              <a:t>(4/6)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003E11-A046-4089-8073-241C2DC059F2}"/>
              </a:ext>
            </a:extLst>
          </p:cNvPr>
          <p:cNvSpPr txBox="1"/>
          <p:nvPr/>
        </p:nvSpPr>
        <p:spPr>
          <a:xfrm>
            <a:off x="627529" y="905435"/>
            <a:ext cx="2541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ChatGPT </a:t>
            </a:r>
            <a:r>
              <a:rPr lang="ko-KR" altLang="en-US"/>
              <a:t>활용</a:t>
            </a:r>
            <a:r>
              <a:rPr lang="en-US" altLang="ko-KR"/>
              <a:t>(GPT-4o)</a:t>
            </a:r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E4CDE2-3330-424B-BCA6-BDA88A34A9ED}"/>
              </a:ext>
            </a:extLst>
          </p:cNvPr>
          <p:cNvSpPr txBox="1"/>
          <p:nvPr/>
        </p:nvSpPr>
        <p:spPr>
          <a:xfrm>
            <a:off x="349623" y="1371600"/>
            <a:ext cx="624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첨부한 </a:t>
            </a:r>
            <a:r>
              <a:rPr lang="en-US" altLang="ko-KR"/>
              <a:t>3</a:t>
            </a:r>
            <a:r>
              <a:rPr lang="ko-KR" altLang="en-US"/>
              <a:t>개의 화일을 병합하여 화일을 다운로드 받게 해줘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60453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C60858-EC3B-4510-8EE9-194F86FFBE15}"/>
              </a:ext>
            </a:extLst>
          </p:cNvPr>
          <p:cNvSpPr txBox="1"/>
          <p:nvPr/>
        </p:nvSpPr>
        <p:spPr>
          <a:xfrm>
            <a:off x="3659058" y="116541"/>
            <a:ext cx="51203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생성형 </a:t>
            </a:r>
            <a:r>
              <a:rPr lang="en-US" altLang="ko-KR" sz="3200" b="1">
                <a:solidFill>
                  <a:schemeClr val="bg1"/>
                </a:solidFill>
              </a:rPr>
              <a:t>AI</a:t>
            </a:r>
            <a:r>
              <a:rPr lang="ko-KR" altLang="en-US" sz="3200" b="1">
                <a:solidFill>
                  <a:schemeClr val="bg1"/>
                </a:solidFill>
              </a:rPr>
              <a:t>서비스 활용</a:t>
            </a:r>
            <a:r>
              <a:rPr lang="en-US" altLang="ko-KR" sz="3200" b="1">
                <a:solidFill>
                  <a:schemeClr val="bg1"/>
                </a:solidFill>
              </a:rPr>
              <a:t>(5/6)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F30D03E-43DC-4C82-88DD-2B60C79AA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08" y="1377203"/>
            <a:ext cx="6362700" cy="16573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60D7DC6-BF06-4EE2-8D55-A25B85906954}"/>
              </a:ext>
            </a:extLst>
          </p:cNvPr>
          <p:cNvSpPr txBox="1"/>
          <p:nvPr/>
        </p:nvSpPr>
        <p:spPr>
          <a:xfrm>
            <a:off x="627529" y="905435"/>
            <a:ext cx="4836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Gemini </a:t>
            </a:r>
            <a:r>
              <a:rPr lang="ko-KR" altLang="en-US"/>
              <a:t>활용</a:t>
            </a:r>
            <a:r>
              <a:rPr lang="en-US" altLang="ko-KR"/>
              <a:t>(2.5 flash</a:t>
            </a:r>
            <a:r>
              <a:rPr lang="ko-KR" altLang="en-US"/>
              <a:t>와 </a:t>
            </a:r>
            <a:r>
              <a:rPr lang="en-US" altLang="ko-KR"/>
              <a:t>2.5 Pro</a:t>
            </a:r>
            <a:r>
              <a:rPr lang="ko-KR" altLang="en-US"/>
              <a:t>의 차이 확인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57901C9-FC9C-42DD-AC6B-70C7A66BC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08" y="3563493"/>
            <a:ext cx="6431398" cy="2057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113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5C60858-EC3B-4510-8EE9-194F86FFBE15}"/>
              </a:ext>
            </a:extLst>
          </p:cNvPr>
          <p:cNvSpPr txBox="1"/>
          <p:nvPr/>
        </p:nvSpPr>
        <p:spPr>
          <a:xfrm>
            <a:off x="3659058" y="116541"/>
            <a:ext cx="51203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>
                <a:solidFill>
                  <a:schemeClr val="bg1"/>
                </a:solidFill>
              </a:rPr>
              <a:t>생성형 </a:t>
            </a:r>
            <a:r>
              <a:rPr lang="en-US" altLang="ko-KR" sz="3200" b="1">
                <a:solidFill>
                  <a:schemeClr val="bg1"/>
                </a:solidFill>
              </a:rPr>
              <a:t>AI</a:t>
            </a:r>
            <a:r>
              <a:rPr lang="ko-KR" altLang="en-US" sz="3200" b="1">
                <a:solidFill>
                  <a:schemeClr val="bg1"/>
                </a:solidFill>
              </a:rPr>
              <a:t>서비스 활용</a:t>
            </a:r>
            <a:r>
              <a:rPr lang="en-US" altLang="ko-KR" sz="3200" b="1">
                <a:solidFill>
                  <a:schemeClr val="bg1"/>
                </a:solidFill>
              </a:rPr>
              <a:t>(6/6)</a:t>
            </a:r>
            <a:endParaRPr lang="ko-KR" altLang="en-US" sz="32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0D7DC6-BF06-4EE2-8D55-A25B85906954}"/>
              </a:ext>
            </a:extLst>
          </p:cNvPr>
          <p:cNvSpPr txBox="1"/>
          <p:nvPr/>
        </p:nvSpPr>
        <p:spPr>
          <a:xfrm>
            <a:off x="627529" y="905435"/>
            <a:ext cx="6053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>
                <a:solidFill>
                  <a:srgbClr val="0070C0"/>
                </a:solidFill>
              </a:rPr>
              <a:t>ChatGPT 4o </a:t>
            </a:r>
            <a:r>
              <a:rPr lang="ko-KR" altLang="en-US" sz="2400" b="1">
                <a:solidFill>
                  <a:srgbClr val="0070C0"/>
                </a:solidFill>
              </a:rPr>
              <a:t>기반 데이터분석 프롬프트 예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E8BAB-C585-4C7B-AE5E-3C5684E359AE}"/>
              </a:ext>
            </a:extLst>
          </p:cNvPr>
          <p:cNvSpPr txBox="1"/>
          <p:nvPr/>
        </p:nvSpPr>
        <p:spPr>
          <a:xfrm>
            <a:off x="627529" y="1478886"/>
            <a:ext cx="916039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첨부한 </a:t>
            </a:r>
            <a:r>
              <a:rPr lang="en-US" altLang="ko-KR"/>
              <a:t>3</a:t>
            </a:r>
            <a:r>
              <a:rPr lang="ko-KR" altLang="en-US"/>
              <a:t>개의 파일을 병합하여 다운로드 받게 해줘</a:t>
            </a:r>
            <a:r>
              <a:rPr lang="en-US" altLang="ko-KR"/>
              <a:t>.</a:t>
            </a:r>
          </a:p>
          <a:p>
            <a:r>
              <a:rPr lang="ko-KR" altLang="en-US"/>
              <a:t>한글이 깨졌어</a:t>
            </a:r>
            <a:r>
              <a:rPr lang="en-US" altLang="ko-KR"/>
              <a:t>. </a:t>
            </a:r>
            <a:r>
              <a:rPr lang="ko-KR" altLang="en-US"/>
              <a:t>한글이 깨지지 않게 다시 한번 병합하여 다운로드 받게 해줘</a:t>
            </a:r>
            <a:r>
              <a:rPr lang="en-US" altLang="ko-KR"/>
              <a:t>.</a:t>
            </a:r>
          </a:p>
          <a:p>
            <a:r>
              <a:rPr lang="ko-KR" altLang="en-US"/>
              <a:t>첨부한 화일에서 </a:t>
            </a:r>
            <a:r>
              <a:rPr lang="en-US" altLang="ko-KR"/>
              <a:t>'level1_pnu'</a:t>
            </a:r>
            <a:r>
              <a:rPr lang="ko-KR" altLang="en-US"/>
              <a:t>를 막대그래프로 시각화 해봐</a:t>
            </a:r>
            <a:r>
              <a:rPr lang="en-US" altLang="ko-KR"/>
              <a:t>.</a:t>
            </a:r>
          </a:p>
          <a:p>
            <a:r>
              <a:rPr lang="ko-KR" altLang="en-US"/>
              <a:t>한글이 깨졌어</a:t>
            </a:r>
            <a:r>
              <a:rPr lang="en-US" altLang="ko-KR"/>
              <a:t>. </a:t>
            </a:r>
            <a:r>
              <a:rPr lang="ko-KR" altLang="en-US"/>
              <a:t>첨부한 한글폰트를 이용하여 다시 시각화 해</a:t>
            </a:r>
          </a:p>
          <a:p>
            <a:r>
              <a:rPr lang="ko-KR" altLang="en-US"/>
              <a:t>첨부한 화일에서 </a:t>
            </a:r>
            <a:r>
              <a:rPr lang="en-US" altLang="ko-KR"/>
              <a:t>'level1_pnu'</a:t>
            </a:r>
            <a:r>
              <a:rPr lang="ko-KR" altLang="en-US"/>
              <a:t>를 파이썬 </a:t>
            </a:r>
            <a:r>
              <a:rPr lang="en-US" altLang="ko-KR"/>
              <a:t>seaborn</a:t>
            </a:r>
            <a:r>
              <a:rPr lang="ko-KR" altLang="en-US"/>
              <a:t>의 </a:t>
            </a:r>
            <a:r>
              <a:rPr lang="en-US" altLang="ko-KR"/>
              <a:t>countplot</a:t>
            </a:r>
            <a:r>
              <a:rPr lang="ko-KR" altLang="en-US"/>
              <a:t>으로 시각화 해줘</a:t>
            </a:r>
            <a:r>
              <a:rPr lang="en-US" altLang="ko-KR"/>
              <a:t>.</a:t>
            </a:r>
          </a:p>
          <a:p>
            <a:r>
              <a:rPr lang="ko-KR" altLang="en-US"/>
              <a:t>첨부한 화일에서 </a:t>
            </a:r>
            <a:r>
              <a:rPr lang="en-US" altLang="ko-KR"/>
              <a:t>'signaltype'</a:t>
            </a:r>
            <a:r>
              <a:rPr lang="ko-KR" altLang="en-US"/>
              <a:t>을 파이썬 </a:t>
            </a:r>
            <a:r>
              <a:rPr lang="en-US" altLang="ko-KR"/>
              <a:t>seaborn</a:t>
            </a:r>
            <a:r>
              <a:rPr lang="ko-KR" altLang="en-US"/>
              <a:t>의 </a:t>
            </a:r>
            <a:r>
              <a:rPr lang="en-US" altLang="ko-KR"/>
              <a:t>distplot</a:t>
            </a:r>
            <a:r>
              <a:rPr lang="ko-KR" altLang="en-US"/>
              <a:t>으로 시각화 해줘</a:t>
            </a:r>
            <a:r>
              <a:rPr lang="en-US" altLang="ko-KR"/>
              <a:t>.</a:t>
            </a:r>
          </a:p>
          <a:p>
            <a:r>
              <a:rPr lang="ko-KR" altLang="en-US"/>
              <a:t>첨부한 화일에서 </a:t>
            </a:r>
            <a:r>
              <a:rPr lang="en-US" altLang="ko-KR"/>
              <a:t>x</a:t>
            </a:r>
            <a:r>
              <a:rPr lang="ko-KR" altLang="en-US"/>
              <a:t>축을 </a:t>
            </a:r>
            <a:r>
              <a:rPr lang="en-US" altLang="ko-KR"/>
              <a:t>'level1_pnu', y</a:t>
            </a:r>
            <a:r>
              <a:rPr lang="ko-KR" altLang="en-US"/>
              <a:t>축을 </a:t>
            </a:r>
            <a:r>
              <a:rPr lang="en-US" altLang="ko-KR"/>
              <a:t>'A_Distance'</a:t>
            </a:r>
            <a:r>
              <a:rPr lang="ko-KR" altLang="en-US"/>
              <a:t>로 한 </a:t>
            </a:r>
            <a:r>
              <a:rPr lang="en-US" altLang="ko-KR"/>
              <a:t>boxplot</a:t>
            </a:r>
            <a:r>
              <a:rPr lang="ko-KR" altLang="en-US"/>
              <a:t>으로 시각화 해줘</a:t>
            </a:r>
            <a:r>
              <a:rPr lang="en-US" altLang="ko-KR"/>
              <a:t>. </a:t>
            </a:r>
          </a:p>
          <a:p>
            <a:r>
              <a:rPr lang="ko-KR" altLang="en-US"/>
              <a:t>첨부한 화일을 파이썬 </a:t>
            </a:r>
            <a:r>
              <a:rPr lang="en-US" altLang="ko-KR"/>
              <a:t>seaborn</a:t>
            </a:r>
            <a:r>
              <a:rPr lang="ko-KR" altLang="en-US"/>
              <a:t>의 </a:t>
            </a:r>
            <a:r>
              <a:rPr lang="en-US" altLang="ko-KR"/>
              <a:t>pairplot</a:t>
            </a:r>
            <a:r>
              <a:rPr lang="ko-KR" altLang="en-US"/>
              <a:t>으로 시각화해줘</a:t>
            </a:r>
            <a:r>
              <a:rPr lang="en-US" altLang="ko-KR"/>
              <a:t>.</a:t>
            </a:r>
          </a:p>
          <a:p>
            <a:r>
              <a:rPr lang="en-US" altLang="ko-KR"/>
              <a:t> </a:t>
            </a:r>
          </a:p>
          <a:p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3857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Box 1">
            <a:extLst>
              <a:ext uri="{FF2B5EF4-FFF2-40B4-BE49-F238E27FC236}">
                <a16:creationId xmlns:a16="http://schemas.microsoft.com/office/drawing/2014/main" id="{2DB29A70-DB06-4203-9F65-D6C3B13B15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465388"/>
            <a:ext cx="4233863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/>
            <a:r>
              <a:rPr lang="ko-KR" altLang="en-US" sz="6000" b="1">
                <a:solidFill>
                  <a:srgbClr val="0070C0"/>
                </a:solidFill>
              </a:rPr>
              <a:t>감사합니다</a:t>
            </a:r>
            <a:r>
              <a:rPr lang="en-US" altLang="ko-KR" sz="6000" b="1">
                <a:solidFill>
                  <a:srgbClr val="0070C0"/>
                </a:solidFill>
              </a:rPr>
              <a:t>.</a:t>
            </a:r>
            <a:endParaRPr lang="ko-KR" altLang="en-US" sz="6000" b="1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8576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8361</TotalTime>
  <Words>436</Words>
  <Application>Microsoft Office PowerPoint</Application>
  <PresentationFormat>와이드스크린</PresentationFormat>
  <Paragraphs>105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1254</cp:revision>
  <dcterms:created xsi:type="dcterms:W3CDTF">2024-09-09T09:01:14Z</dcterms:created>
  <dcterms:modified xsi:type="dcterms:W3CDTF">2025-10-23T22:19:17Z</dcterms:modified>
</cp:coreProperties>
</file>