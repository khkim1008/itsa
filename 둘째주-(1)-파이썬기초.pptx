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87" r:id="rId2"/>
    <p:sldId id="282" r:id="rId3"/>
    <p:sldId id="283" r:id="rId4"/>
    <p:sldId id="284" r:id="rId5"/>
    <p:sldId id="415" r:id="rId6"/>
    <p:sldId id="435" r:id="rId7"/>
    <p:sldId id="436" r:id="rId8"/>
    <p:sldId id="437" r:id="rId9"/>
    <p:sldId id="438" r:id="rId10"/>
    <p:sldId id="439" r:id="rId11"/>
    <p:sldId id="440" r:id="rId12"/>
    <p:sldId id="434" r:id="rId13"/>
    <p:sldId id="416" r:id="rId14"/>
    <p:sldId id="417" r:id="rId15"/>
    <p:sldId id="418" r:id="rId16"/>
    <p:sldId id="427" r:id="rId17"/>
    <p:sldId id="428" r:id="rId18"/>
    <p:sldId id="431" r:id="rId19"/>
    <p:sldId id="432" r:id="rId20"/>
    <p:sldId id="429" r:id="rId21"/>
    <p:sldId id="430" r:id="rId22"/>
    <p:sldId id="433" r:id="rId23"/>
    <p:sldId id="414" r:id="rId24"/>
  </p:sldIdLst>
  <p:sldSz cx="12192000" cy="6858000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94681" autoAdjust="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004"/>
    </p:cViewPr>
  </p:sorter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DE57BD7-6E0A-4654-8A8E-45C9B546CB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90836C-64D8-4B00-AF23-4EC6ECD071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A3DF36-72CB-4BD0-95EF-0A4C8AB0C029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CE8BD2C-751C-4D6A-BAA0-6B48B088C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19AC6DE-15A7-4637-BE2A-1F6A92DAA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6FB4F-BC62-43BA-8162-7B34D70C09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3F8414-35E0-440F-9014-C342F8BBA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53F1AAE-D5E4-44D4-AE0C-3A0245E2814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775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070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436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793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137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581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262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871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507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910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804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776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655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671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595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412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8286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80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6317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3953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C60EBAE6-5972-4396-A5BB-B2D0763D3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FC92346A-5796-4B0F-BED7-0793008DD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F2E6DAA-3611-42BE-857E-A1D6D518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CAC524-48D1-4BC0-BB2A-E0C1DC4546B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0730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슬라이드 이미지 개체 틀 1">
            <a:extLst>
              <a:ext uri="{FF2B5EF4-FFF2-40B4-BE49-F238E27FC236}">
                <a16:creationId xmlns:a16="http://schemas.microsoft.com/office/drawing/2014/main" id="{7D134615-8354-4988-90A3-ACC602B44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슬라이드 노트 개체 틀 2">
            <a:extLst>
              <a:ext uri="{FF2B5EF4-FFF2-40B4-BE49-F238E27FC236}">
                <a16:creationId xmlns:a16="http://schemas.microsoft.com/office/drawing/2014/main" id="{09D80C2F-1DF4-4032-9AAC-F267E4782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9332" name="슬라이드 번호 개체 틀 3">
            <a:extLst>
              <a:ext uri="{FF2B5EF4-FFF2-40B4-BE49-F238E27FC236}">
                <a16:creationId xmlns:a16="http://schemas.microsoft.com/office/drawing/2014/main" id="{B606F641-B9C1-42A4-B9E0-4AE21EF710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978118F-0833-4CE6-ACF9-EDCD7E8F2FDC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20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3E70D-639B-4F24-9546-1A1D88E92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29BD01-DB6D-481D-8812-AC619E82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B16EF-AF43-443C-964F-E3637FED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D93F610-EC9F-49AF-BEE7-BFECFBEE6B62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4EA2F-911D-48DE-8BEF-3CAA8C66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EBBB8-3312-4ED0-8229-46139B8B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58AB4F4-AAE8-4439-8C60-54BA36FC84B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24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769A8-9AF7-406A-9493-ABFDEEB6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2DDFD6-07A0-4F2E-AAA4-B8EBF1FD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2C10F-8AD1-4CEE-B22F-D5531E70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7DEF653-2431-4A0E-9654-9ACB9D51FBE7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35EECA-72DC-4BD4-B0AB-FA64181B6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0EC19-3B01-4402-96B5-C499BD89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4E1167C-F991-4836-8C18-AE230C6BF58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6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4FECC-54DA-4AE7-A17E-22058E2C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DFE1E-F1FA-45E7-983F-80552D737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EA5F0-8154-43A8-8D33-471531B1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F262E2-F89F-4A75-B54F-D6A8EF2BF1D9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14E77-F129-48B9-AC09-211BAEF7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0FB410-842C-48FF-BFF7-119062E7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938400F-1A3B-4F2D-8A86-FE81616170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B64CD-C159-42EE-9204-80C8CA91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E1860-5D8C-4122-8171-2DF7F74BE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030E9D-78D7-42AB-BE75-DCC781A2C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BC3B4-068C-4788-9769-E92FD962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3B8D971-5704-4145-A919-9D554FEA486D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8AFBA1-12A0-4947-A3CD-1A8E91F7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A3913B-B113-47D4-84EA-EB643657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363F4B-481F-40B9-AF0B-5BC614D296D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0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17A24-C952-4A9A-B023-1E809E30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70054-A956-453B-ADB4-760D845B6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8F5E92-8FF3-47E1-B76E-9ED7E685B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D61E73-1E7C-48BE-A066-630009497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D66483-D5D0-4515-BE36-5F1198599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514F2B-EEC2-4AB0-B950-A46D79B5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B7BDD3F-43B3-4C4F-8D08-A54CB3D7E68D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24F9E2-F0E1-41AA-BCF4-EE8BAA01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F09759-156F-4647-9F42-84D66ABF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5DD5644-BEC7-463E-B6D9-F45E0D6469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83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BF5D4-9CC4-443F-A94E-0956745B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FE8C62-0803-48ED-A0C0-4641E342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3355378-CBBB-46C3-9CB1-42FDE5043C5B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B9E311-E6EA-4E0E-908C-3C6DB9F0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0BB1C2-B304-4BA4-8AC9-50C1E26F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12DAEF-D8BE-4A95-9621-3C7C61594A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02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610685-5AA5-4BCE-A1A5-33921F02192B}"/>
              </a:ext>
            </a:extLst>
          </p:cNvPr>
          <p:cNvSpPr/>
          <p:nvPr userDrawn="1"/>
        </p:nvSpPr>
        <p:spPr>
          <a:xfrm>
            <a:off x="0" y="0"/>
            <a:ext cx="12192000" cy="90646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37423A-65A9-4B83-BDCA-3F6F474D4956}"/>
              </a:ext>
            </a:extLst>
          </p:cNvPr>
          <p:cNvSpPr/>
          <p:nvPr userDrawn="1"/>
        </p:nvSpPr>
        <p:spPr>
          <a:xfrm>
            <a:off x="0" y="6375400"/>
            <a:ext cx="12192000" cy="5159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바닥글 개체 틀 2">
            <a:extLst>
              <a:ext uri="{FF2B5EF4-FFF2-40B4-BE49-F238E27FC236}">
                <a16:creationId xmlns:a16="http://schemas.microsoft.com/office/drawing/2014/main" id="{03C89755-87E1-4D6C-B740-03B4E772C406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chemeClr val="bg1"/>
                </a:solidFill>
              </a:rPr>
              <a:t>빅데이터분석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737D079-2C0D-4521-A876-B9F4A5FA5F09}"/>
              </a:ext>
            </a:extLst>
          </p:cNvPr>
          <p:cNvSpPr txBox="1">
            <a:spLocks/>
          </p:cNvSpPr>
          <p:nvPr userDrawn="1"/>
        </p:nvSpPr>
        <p:spPr>
          <a:xfrm>
            <a:off x="9281720" y="6452429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A57A4BD-6EDC-46A2-834B-61CF7CE0EBB4}" type="slidenum">
              <a:rPr lang="ko-KR" altLang="en-US" sz="1400" b="1" smtClean="0">
                <a:highlight>
                  <a:srgbClr val="FFFF00"/>
                </a:highlight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4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99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E6E4C-8DC1-4A6E-90F7-4279984F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BCDBD-ABFC-4B82-96DF-BB8BEE9C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6CFB77-90F2-48E2-8A9E-01A4DBE30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1036D9-3BB3-46E6-B802-D293EB26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58422B7-24C4-472A-88B6-6AA6CE96B749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436836-273F-4845-A376-27200544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B74232-E956-49BA-BDA5-BA77544F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0B0596-D5FC-4448-AEED-9D03275090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98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77DCA-43CC-47A7-88FB-A41ECECB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237996-607D-4B3D-BAC5-25D979EA0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9851F2-09B6-4956-9BF0-DFEF038CA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C56C3-12A8-4759-8E4A-40EA84B3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7EDF4F-80DE-426F-943F-FF36A6E1559A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A47C3B-8032-4D3E-A47B-4B42405E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3CFC89-AEEF-4956-BE87-8BC4DE09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96D3F32-FF73-4782-9A44-4690EBFCA6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214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2C7B6-4FA9-4E7B-80EB-4943C2A9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0FEE5A-6421-4F73-841B-000457CED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BDD94-E9E6-406E-A82E-C020B841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8A923E1-B626-4A76-A4A7-3115B0A6081E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FED8-F9E0-4F82-881D-E9B65891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BB101-8682-41CF-889C-33F581DA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FA2CD7F-A1BC-4C3E-B760-D215897D13B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89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15334E-4487-4417-967C-1054F7FAA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C0DBE-A6CA-4D05-A2C8-13FBC03B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B6FFD-80C7-4D3E-B5D7-444EFD0C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945837B-DF37-466E-9BF2-3F16DC998E80}" type="datetimeFigureOut">
              <a:rPr lang="ko-KR" altLang="en-US"/>
              <a:pPr>
                <a:defRPr/>
              </a:pPr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3EF1A-449A-4DB3-9434-6F6DB434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BCB683-FD5A-4B72-BD46-BFF8BD50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A05E1FA-DA96-4D65-98BA-2FD6AD42277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0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86BCFE-0854-406E-BAA5-E392B5800975}"/>
              </a:ext>
            </a:extLst>
          </p:cNvPr>
          <p:cNvSpPr/>
          <p:nvPr userDrawn="1"/>
        </p:nvSpPr>
        <p:spPr>
          <a:xfrm>
            <a:off x="0" y="0"/>
            <a:ext cx="12192000" cy="7635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A93F6A-40FD-4B81-A662-D35E24C518E6}"/>
              </a:ext>
            </a:extLst>
          </p:cNvPr>
          <p:cNvSpPr/>
          <p:nvPr userDrawn="1"/>
        </p:nvSpPr>
        <p:spPr>
          <a:xfrm>
            <a:off x="0" y="6411913"/>
            <a:ext cx="12192000" cy="44608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9" name="바닥글 개체 틀 2">
            <a:extLst>
              <a:ext uri="{FF2B5EF4-FFF2-40B4-BE49-F238E27FC236}">
                <a16:creationId xmlns:a16="http://schemas.microsoft.com/office/drawing/2014/main" id="{AF16C193-7CA1-46B5-A79B-0B26BD580F18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 err="1">
                <a:solidFill>
                  <a:schemeClr val="bg1"/>
                </a:solidFill>
              </a:rPr>
              <a:t>파이썬</a:t>
            </a:r>
            <a:r>
              <a:rPr lang="ko-KR" altLang="en-US" b="1" dirty="0">
                <a:solidFill>
                  <a:schemeClr val="bg1"/>
                </a:solidFill>
              </a:rPr>
              <a:t> 기초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1B77644E-9142-4F20-8A5E-A4B49795C21C}"/>
              </a:ext>
            </a:extLst>
          </p:cNvPr>
          <p:cNvSpPr txBox="1">
            <a:spLocks/>
          </p:cNvSpPr>
          <p:nvPr userDrawn="1"/>
        </p:nvSpPr>
        <p:spPr>
          <a:xfrm>
            <a:off x="9344025" y="6453188"/>
            <a:ext cx="2743200" cy="365125"/>
          </a:xfrm>
          <a:prstGeom prst="rect">
            <a:avLst/>
          </a:prstGeom>
          <a:noFill/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C3584EE-FCFA-4EFB-96C3-7202F341AB65}" type="slidenum">
              <a:rPr lang="ko-KR" altLang="en-US" sz="1600" b="1" smtClean="0">
                <a:solidFill>
                  <a:schemeClr val="bg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6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">
            <a:extLst>
              <a:ext uri="{FF2B5EF4-FFF2-40B4-BE49-F238E27FC236}">
                <a16:creationId xmlns:a16="http://schemas.microsoft.com/office/drawing/2014/main" id="{A7751103-04CE-4552-8DD0-29E3DCA86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0557" y="1281392"/>
            <a:ext cx="34788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ko-KR" altLang="en-US" sz="4800" b="1" dirty="0" err="1">
                <a:solidFill>
                  <a:srgbClr val="7030A0"/>
                </a:solidFill>
              </a:rPr>
              <a:t>파이썬</a:t>
            </a:r>
            <a:r>
              <a:rPr lang="ko-KR" altLang="en-US" sz="4800" b="1" dirty="0">
                <a:solidFill>
                  <a:srgbClr val="7030A0"/>
                </a:solidFill>
              </a:rPr>
              <a:t> 기초</a:t>
            </a:r>
            <a:endParaRPr lang="ko-KR" altLang="en-US" sz="48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0D86E-DDC0-41BE-B7BB-DEBBACD16BF7}"/>
              </a:ext>
            </a:extLst>
          </p:cNvPr>
          <p:cNvSpPr txBox="1"/>
          <p:nvPr/>
        </p:nvSpPr>
        <p:spPr>
          <a:xfrm>
            <a:off x="2907764" y="2209381"/>
            <a:ext cx="6376472" cy="2677656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 dirty="0">
                <a:solidFill>
                  <a:srgbClr val="002060"/>
                </a:solidFill>
                <a:latin typeface="+mn-lt"/>
                <a:ea typeface="+mn-ea"/>
              </a:rPr>
              <a:t>프로그래밍언어</a:t>
            </a:r>
            <a:endParaRPr lang="en-US" altLang="ko-KR" sz="2400" b="1" dirty="0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 dirty="0" err="1">
                <a:solidFill>
                  <a:srgbClr val="002060"/>
                </a:solidFill>
                <a:latin typeface="+mn-lt"/>
                <a:ea typeface="+mn-ea"/>
              </a:rPr>
              <a:t>파이썬</a:t>
            </a:r>
            <a:r>
              <a:rPr lang="ko-KR" altLang="en-US" sz="2400" b="1" dirty="0">
                <a:solidFill>
                  <a:srgbClr val="002060"/>
                </a:solidFill>
                <a:latin typeface="+mn-lt"/>
                <a:ea typeface="+mn-ea"/>
              </a:rPr>
              <a:t> 데이터형</a:t>
            </a:r>
            <a:endParaRPr lang="en-US" altLang="ko-KR" sz="2400" b="1" dirty="0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2400" b="1" dirty="0">
                <a:solidFill>
                  <a:srgbClr val="002060"/>
                </a:solidFill>
                <a:latin typeface="+mn-lt"/>
                <a:ea typeface="+mn-ea"/>
              </a:rPr>
              <a:t>(</a:t>
            </a:r>
            <a:r>
              <a:rPr lang="ko-KR" altLang="en-US" sz="2400" b="1" dirty="0">
                <a:solidFill>
                  <a:srgbClr val="0070C0"/>
                </a:solidFill>
                <a:latin typeface="+mn-lt"/>
                <a:ea typeface="+mn-ea"/>
              </a:rPr>
              <a:t>문자</a:t>
            </a:r>
            <a:r>
              <a:rPr lang="en-US" altLang="ko-KR" sz="2400" b="1" dirty="0">
                <a:solidFill>
                  <a:srgbClr val="0070C0"/>
                </a:solidFill>
                <a:latin typeface="+mn-lt"/>
                <a:ea typeface="+mn-ea"/>
              </a:rPr>
              <a:t>/</a:t>
            </a:r>
            <a:r>
              <a:rPr lang="ko-KR" altLang="en-US" sz="2400" b="1" dirty="0">
                <a:solidFill>
                  <a:srgbClr val="0070C0"/>
                </a:solidFill>
                <a:latin typeface="+mn-lt"/>
                <a:ea typeface="+mn-ea"/>
              </a:rPr>
              <a:t>정수</a:t>
            </a:r>
            <a:r>
              <a:rPr lang="en-US" altLang="ko-KR" sz="2400" b="1" dirty="0">
                <a:solidFill>
                  <a:srgbClr val="0070C0"/>
                </a:solidFill>
                <a:latin typeface="+mn-lt"/>
                <a:ea typeface="+mn-ea"/>
              </a:rPr>
              <a:t>/</a:t>
            </a:r>
            <a:r>
              <a:rPr lang="ko-KR" altLang="en-US" sz="2400" b="1" dirty="0">
                <a:solidFill>
                  <a:srgbClr val="0070C0"/>
                </a:solidFill>
                <a:latin typeface="+mn-lt"/>
                <a:ea typeface="+mn-ea"/>
              </a:rPr>
              <a:t>실수</a:t>
            </a:r>
            <a:r>
              <a:rPr lang="en-US" altLang="ko-KR" sz="2400" b="1" dirty="0">
                <a:solidFill>
                  <a:srgbClr val="0070C0"/>
                </a:solidFill>
                <a:latin typeface="+mn-lt"/>
                <a:ea typeface="+mn-ea"/>
              </a:rPr>
              <a:t>/</a:t>
            </a:r>
            <a:r>
              <a:rPr lang="ko-KR" altLang="en-US" sz="2400" b="1" dirty="0">
                <a:solidFill>
                  <a:srgbClr val="0070C0"/>
                </a:solidFill>
                <a:latin typeface="+mn-lt"/>
                <a:ea typeface="+mn-ea"/>
              </a:rPr>
              <a:t>리스트</a:t>
            </a:r>
            <a:r>
              <a:rPr lang="en-US" altLang="ko-KR" sz="2400" b="1" dirty="0">
                <a:solidFill>
                  <a:srgbClr val="0070C0"/>
                </a:solidFill>
                <a:latin typeface="+mn-lt"/>
                <a:ea typeface="+mn-ea"/>
              </a:rPr>
              <a:t>/</a:t>
            </a:r>
            <a:r>
              <a:rPr lang="ko-KR" altLang="en-US" sz="2400" b="1" dirty="0" err="1">
                <a:solidFill>
                  <a:srgbClr val="0070C0"/>
                </a:solidFill>
                <a:latin typeface="+mn-lt"/>
                <a:ea typeface="+mn-ea"/>
              </a:rPr>
              <a:t>튜플</a:t>
            </a:r>
            <a:r>
              <a:rPr lang="en-US" altLang="ko-KR" sz="2400" b="1" dirty="0">
                <a:solidFill>
                  <a:srgbClr val="0070C0"/>
                </a:solidFill>
                <a:latin typeface="+mn-lt"/>
                <a:ea typeface="+mn-ea"/>
              </a:rPr>
              <a:t>/</a:t>
            </a:r>
            <a:r>
              <a:rPr lang="ko-KR" altLang="en-US" sz="2400" b="1" dirty="0" err="1">
                <a:solidFill>
                  <a:srgbClr val="0070C0"/>
                </a:solidFill>
                <a:latin typeface="+mn-lt"/>
                <a:ea typeface="+mn-ea"/>
              </a:rPr>
              <a:t>딕셔너리</a:t>
            </a:r>
            <a:r>
              <a:rPr lang="en-US" altLang="ko-KR" sz="2400" b="1" dirty="0">
                <a:solidFill>
                  <a:srgbClr val="002060"/>
                </a:solidFill>
                <a:latin typeface="+mn-lt"/>
                <a:ea typeface="+mn-ea"/>
              </a:rPr>
              <a:t>)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 dirty="0">
                <a:solidFill>
                  <a:srgbClr val="002060"/>
                </a:solidFill>
                <a:latin typeface="+mn-lt"/>
                <a:ea typeface="+mn-ea"/>
              </a:rPr>
              <a:t>데이터처리기초</a:t>
            </a:r>
            <a:endParaRPr lang="en-US" altLang="ko-KR" sz="2400" b="1" dirty="0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2400" b="1" dirty="0">
                <a:solidFill>
                  <a:srgbClr val="002060"/>
                </a:solidFill>
                <a:latin typeface="+mn-lt"/>
                <a:ea typeface="+mn-ea"/>
              </a:rPr>
              <a:t>(</a:t>
            </a:r>
            <a:r>
              <a:rPr lang="ko-KR" altLang="en-US" sz="2400" b="1" dirty="0">
                <a:solidFill>
                  <a:srgbClr val="0070C0"/>
                </a:solidFill>
                <a:latin typeface="+mn-lt"/>
                <a:ea typeface="+mn-ea"/>
              </a:rPr>
              <a:t>인덱싱</a:t>
            </a:r>
            <a:r>
              <a:rPr lang="en-US" altLang="ko-KR" sz="2400" b="1" dirty="0">
                <a:solidFill>
                  <a:srgbClr val="0070C0"/>
                </a:solidFill>
                <a:latin typeface="+mn-lt"/>
                <a:ea typeface="+mn-ea"/>
              </a:rPr>
              <a:t>/</a:t>
            </a:r>
            <a:r>
              <a:rPr lang="ko-KR" altLang="en-US" sz="2400" b="1" dirty="0" err="1">
                <a:solidFill>
                  <a:srgbClr val="0070C0"/>
                </a:solidFill>
                <a:latin typeface="+mn-lt"/>
                <a:ea typeface="+mn-ea"/>
              </a:rPr>
              <a:t>슬라이싱</a:t>
            </a:r>
            <a:r>
              <a:rPr lang="en-US" altLang="ko-KR" sz="2400" b="1" dirty="0">
                <a:solidFill>
                  <a:srgbClr val="002060"/>
                </a:solidFill>
                <a:latin typeface="+mn-lt"/>
                <a:ea typeface="+mn-ea"/>
              </a:rPr>
              <a:t>)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 dirty="0">
                <a:solidFill>
                  <a:srgbClr val="002060"/>
                </a:solidFill>
                <a:latin typeface="+mn-lt"/>
                <a:ea typeface="+mn-ea"/>
              </a:rPr>
              <a:t>실습환경</a:t>
            </a:r>
            <a:endParaRPr lang="en-US" altLang="ko-KR" sz="2400" b="1" dirty="0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 dirty="0" err="1">
                <a:solidFill>
                  <a:srgbClr val="002060"/>
                </a:solidFill>
                <a:latin typeface="+mn-lt"/>
                <a:ea typeface="+mn-ea"/>
              </a:rPr>
              <a:t>파이썬</a:t>
            </a:r>
            <a:r>
              <a:rPr lang="ko-KR" altLang="en-US" sz="2400" b="1" dirty="0">
                <a:solidFill>
                  <a:srgbClr val="002060"/>
                </a:solidFill>
                <a:latin typeface="+mn-lt"/>
                <a:ea typeface="+mn-ea"/>
              </a:rPr>
              <a:t> 코딩 실습</a:t>
            </a:r>
            <a:endParaRPr lang="en-US" altLang="ko-KR" sz="2400" b="1" dirty="0">
              <a:solidFill>
                <a:srgbClr val="00206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4663738" y="107574"/>
            <a:ext cx="3528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프로그래밍언어</a:t>
            </a:r>
            <a:r>
              <a:rPr lang="en-US" altLang="ko-KR" sz="2800" b="1" dirty="0">
                <a:solidFill>
                  <a:schemeClr val="bg1"/>
                </a:solidFill>
              </a:rPr>
              <a:t>(1/3)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0A43E-25F3-4202-B463-C266769B4D9C}"/>
              </a:ext>
            </a:extLst>
          </p:cNvPr>
          <p:cNvSpPr txBox="1"/>
          <p:nvPr/>
        </p:nvSpPr>
        <p:spPr>
          <a:xfrm>
            <a:off x="457200" y="1039906"/>
            <a:ext cx="5184433" cy="4187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  <a:r>
              <a:rPr lang="ko-KR" altLang="en-US" sz="2000" b="1" dirty="0">
                <a:solidFill>
                  <a:srgbClr val="0070C0"/>
                </a:solidFill>
              </a:rPr>
              <a:t>프로그래밍언어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Programming Language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컴퓨터</a:t>
            </a:r>
            <a:r>
              <a:rPr lang="en-US" altLang="ko-KR" sz="2000" dirty="0"/>
              <a:t>(</a:t>
            </a:r>
            <a:r>
              <a:rPr lang="ko-KR" altLang="en-US" sz="2000" dirty="0"/>
              <a:t>구체적으로 </a:t>
            </a:r>
            <a:r>
              <a:rPr lang="en-US" altLang="ko-KR" sz="2000" dirty="0"/>
              <a:t>CPU)</a:t>
            </a:r>
            <a:r>
              <a:rPr lang="ko-KR" altLang="en-US" sz="2000" dirty="0"/>
              <a:t>와 소통 수단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dirty="0"/>
              <a:t>명령문장 표현 수단</a:t>
            </a:r>
            <a:endParaRPr lang="en-US" altLang="ko-KR" sz="2000" dirty="0"/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/>
              <a:t> </a:t>
            </a:r>
            <a:r>
              <a:rPr lang="ko-KR" altLang="en-US" sz="2000" dirty="0"/>
              <a:t>문장 작성에 </a:t>
            </a:r>
            <a:r>
              <a:rPr lang="ko-KR" altLang="en-US" sz="2000" dirty="0">
                <a:solidFill>
                  <a:srgbClr val="7030A0"/>
                </a:solidFill>
              </a:rPr>
              <a:t>단어</a:t>
            </a:r>
            <a:r>
              <a:rPr lang="en-US" altLang="ko-KR" sz="2000" dirty="0">
                <a:solidFill>
                  <a:srgbClr val="7030A0"/>
                </a:solidFill>
              </a:rPr>
              <a:t>, </a:t>
            </a:r>
            <a:r>
              <a:rPr lang="ko-KR" altLang="en-US" sz="2000" dirty="0">
                <a:solidFill>
                  <a:srgbClr val="7030A0"/>
                </a:solidFill>
              </a:rPr>
              <a:t>문법 필요</a:t>
            </a:r>
            <a:endParaRPr lang="en-US" altLang="ko-KR" sz="2000" dirty="0">
              <a:solidFill>
                <a:srgbClr val="7030A0"/>
              </a:solidFill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/>
              <a:t> </a:t>
            </a:r>
            <a:r>
              <a:rPr lang="ko-KR" altLang="en-US" sz="2000" dirty="0"/>
              <a:t>단어 </a:t>
            </a:r>
            <a:r>
              <a:rPr lang="en-US" altLang="ko-KR" sz="2000" dirty="0"/>
              <a:t>: </a:t>
            </a:r>
            <a:r>
              <a:rPr lang="ko-KR" altLang="en-US" sz="2000" dirty="0"/>
              <a:t>변수</a:t>
            </a:r>
            <a:r>
              <a:rPr lang="en-US" altLang="ko-KR" sz="2000" dirty="0"/>
              <a:t>, </a:t>
            </a:r>
            <a:r>
              <a:rPr lang="ko-KR" altLang="en-US" sz="2000" dirty="0"/>
              <a:t>함수 등</a:t>
            </a:r>
            <a:endParaRPr lang="en-US" altLang="ko-KR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b="1" dirty="0">
                <a:solidFill>
                  <a:srgbClr val="FF0000"/>
                </a:solidFill>
              </a:rPr>
              <a:t>변수는 그릇이다</a:t>
            </a:r>
            <a:r>
              <a:rPr lang="en-US" altLang="ko-KR" sz="2000" dirty="0"/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en-US" sz="2000" dirty="0"/>
              <a:t>변수는 명사</a:t>
            </a:r>
            <a:r>
              <a:rPr lang="en-US" altLang="ko-KR" sz="2000" dirty="0"/>
              <a:t>?, </a:t>
            </a:r>
            <a:r>
              <a:rPr lang="ko-KR" altLang="en-US" sz="2000" dirty="0"/>
              <a:t>함수는 동사</a:t>
            </a:r>
            <a:r>
              <a:rPr lang="en-US" altLang="ko-KR" sz="2000" dirty="0"/>
              <a:t>?</a:t>
            </a:r>
          </a:p>
          <a:p>
            <a:pPr lvl="2">
              <a:lnSpc>
                <a:spcPct val="150000"/>
              </a:lnSpc>
            </a:pPr>
            <a:r>
              <a:rPr lang="ko-KR" altLang="en-US" sz="2000" dirty="0"/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906B55-049A-4B97-8EA7-CFCF49D12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896" y="1351523"/>
            <a:ext cx="4281437" cy="36834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288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4511338" y="152397"/>
            <a:ext cx="3528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프로그래밍언어</a:t>
            </a:r>
            <a:r>
              <a:rPr lang="en-US" altLang="ko-KR" sz="2800" b="1" dirty="0">
                <a:solidFill>
                  <a:schemeClr val="bg1"/>
                </a:solidFill>
              </a:rPr>
              <a:t>(2/3)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0A43E-25F3-4202-B463-C266769B4D9C}"/>
              </a:ext>
            </a:extLst>
          </p:cNvPr>
          <p:cNvSpPr txBox="1"/>
          <p:nvPr/>
        </p:nvSpPr>
        <p:spPr>
          <a:xfrm>
            <a:off x="268941" y="977153"/>
            <a:ext cx="4364593" cy="18794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  <a:r>
              <a:rPr lang="ko-KR" altLang="en-US" sz="2000" b="1" dirty="0">
                <a:solidFill>
                  <a:srgbClr val="0070C0"/>
                </a:solidFill>
              </a:rPr>
              <a:t>프로그래밍언어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함수는 동사</a:t>
            </a:r>
            <a:r>
              <a:rPr lang="en-US" altLang="ko-KR" sz="2000" dirty="0"/>
              <a:t>?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/>
              <a:t> </a:t>
            </a:r>
            <a:r>
              <a:rPr lang="ko-KR" altLang="en-US" sz="2000" dirty="0"/>
              <a:t>내장함수</a:t>
            </a:r>
            <a:r>
              <a:rPr lang="en-US" altLang="ko-KR" sz="2000" dirty="0"/>
              <a:t>: </a:t>
            </a:r>
            <a:r>
              <a:rPr lang="en-US" altLang="ko-KR" sz="2000" b="1" dirty="0">
                <a:solidFill>
                  <a:srgbClr val="FF0000"/>
                </a:solidFill>
              </a:rPr>
              <a:t>print</a:t>
            </a:r>
            <a:r>
              <a:rPr lang="en-US" altLang="ko-KR" sz="2000" dirty="0"/>
              <a:t>(), input()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/>
              <a:t> </a:t>
            </a:r>
            <a:r>
              <a:rPr lang="ko-KR" altLang="en-US" sz="2000" dirty="0"/>
              <a:t>사용자정의함수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FCED68-4D53-49AF-ACB9-317C542BE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374" y="977153"/>
            <a:ext cx="6643325" cy="30211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419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4658343" y="152397"/>
            <a:ext cx="3528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프로그래밍언어</a:t>
            </a:r>
            <a:r>
              <a:rPr lang="en-US" altLang="ko-KR" sz="2800" b="1" dirty="0">
                <a:solidFill>
                  <a:schemeClr val="bg1"/>
                </a:solidFill>
              </a:rPr>
              <a:t>(3/3)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0A43E-25F3-4202-B463-C266769B4D9C}"/>
              </a:ext>
            </a:extLst>
          </p:cNvPr>
          <p:cNvSpPr txBox="1"/>
          <p:nvPr/>
        </p:nvSpPr>
        <p:spPr>
          <a:xfrm>
            <a:off x="268941" y="977153"/>
            <a:ext cx="4360489" cy="18794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  <a:r>
              <a:rPr lang="ko-KR" altLang="en-US" sz="2000" b="1" dirty="0">
                <a:solidFill>
                  <a:srgbClr val="0070C0"/>
                </a:solidFill>
              </a:rPr>
              <a:t>프로그래밍언어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함수는 동사</a:t>
            </a:r>
            <a:r>
              <a:rPr lang="en-US" altLang="ko-KR" sz="2000" dirty="0"/>
              <a:t>?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/>
              <a:t> </a:t>
            </a:r>
            <a:r>
              <a:rPr lang="ko-KR" altLang="en-US" sz="2000" dirty="0"/>
              <a:t>내장함수</a:t>
            </a:r>
            <a:r>
              <a:rPr lang="en-US" altLang="ko-KR" sz="2000" dirty="0"/>
              <a:t>: print(), </a:t>
            </a:r>
            <a:r>
              <a:rPr lang="en-US" altLang="ko-KR" sz="2000" b="1" dirty="0">
                <a:solidFill>
                  <a:srgbClr val="FF0000"/>
                </a:solidFill>
              </a:rPr>
              <a:t>input</a:t>
            </a:r>
            <a:r>
              <a:rPr lang="en-US" altLang="ko-KR" sz="2000" dirty="0"/>
              <a:t>()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/>
              <a:t> </a:t>
            </a:r>
            <a:r>
              <a:rPr lang="ko-KR" altLang="en-US" sz="2000" dirty="0"/>
              <a:t>사용자정의함수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E50DF9-746F-4A46-BCDC-1CE9CC6A6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430" y="1189785"/>
            <a:ext cx="7114886" cy="32029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128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4F5AA0-3810-4209-90A4-B68EE1A0F60A}"/>
              </a:ext>
            </a:extLst>
          </p:cNvPr>
          <p:cNvSpPr txBox="1"/>
          <p:nvPr/>
        </p:nvSpPr>
        <p:spPr>
          <a:xfrm>
            <a:off x="3278594" y="59567"/>
            <a:ext cx="5498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solidFill>
                  <a:schemeClr val="bg1"/>
                </a:solidFill>
              </a:rPr>
              <a:t>파이썬의</a:t>
            </a:r>
            <a:r>
              <a:rPr lang="ko-KR" altLang="en-US" sz="3600" b="1" dirty="0">
                <a:solidFill>
                  <a:schemeClr val="bg1"/>
                </a:solidFill>
              </a:rPr>
              <a:t> 주요 </a:t>
            </a:r>
            <a:r>
              <a:rPr lang="en-US" altLang="ko-KR" sz="3600" b="1" dirty="0">
                <a:solidFill>
                  <a:schemeClr val="bg1"/>
                </a:solidFill>
              </a:rPr>
              <a:t>Data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Type</a:t>
            </a:r>
            <a:endParaRPr lang="ko-KR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7AD41-701F-422F-B595-B11DF33F0F3B}"/>
              </a:ext>
            </a:extLst>
          </p:cNvPr>
          <p:cNvSpPr txBox="1"/>
          <p:nvPr/>
        </p:nvSpPr>
        <p:spPr>
          <a:xfrm>
            <a:off x="546847" y="1398495"/>
            <a:ext cx="472597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2800" dirty="0"/>
              <a:t>string(</a:t>
            </a:r>
            <a:r>
              <a:rPr lang="ko-KR" altLang="en-US" sz="2800" dirty="0"/>
              <a:t>문자열</a:t>
            </a:r>
            <a:r>
              <a:rPr lang="en-US" altLang="ko-KR" sz="28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2800" dirty="0"/>
              <a:t>Integer(</a:t>
            </a:r>
            <a:r>
              <a:rPr lang="ko-KR" altLang="en-US" sz="2800" dirty="0"/>
              <a:t>정수형</a:t>
            </a:r>
            <a:r>
              <a:rPr lang="en-US" altLang="ko-KR" sz="28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2800" dirty="0"/>
              <a:t>Float(</a:t>
            </a:r>
            <a:r>
              <a:rPr lang="ko-KR" altLang="en-US" sz="2800" dirty="0"/>
              <a:t>실수형</a:t>
            </a:r>
            <a:r>
              <a:rPr lang="en-US" altLang="ko-KR" sz="2800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2800" dirty="0"/>
              <a:t>리스트</a:t>
            </a:r>
            <a:r>
              <a:rPr lang="en-US" altLang="ko-KR" sz="2800" dirty="0"/>
              <a:t>(List)</a:t>
            </a:r>
          </a:p>
          <a:p>
            <a:pPr marL="285750" indent="-285750">
              <a:buFontTx/>
              <a:buChar char="-"/>
            </a:pPr>
            <a:r>
              <a:rPr lang="ko-KR" altLang="en-US" sz="2800" dirty="0" err="1"/>
              <a:t>튜플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Tuyple</a:t>
            </a:r>
            <a:r>
              <a:rPr lang="en-US" altLang="ko-KR" sz="2800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2800" dirty="0" err="1"/>
              <a:t>딕셔너리</a:t>
            </a:r>
            <a:r>
              <a:rPr lang="en-US" altLang="ko-KR" sz="2800" dirty="0"/>
              <a:t>(Dictionary)</a:t>
            </a:r>
          </a:p>
          <a:p>
            <a:pPr marL="285750" indent="-285750">
              <a:buFontTx/>
              <a:buChar char="-"/>
            </a:pPr>
            <a:r>
              <a:rPr lang="ko-KR" altLang="en-US" sz="2800" dirty="0"/>
              <a:t>데이터프레임</a:t>
            </a:r>
            <a:r>
              <a:rPr lang="en-US" altLang="ko-KR" sz="2800" dirty="0"/>
              <a:t>(Data Frame)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13BE83-7DC0-496B-81C8-F36998AA2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89556"/>
            <a:ext cx="5648045" cy="276254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3B3BAA9A-4E85-482C-8AED-D54790DDDFA6}"/>
              </a:ext>
            </a:extLst>
          </p:cNvPr>
          <p:cNvSpPr/>
          <p:nvPr/>
        </p:nvSpPr>
        <p:spPr>
          <a:xfrm>
            <a:off x="6410045" y="2803203"/>
            <a:ext cx="2106706" cy="11488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908E4D5-5142-4492-B46D-423388FF6548}"/>
              </a:ext>
            </a:extLst>
          </p:cNvPr>
          <p:cNvSpPr/>
          <p:nvPr/>
        </p:nvSpPr>
        <p:spPr>
          <a:xfrm>
            <a:off x="8897730" y="2803203"/>
            <a:ext cx="2106706" cy="11488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9D32B-461A-41B7-A778-932A966DB30D}"/>
              </a:ext>
            </a:extLst>
          </p:cNvPr>
          <p:cNvSpPr txBox="1"/>
          <p:nvPr/>
        </p:nvSpPr>
        <p:spPr>
          <a:xfrm>
            <a:off x="7252727" y="413770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문자형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2AA56-FB4D-4B72-A1E2-FC2C763948A5}"/>
              </a:ext>
            </a:extLst>
          </p:cNvPr>
          <p:cNvSpPr txBox="1"/>
          <p:nvPr/>
        </p:nvSpPr>
        <p:spPr>
          <a:xfrm>
            <a:off x="9512501" y="40659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정수형</a:t>
            </a:r>
          </a:p>
        </p:txBody>
      </p:sp>
    </p:spTree>
    <p:extLst>
      <p:ext uri="{BB962C8B-B14F-4D97-AF65-F5344CB8AC3E}">
        <p14:creationId xmlns:p14="http://schemas.microsoft.com/office/powerpoint/2010/main" val="898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4F5AA0-3810-4209-90A4-B68EE1A0F60A}"/>
              </a:ext>
            </a:extLst>
          </p:cNvPr>
          <p:cNvSpPr txBox="1"/>
          <p:nvPr/>
        </p:nvSpPr>
        <p:spPr>
          <a:xfrm>
            <a:off x="4178808" y="71717"/>
            <a:ext cx="3834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리스트 </a:t>
            </a:r>
            <a:r>
              <a:rPr lang="en-US" altLang="ko-KR" sz="3600" b="1" dirty="0">
                <a:solidFill>
                  <a:schemeClr val="bg1"/>
                </a:solidFill>
              </a:rPr>
              <a:t>Type(1/2)</a:t>
            </a:r>
            <a:endParaRPr lang="ko-KR" altLang="en-US" sz="3600" b="1" dirty="0">
              <a:solidFill>
                <a:schemeClr val="bg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67430EA-470A-4437-A3E6-A9F7245C8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126" y="4179641"/>
            <a:ext cx="5426874" cy="3567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81B16F-7640-4CB3-87DC-4EEE5C7A9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451" y="4624315"/>
            <a:ext cx="4349564" cy="5132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D6B9163-262B-44C8-9F98-2B57C74DE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130" y="908084"/>
            <a:ext cx="5768511" cy="32715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25171EE-664A-4D44-87C6-DA9718F6AA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6904" y="908084"/>
            <a:ext cx="4500749" cy="300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84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4ABBBD7-3042-4C51-9383-AB881063B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894" y="1201959"/>
            <a:ext cx="8525435" cy="42602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BFFB80-2C5C-4131-AE9F-329C93EF9D3B}"/>
              </a:ext>
            </a:extLst>
          </p:cNvPr>
          <p:cNvSpPr txBox="1"/>
          <p:nvPr/>
        </p:nvSpPr>
        <p:spPr>
          <a:xfrm>
            <a:off x="4178808" y="8965"/>
            <a:ext cx="3834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리스트 </a:t>
            </a:r>
            <a:r>
              <a:rPr lang="en-US" altLang="ko-KR" sz="3600" b="1" dirty="0">
                <a:solidFill>
                  <a:schemeClr val="bg1"/>
                </a:solidFill>
              </a:rPr>
              <a:t>Type(2/2)</a:t>
            </a:r>
            <a:endParaRPr lang="ko-KR" alt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6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BBFFB80-2C5C-4131-AE9F-329C93EF9D3B}"/>
              </a:ext>
            </a:extLst>
          </p:cNvPr>
          <p:cNvSpPr txBox="1"/>
          <p:nvPr/>
        </p:nvSpPr>
        <p:spPr>
          <a:xfrm>
            <a:off x="4510502" y="0"/>
            <a:ext cx="3372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solidFill>
                  <a:schemeClr val="bg1"/>
                </a:solidFill>
              </a:rPr>
              <a:t>튜플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Type(1/2)</a:t>
            </a:r>
            <a:endParaRPr lang="ko-KR" altLang="en-US" sz="3600" b="1" dirty="0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6FCD8E1-CE22-4EB0-939A-575C3D8EB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11" y="1452283"/>
            <a:ext cx="6193796" cy="358588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466930C-A5F7-48D4-B8F8-BD289DBC8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750" y="1066799"/>
            <a:ext cx="4154427" cy="29365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4B7932B-7590-4AC9-9A41-D9A220F6C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648" y="4313898"/>
            <a:ext cx="3789550" cy="177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61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BBFFB80-2C5C-4131-AE9F-329C93EF9D3B}"/>
              </a:ext>
            </a:extLst>
          </p:cNvPr>
          <p:cNvSpPr txBox="1"/>
          <p:nvPr/>
        </p:nvSpPr>
        <p:spPr>
          <a:xfrm>
            <a:off x="4510502" y="0"/>
            <a:ext cx="3372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solidFill>
                  <a:schemeClr val="bg1"/>
                </a:solidFill>
              </a:rPr>
              <a:t>튜플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Type(2/2)</a:t>
            </a:r>
            <a:endParaRPr lang="ko-KR" altLang="en-US" sz="3600" b="1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FFAF23-9117-4699-97FF-D28885AEB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12" y="1081484"/>
            <a:ext cx="7288306" cy="37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BBFFB80-2C5C-4131-AE9F-329C93EF9D3B}"/>
              </a:ext>
            </a:extLst>
          </p:cNvPr>
          <p:cNvSpPr txBox="1"/>
          <p:nvPr/>
        </p:nvSpPr>
        <p:spPr>
          <a:xfrm>
            <a:off x="4510502" y="0"/>
            <a:ext cx="4296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solidFill>
                  <a:schemeClr val="bg1"/>
                </a:solidFill>
              </a:rPr>
              <a:t>딕셔너리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Type(1/2)</a:t>
            </a:r>
            <a:endParaRPr lang="ko-KR" altLang="en-US" sz="3600" b="1" dirty="0">
              <a:solidFill>
                <a:schemeClr val="bg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AA86555-8D52-492F-A300-B02798DB4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73" y="1121559"/>
            <a:ext cx="4302743" cy="164166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A79D64B-D743-4346-A071-2A123C40D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908" y="1191333"/>
            <a:ext cx="6221542" cy="13567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5A03EDF-20FA-4CE6-AC15-4CA789DA3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730" y="2895738"/>
            <a:ext cx="6073003" cy="114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17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BBFFB80-2C5C-4131-AE9F-329C93EF9D3B}"/>
              </a:ext>
            </a:extLst>
          </p:cNvPr>
          <p:cNvSpPr txBox="1"/>
          <p:nvPr/>
        </p:nvSpPr>
        <p:spPr>
          <a:xfrm>
            <a:off x="4510502" y="0"/>
            <a:ext cx="4296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solidFill>
                  <a:schemeClr val="bg1"/>
                </a:solidFill>
              </a:rPr>
              <a:t>딕셔너리</a:t>
            </a:r>
            <a:r>
              <a:rPr lang="ko-KR" altLang="en-US" sz="3600" b="1" dirty="0">
                <a:solidFill>
                  <a:schemeClr val="bg1"/>
                </a:solidFill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</a:rPr>
              <a:t>Type(2/2)</a:t>
            </a:r>
            <a:endParaRPr lang="ko-KR" altLang="en-US" sz="3600" b="1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9353A6-A52D-4E58-9E51-A3B17D309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891" y="1087830"/>
            <a:ext cx="8800217" cy="468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735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4F5AA0-3810-4209-90A4-B68EE1A0F60A}"/>
              </a:ext>
            </a:extLst>
          </p:cNvPr>
          <p:cNvSpPr txBox="1"/>
          <p:nvPr/>
        </p:nvSpPr>
        <p:spPr>
          <a:xfrm>
            <a:off x="3799835" y="0"/>
            <a:ext cx="41376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데이터 처리 기초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7AD41-701F-422F-B595-B11DF33F0F3B}"/>
              </a:ext>
            </a:extLst>
          </p:cNvPr>
          <p:cNvSpPr txBox="1"/>
          <p:nvPr/>
        </p:nvSpPr>
        <p:spPr>
          <a:xfrm>
            <a:off x="1389530" y="1290918"/>
            <a:ext cx="43460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4000" dirty="0"/>
              <a:t>인덱싱</a:t>
            </a:r>
            <a:r>
              <a:rPr lang="en-US" altLang="ko-KR" sz="4000" dirty="0"/>
              <a:t>(Indexing)</a:t>
            </a:r>
          </a:p>
          <a:p>
            <a:pPr marL="285750" indent="-285750">
              <a:buFontTx/>
              <a:buChar char="-"/>
            </a:pPr>
            <a:r>
              <a:rPr lang="ko-KR" altLang="en-US" sz="4000" dirty="0" err="1"/>
              <a:t>슬라이싱</a:t>
            </a:r>
            <a:r>
              <a:rPr lang="en-US" altLang="ko-KR" sz="4000" dirty="0"/>
              <a:t>(Slicing)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15564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F9E44D-DD9D-4C4C-AB70-3917C58CAE8F}"/>
              </a:ext>
            </a:extLst>
          </p:cNvPr>
          <p:cNvSpPr txBox="1"/>
          <p:nvPr/>
        </p:nvSpPr>
        <p:spPr>
          <a:xfrm>
            <a:off x="4167389" y="0"/>
            <a:ext cx="3494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</a:rPr>
              <a:t>Indexing(1/3)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C72D64-F700-488E-8256-E6EC8CD79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169" y="1234608"/>
            <a:ext cx="58102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56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8D7AAE4-DD43-4E74-831F-6C586F650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71" y="854013"/>
            <a:ext cx="10650024" cy="35954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485C05-011D-4095-9EFE-9203574E0600}"/>
              </a:ext>
            </a:extLst>
          </p:cNvPr>
          <p:cNvSpPr txBox="1"/>
          <p:nvPr/>
        </p:nvSpPr>
        <p:spPr>
          <a:xfrm>
            <a:off x="4167389" y="0"/>
            <a:ext cx="3494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</a:rPr>
              <a:t>Indexing(2/3)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1AE8A-4781-4668-840A-9670EE0E0BD9}"/>
              </a:ext>
            </a:extLst>
          </p:cNvPr>
          <p:cNvSpPr txBox="1"/>
          <p:nvPr/>
        </p:nvSpPr>
        <p:spPr>
          <a:xfrm>
            <a:off x="1281952" y="4568714"/>
            <a:ext cx="89322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 X</a:t>
            </a:r>
            <a:r>
              <a:rPr lang="ko-KR" altLang="en-US" sz="2400" dirty="0"/>
              <a:t>는 변수</a:t>
            </a:r>
            <a:endParaRPr lang="en-US" altLang="ko-KR" sz="2400" dirty="0"/>
          </a:p>
          <a:p>
            <a:r>
              <a:rPr lang="en-US" altLang="ko-KR" sz="2400" dirty="0"/>
              <a:t>“Rome is not built in a day”</a:t>
            </a:r>
            <a:r>
              <a:rPr lang="ko-KR" altLang="en-US" sz="2400" dirty="0"/>
              <a:t>는 변수에 보관된 문자열 데이터 값</a:t>
            </a:r>
            <a:endParaRPr lang="en-US" altLang="ko-KR" sz="2400" dirty="0"/>
          </a:p>
          <a:p>
            <a:r>
              <a:rPr lang="ko-KR" altLang="en-US" sz="2400" dirty="0"/>
              <a:t>데이터의 의미는 변수와 </a:t>
            </a:r>
            <a:r>
              <a:rPr lang="ko-KR" altLang="en-US" sz="2400" dirty="0" err="1"/>
              <a:t>데이터값을</a:t>
            </a:r>
            <a:r>
              <a:rPr lang="ko-KR" altLang="en-US" sz="2400" dirty="0"/>
              <a:t> 포함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A6077-596A-430B-8CB0-CFA73CF08199}"/>
              </a:ext>
            </a:extLst>
          </p:cNvPr>
          <p:cNvSpPr txBox="1"/>
          <p:nvPr/>
        </p:nvSpPr>
        <p:spPr>
          <a:xfrm>
            <a:off x="4419601" y="141642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FF00"/>
                </a:solidFill>
              </a:rPr>
              <a:t>‘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DF1F4-F73C-4A04-8EFE-2A7551F41A14}"/>
              </a:ext>
            </a:extLst>
          </p:cNvPr>
          <p:cNvSpPr txBox="1"/>
          <p:nvPr/>
        </p:nvSpPr>
        <p:spPr>
          <a:xfrm>
            <a:off x="7862044" y="1497104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FF00"/>
                </a:solidFill>
              </a:rPr>
              <a:t>‘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857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8968B4-D1FD-44AF-8127-B33F5FC7F915}"/>
              </a:ext>
            </a:extLst>
          </p:cNvPr>
          <p:cNvSpPr txBox="1"/>
          <p:nvPr/>
        </p:nvSpPr>
        <p:spPr>
          <a:xfrm>
            <a:off x="4830777" y="0"/>
            <a:ext cx="3494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</a:rPr>
              <a:t>Indexing(3/3)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2DA1B2-A997-4A8F-89A7-A92A9280E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59" y="1039906"/>
            <a:ext cx="11037947" cy="433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77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8968B4-D1FD-44AF-8127-B33F5FC7F915}"/>
              </a:ext>
            </a:extLst>
          </p:cNvPr>
          <p:cNvSpPr txBox="1"/>
          <p:nvPr/>
        </p:nvSpPr>
        <p:spPr>
          <a:xfrm>
            <a:off x="4830777" y="0"/>
            <a:ext cx="29674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</a:rPr>
              <a:t>Slicing(1/5)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C88EAD-D4D1-43BC-A072-2916C47B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403" y="1146362"/>
            <a:ext cx="7771280" cy="120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88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8968B4-D1FD-44AF-8127-B33F5FC7F915}"/>
              </a:ext>
            </a:extLst>
          </p:cNvPr>
          <p:cNvSpPr txBox="1"/>
          <p:nvPr/>
        </p:nvSpPr>
        <p:spPr>
          <a:xfrm>
            <a:off x="4830777" y="0"/>
            <a:ext cx="29674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</a:rPr>
              <a:t>Slicing(2/5)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C3CC4C-8B94-434B-B929-71445C280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65" y="842893"/>
            <a:ext cx="10650024" cy="359546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5A5B53F-6CAA-49BE-BED8-4C5CFE2E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388" y="4573369"/>
            <a:ext cx="4539223" cy="162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07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8968B4-D1FD-44AF-8127-B33F5FC7F915}"/>
              </a:ext>
            </a:extLst>
          </p:cNvPr>
          <p:cNvSpPr txBox="1"/>
          <p:nvPr/>
        </p:nvSpPr>
        <p:spPr>
          <a:xfrm>
            <a:off x="4830777" y="0"/>
            <a:ext cx="29674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</a:rPr>
              <a:t>Slicing(3/5)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BF67F4-F129-4B81-A6EA-777B821C6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7" y="1094481"/>
            <a:ext cx="10650071" cy="42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83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8968B4-D1FD-44AF-8127-B33F5FC7F915}"/>
              </a:ext>
            </a:extLst>
          </p:cNvPr>
          <p:cNvSpPr txBox="1"/>
          <p:nvPr/>
        </p:nvSpPr>
        <p:spPr>
          <a:xfrm>
            <a:off x="4830777" y="0"/>
            <a:ext cx="29674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</a:rPr>
              <a:t>Slicing(4/5)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E1E169-1FB5-4C7E-B93A-A69413B33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30" y="1008330"/>
            <a:ext cx="10452847" cy="395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10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182C4E-D973-4C4F-9395-69ED9D906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22765"/>
            <a:ext cx="10892118" cy="40598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5390AB-8D91-453F-8BDE-BF5E77E2B301}"/>
              </a:ext>
            </a:extLst>
          </p:cNvPr>
          <p:cNvSpPr txBox="1"/>
          <p:nvPr/>
        </p:nvSpPr>
        <p:spPr>
          <a:xfrm>
            <a:off x="4830777" y="0"/>
            <a:ext cx="29674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</a:rPr>
              <a:t>Slicing(5/5)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404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8968B4-D1FD-44AF-8127-B33F5FC7F915}"/>
              </a:ext>
            </a:extLst>
          </p:cNvPr>
          <p:cNvSpPr txBox="1"/>
          <p:nvPr/>
        </p:nvSpPr>
        <p:spPr>
          <a:xfrm>
            <a:off x="4694276" y="0"/>
            <a:ext cx="34227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실습환경</a:t>
            </a:r>
            <a:r>
              <a:rPr lang="en-US" altLang="ko-KR" sz="4000" b="1" dirty="0">
                <a:solidFill>
                  <a:schemeClr val="bg1"/>
                </a:solidFill>
              </a:rPr>
              <a:t>(1/2)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7A7F9-50A1-43BA-8746-51CFD5EDA490}"/>
              </a:ext>
            </a:extLst>
          </p:cNvPr>
          <p:cNvSpPr txBox="1"/>
          <p:nvPr/>
        </p:nvSpPr>
        <p:spPr>
          <a:xfrm>
            <a:off x="1014248" y="855217"/>
            <a:ext cx="34753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400" dirty="0"/>
              <a:t>  Anaconda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 </a:t>
            </a:r>
            <a:r>
              <a:rPr lang="en-US" altLang="ko-KR" sz="2400" b="1" dirty="0">
                <a:solidFill>
                  <a:srgbClr val="FF0000"/>
                </a:solidFill>
              </a:rPr>
              <a:t>Spyder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 Jupiter Notebook</a:t>
            </a: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ko-KR" sz="2400" dirty="0"/>
              <a:t> </a:t>
            </a:r>
            <a:r>
              <a:rPr lang="en-US" altLang="ko-KR" sz="2400" dirty="0" err="1"/>
              <a:t>colab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7CD69B-307D-4C4B-8B4D-2C3F5EB67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0" y="3214202"/>
            <a:ext cx="4120969" cy="27885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369FCD3-9168-42EB-B872-02F6C0854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194" y="2048963"/>
            <a:ext cx="3864069" cy="34771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CA10DB-5675-485C-88CD-676770599B8C}"/>
              </a:ext>
            </a:extLst>
          </p:cNvPr>
          <p:cNvSpPr txBox="1"/>
          <p:nvPr/>
        </p:nvSpPr>
        <p:spPr>
          <a:xfrm>
            <a:off x="5405727" y="1618076"/>
            <a:ext cx="941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Spyder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8543BC-7490-4D42-BCD4-DA704D2597BC}"/>
              </a:ext>
            </a:extLst>
          </p:cNvPr>
          <p:cNvSpPr txBox="1"/>
          <p:nvPr/>
        </p:nvSpPr>
        <p:spPr>
          <a:xfrm>
            <a:off x="1486456" y="2844870"/>
            <a:ext cx="2119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Jupiter Notebook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87A574-917C-4AF1-BA11-2F49D8D3D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0478" y="2794209"/>
            <a:ext cx="3500157" cy="29662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ADCAB3-8F9A-4FE2-8972-38A37AD1D808}"/>
              </a:ext>
            </a:extLst>
          </p:cNvPr>
          <p:cNvSpPr txBox="1"/>
          <p:nvPr/>
        </p:nvSpPr>
        <p:spPr>
          <a:xfrm>
            <a:off x="10612902" y="247553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0070C0"/>
                </a:solidFill>
              </a:rPr>
              <a:t>colab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2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8968B4-D1FD-44AF-8127-B33F5FC7F915}"/>
              </a:ext>
            </a:extLst>
          </p:cNvPr>
          <p:cNvSpPr txBox="1"/>
          <p:nvPr/>
        </p:nvSpPr>
        <p:spPr>
          <a:xfrm>
            <a:off x="4694276" y="0"/>
            <a:ext cx="34227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실습환경</a:t>
            </a:r>
            <a:r>
              <a:rPr lang="en-US" altLang="ko-KR" sz="4000" b="1" dirty="0">
                <a:solidFill>
                  <a:schemeClr val="bg1"/>
                </a:solidFill>
              </a:rPr>
              <a:t>(2/2)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4950F7-0B33-491F-ADC3-74C074151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48" y="821486"/>
            <a:ext cx="10244632" cy="55011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AD1D6B-546A-4D27-9614-C9994DD4EE07}"/>
              </a:ext>
            </a:extLst>
          </p:cNvPr>
          <p:cNvSpPr txBox="1"/>
          <p:nvPr/>
        </p:nvSpPr>
        <p:spPr>
          <a:xfrm>
            <a:off x="158561" y="765593"/>
            <a:ext cx="941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Spyder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04A13-C07B-4DF6-A0DD-008A7316BD62}"/>
              </a:ext>
            </a:extLst>
          </p:cNvPr>
          <p:cNvSpPr txBox="1"/>
          <p:nvPr/>
        </p:nvSpPr>
        <p:spPr>
          <a:xfrm>
            <a:off x="8220635" y="25101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변수창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C33883-91F6-46D2-AE0E-0B66F1BF67F1}"/>
              </a:ext>
            </a:extLst>
          </p:cNvPr>
          <p:cNvSpPr txBox="1"/>
          <p:nvPr/>
        </p:nvSpPr>
        <p:spPr>
          <a:xfrm>
            <a:off x="4755650" y="259976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편집창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659BA8-5D5B-4B94-98AB-C430F4197D89}"/>
              </a:ext>
            </a:extLst>
          </p:cNvPr>
          <p:cNvSpPr txBox="1"/>
          <p:nvPr/>
        </p:nvSpPr>
        <p:spPr>
          <a:xfrm>
            <a:off x="8018803" y="451312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콘솔창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224B7A-D0FD-4250-9912-8B8B9FF9A18D}"/>
              </a:ext>
            </a:extLst>
          </p:cNvPr>
          <p:cNvSpPr txBox="1"/>
          <p:nvPr/>
        </p:nvSpPr>
        <p:spPr>
          <a:xfrm>
            <a:off x="4755650" y="90815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기능 메뉴</a:t>
            </a:r>
          </a:p>
        </p:txBody>
      </p:sp>
    </p:spTree>
    <p:extLst>
      <p:ext uri="{BB962C8B-B14F-4D97-AF65-F5344CB8AC3E}">
        <p14:creationId xmlns:p14="http://schemas.microsoft.com/office/powerpoint/2010/main" val="524661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Box 1">
            <a:extLst>
              <a:ext uri="{FF2B5EF4-FFF2-40B4-BE49-F238E27FC236}">
                <a16:creationId xmlns:a16="http://schemas.microsoft.com/office/drawing/2014/main" id="{2DB29A70-DB06-4203-9F65-D6C3B13B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465388"/>
            <a:ext cx="42338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sz="6000" b="1">
                <a:solidFill>
                  <a:srgbClr val="0070C0"/>
                </a:solidFill>
              </a:rPr>
              <a:t>감사합니다</a:t>
            </a:r>
            <a:r>
              <a:rPr lang="en-US" altLang="ko-KR" sz="6000" b="1">
                <a:solidFill>
                  <a:srgbClr val="0070C0"/>
                </a:solidFill>
              </a:rPr>
              <a:t>.</a:t>
            </a:r>
            <a:endParaRPr lang="ko-KR" altLang="en-US" sz="60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33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6680</TotalTime>
  <Words>296</Words>
  <Application>Microsoft Office PowerPoint</Application>
  <PresentationFormat>와이드스크린</PresentationFormat>
  <Paragraphs>98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842</cp:revision>
  <dcterms:created xsi:type="dcterms:W3CDTF">2024-09-09T09:01:14Z</dcterms:created>
  <dcterms:modified xsi:type="dcterms:W3CDTF">2025-07-16T05:03:22Z</dcterms:modified>
</cp:coreProperties>
</file>