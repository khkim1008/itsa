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85" r:id="rId2"/>
    <p:sldId id="442" r:id="rId3"/>
    <p:sldId id="415" r:id="rId4"/>
    <p:sldId id="387" r:id="rId5"/>
    <p:sldId id="416" r:id="rId6"/>
    <p:sldId id="439" r:id="rId7"/>
    <p:sldId id="440" r:id="rId8"/>
    <p:sldId id="418" r:id="rId9"/>
    <p:sldId id="425" r:id="rId10"/>
    <p:sldId id="419" r:id="rId11"/>
    <p:sldId id="426" r:id="rId12"/>
    <p:sldId id="417" r:id="rId13"/>
    <p:sldId id="420" r:id="rId14"/>
    <p:sldId id="428" r:id="rId15"/>
    <p:sldId id="427" r:id="rId16"/>
    <p:sldId id="421" r:id="rId17"/>
    <p:sldId id="429" r:id="rId18"/>
    <p:sldId id="430" r:id="rId19"/>
    <p:sldId id="431" r:id="rId20"/>
    <p:sldId id="438" r:id="rId21"/>
    <p:sldId id="433" r:id="rId22"/>
    <p:sldId id="434" r:id="rId23"/>
    <p:sldId id="443" r:id="rId24"/>
    <p:sldId id="435" r:id="rId25"/>
    <p:sldId id="436" r:id="rId26"/>
    <p:sldId id="437" r:id="rId27"/>
    <p:sldId id="441" r:id="rId28"/>
    <p:sldId id="414" r:id="rId29"/>
  </p:sldIdLst>
  <p:sldSz cx="12192000" cy="6858000"/>
  <p:notesSz cx="6858000" cy="9144000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6pPr>
    <a:lvl7pPr marL="2743200" algn="l" defTabSz="914400" rtl="0" eaLnBrk="1" latinLnBrk="1" hangingPunct="1">
      <a:defRPr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7pPr>
    <a:lvl8pPr marL="3200400" algn="l" defTabSz="914400" rtl="0" eaLnBrk="1" latinLnBrk="1" hangingPunct="1">
      <a:defRPr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8pPr>
    <a:lvl9pPr marL="3657600" algn="l" defTabSz="914400" rtl="0" eaLnBrk="1" latinLnBrk="1" hangingPunct="1">
      <a:defRPr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  <a:srgbClr val="FF9933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81" autoAdjust="0"/>
  </p:normalViewPr>
  <p:slideViewPr>
    <p:cSldViewPr snapToGrid="0">
      <p:cViewPr varScale="1">
        <p:scale>
          <a:sx n="107" d="100"/>
          <a:sy n="107" d="100"/>
        </p:scale>
        <p:origin x="6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2040"/>
    </p:cViewPr>
  </p:sorterViewPr>
  <p:notesViewPr>
    <p:cSldViewPr snapToGrid="0">
      <p:cViewPr varScale="1">
        <p:scale>
          <a:sx n="86" d="100"/>
          <a:sy n="86" d="100"/>
        </p:scale>
        <p:origin x="386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CDE57BD7-6E0A-4654-8A8E-45C9B546CB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590836C-64D8-4B00-AF23-4EC6ECD0711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latinLnBrk="1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8A3DF36-72CB-4BD0-95EF-0A4C8AB0C029}" type="datetimeFigureOut">
              <a:rPr lang="ko-KR" altLang="en-US"/>
              <a:pPr>
                <a:defRPr/>
              </a:pPr>
              <a:t>2025-12-05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3CE8BD2C-751C-4D6A-BAA0-6B48B088CD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219AC6DE-15A7-4637-BE2A-1F6A92DAAB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noProof="0"/>
              <a:t>마스터 텍스트 스타일 편집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BA6FB4F-BC62-43BA-8162-7B34D70C09D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73F8414-35E0-440F-9014-C342F8BBAC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latinLnBrk="1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53F1AAE-D5E4-44D4-AE0C-3A0245E2814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A4261-55F5-4066-9E06-2EC8008B092C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64686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A4261-55F5-4066-9E06-2EC8008B092C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77432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944ECADE-0669-4872-8D8E-C5CB57DCD3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3B427204-7DE6-4C76-AF97-3E2CB57B1C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F3D1D7C0-6309-4C8D-85CA-77DA949686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3300433-F9B5-4E0B-BA5E-40933C2DF285}" type="slidenum">
              <a:rPr lang="ko-KR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07093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944ECADE-0669-4872-8D8E-C5CB57DCD3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3B427204-7DE6-4C76-AF97-3E2CB57B1C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F3D1D7C0-6309-4C8D-85CA-77DA949686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3300433-F9B5-4E0B-BA5E-40933C2DF285}" type="slidenum">
              <a:rPr lang="ko-KR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62147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944ECADE-0669-4872-8D8E-C5CB57DCD3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3B427204-7DE6-4C76-AF97-3E2CB57B1C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F3D1D7C0-6309-4C8D-85CA-77DA949686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3300433-F9B5-4E0B-BA5E-40933C2DF285}" type="slidenum">
              <a:rPr lang="ko-KR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53379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944ECADE-0669-4872-8D8E-C5CB57DCD3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3B427204-7DE6-4C76-AF97-3E2CB57B1C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F3D1D7C0-6309-4C8D-85CA-77DA949686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3300433-F9B5-4E0B-BA5E-40933C2DF285}" type="slidenum">
              <a:rPr lang="ko-KR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54012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944ECADE-0669-4872-8D8E-C5CB57DCD3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3B427204-7DE6-4C76-AF97-3E2CB57B1C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F3D1D7C0-6309-4C8D-85CA-77DA949686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3300433-F9B5-4E0B-BA5E-40933C2DF285}" type="slidenum">
              <a:rPr lang="ko-KR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73449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944ECADE-0669-4872-8D8E-C5CB57DCD3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3B427204-7DE6-4C76-AF97-3E2CB57B1C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F3D1D7C0-6309-4C8D-85CA-77DA949686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3300433-F9B5-4E0B-BA5E-40933C2DF285}" type="slidenum">
              <a:rPr lang="ko-KR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67503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944ECADE-0669-4872-8D8E-C5CB57DCD3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3B427204-7DE6-4C76-AF97-3E2CB57B1C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F3D1D7C0-6309-4C8D-85CA-77DA949686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3300433-F9B5-4E0B-BA5E-40933C2DF285}" type="slidenum">
              <a:rPr lang="ko-KR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87953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944ECADE-0669-4872-8D8E-C5CB57DCD3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3B427204-7DE6-4C76-AF97-3E2CB57B1C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F3D1D7C0-6309-4C8D-85CA-77DA949686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3300433-F9B5-4E0B-BA5E-40933C2DF285}" type="slidenum">
              <a:rPr lang="ko-KR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98287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944ECADE-0669-4872-8D8E-C5CB57DCD3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3B427204-7DE6-4C76-AF97-3E2CB57B1C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F3D1D7C0-6309-4C8D-85CA-77DA949686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3300433-F9B5-4E0B-BA5E-40933C2DF285}" type="slidenum">
              <a:rPr lang="ko-KR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74862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944ECADE-0669-4872-8D8E-C5CB57DCD3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3B427204-7DE6-4C76-AF97-3E2CB57B1C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F3D1D7C0-6309-4C8D-85CA-77DA949686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3300433-F9B5-4E0B-BA5E-40933C2DF285}" type="slidenum">
              <a:rPr lang="ko-KR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35030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944ECADE-0669-4872-8D8E-C5CB57DCD3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3B427204-7DE6-4C76-AF97-3E2CB57B1C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F3D1D7C0-6309-4C8D-85CA-77DA949686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3300433-F9B5-4E0B-BA5E-40933C2DF285}" type="slidenum">
              <a:rPr lang="ko-KR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47439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944ECADE-0669-4872-8D8E-C5CB57DCD3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3B427204-7DE6-4C76-AF97-3E2CB57B1C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F3D1D7C0-6309-4C8D-85CA-77DA949686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3300433-F9B5-4E0B-BA5E-40933C2DF285}" type="slidenum">
              <a:rPr lang="ko-KR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58775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944ECADE-0669-4872-8D8E-C5CB57DCD3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3B427204-7DE6-4C76-AF97-3E2CB57B1C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F3D1D7C0-6309-4C8D-85CA-77DA949686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3300433-F9B5-4E0B-BA5E-40933C2DF285}" type="slidenum">
              <a:rPr lang="ko-KR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51156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944ECADE-0669-4872-8D8E-C5CB57DCD3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3B427204-7DE6-4C76-AF97-3E2CB57B1C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F3D1D7C0-6309-4C8D-85CA-77DA949686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3300433-F9B5-4E0B-BA5E-40933C2DF285}" type="slidenum">
              <a:rPr lang="ko-KR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77443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944ECADE-0669-4872-8D8E-C5CB57DCD3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3B427204-7DE6-4C76-AF97-3E2CB57B1C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F3D1D7C0-6309-4C8D-85CA-77DA949686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3300433-F9B5-4E0B-BA5E-40933C2DF285}" type="slidenum">
              <a:rPr lang="ko-KR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1489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944ECADE-0669-4872-8D8E-C5CB57DCD3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3B427204-7DE6-4C76-AF97-3E2CB57B1C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F3D1D7C0-6309-4C8D-85CA-77DA949686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3300433-F9B5-4E0B-BA5E-40933C2DF285}" type="slidenum">
              <a:rPr lang="ko-KR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38590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944ECADE-0669-4872-8D8E-C5CB57DCD3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3B427204-7DE6-4C76-AF97-3E2CB57B1C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F3D1D7C0-6309-4C8D-85CA-77DA949686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3300433-F9B5-4E0B-BA5E-40933C2DF285}" type="slidenum">
              <a:rPr lang="ko-KR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303928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944ECADE-0669-4872-8D8E-C5CB57DCD3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3B427204-7DE6-4C76-AF97-3E2CB57B1C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F3D1D7C0-6309-4C8D-85CA-77DA949686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3300433-F9B5-4E0B-BA5E-40933C2DF285}" type="slidenum">
              <a:rPr lang="ko-KR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129638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944ECADE-0669-4872-8D8E-C5CB57DCD3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3B427204-7DE6-4C76-AF97-3E2CB57B1C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F3D1D7C0-6309-4C8D-85CA-77DA949686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3300433-F9B5-4E0B-BA5E-40933C2DF285}" type="slidenum">
              <a:rPr lang="ko-KR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9769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944ECADE-0669-4872-8D8E-C5CB57DCD3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3B427204-7DE6-4C76-AF97-3E2CB57B1C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F3D1D7C0-6309-4C8D-85CA-77DA949686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3300433-F9B5-4E0B-BA5E-40933C2DF285}" type="slidenum">
              <a:rPr lang="ko-KR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694831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944ECADE-0669-4872-8D8E-C5CB57DCD3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3B427204-7DE6-4C76-AF97-3E2CB57B1C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F3D1D7C0-6309-4C8D-85CA-77DA949686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3300433-F9B5-4E0B-BA5E-40933C2DF285}" type="slidenum">
              <a:rPr lang="ko-KR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509591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944ECADE-0669-4872-8D8E-C5CB57DCD3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3B427204-7DE6-4C76-AF97-3E2CB57B1C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F3D1D7C0-6309-4C8D-85CA-77DA949686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3300433-F9B5-4E0B-BA5E-40933C2DF285}" type="slidenum">
              <a:rPr lang="ko-KR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17236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944ECADE-0669-4872-8D8E-C5CB57DCD3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3B427204-7DE6-4C76-AF97-3E2CB57B1C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F3D1D7C0-6309-4C8D-85CA-77DA949686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3300433-F9B5-4E0B-BA5E-40933C2DF285}" type="slidenum">
              <a:rPr lang="ko-KR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110142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944ECADE-0669-4872-8D8E-C5CB57DCD3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3B427204-7DE6-4C76-AF97-3E2CB57B1C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F3D1D7C0-6309-4C8D-85CA-77DA949686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3300433-F9B5-4E0B-BA5E-40933C2DF285}" type="slidenum">
              <a:rPr lang="ko-KR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611366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944ECADE-0669-4872-8D8E-C5CB57DCD3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3B427204-7DE6-4C76-AF97-3E2CB57B1C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F3D1D7C0-6309-4C8D-85CA-77DA949686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3300433-F9B5-4E0B-BA5E-40933C2DF285}" type="slidenum">
              <a:rPr lang="ko-KR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439514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슬라이드 이미지 개체 틀 1">
            <a:extLst>
              <a:ext uri="{FF2B5EF4-FFF2-40B4-BE49-F238E27FC236}">
                <a16:creationId xmlns:a16="http://schemas.microsoft.com/office/drawing/2014/main" id="{7D134615-8354-4988-90A3-ACC602B443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9331" name="슬라이드 노트 개체 틀 2">
            <a:extLst>
              <a:ext uri="{FF2B5EF4-FFF2-40B4-BE49-F238E27FC236}">
                <a16:creationId xmlns:a16="http://schemas.microsoft.com/office/drawing/2014/main" id="{09D80C2F-1DF4-4032-9AAC-F267E47823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99332" name="슬라이드 번호 개체 틀 3">
            <a:extLst>
              <a:ext uri="{FF2B5EF4-FFF2-40B4-BE49-F238E27FC236}">
                <a16:creationId xmlns:a16="http://schemas.microsoft.com/office/drawing/2014/main" id="{B606F641-B9C1-42A4-B9E0-4AE21EF710E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978118F-0833-4CE6-ACF9-EDCD7E8F2FDC}" type="slidenum">
              <a:rPr lang="ko-KR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72065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63E70D-639B-4F24-9546-1A1D88E929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129BD01-DB6D-481D-8812-AC619E8229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CB16EF-AF43-443C-964F-E3637FEDE51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5D93F610-EC9F-49AF-BEE7-BFECFBEE6B62}" type="datetimeFigureOut">
              <a:rPr lang="ko-KR" altLang="en-US"/>
              <a:pPr>
                <a:defRPr/>
              </a:pPr>
              <a:t>2025-12-05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C4EA2F-911D-48DE-8BEF-3CAA8C66B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5EBBB8-3312-4ED0-8229-46139B8B3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358AB4F4-AAE8-4439-8C60-54BA36FC84B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5246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9769A8-9AF7-406A-9493-ABFDEEB62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2DDFD6-07A0-4F2E-AAA4-B8EBF1FD43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92C10F-8AD1-4CEE-B22F-D5531E702C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97DEF653-2431-4A0E-9654-9ACB9D51FBE7}" type="datetimeFigureOut">
              <a:rPr lang="ko-KR" altLang="en-US"/>
              <a:pPr>
                <a:defRPr/>
              </a:pPr>
              <a:t>2025-12-05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35EECA-72DC-4BD4-B0AB-FA64181B6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60EC19-3B01-4402-96B5-C499BD89A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E4E1167C-F991-4836-8C18-AE230C6BF58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2661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54FECC-54DA-4AE7-A17E-22058E2CE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D8DFE1E-F1FA-45E7-983F-80552D737B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AEA5F0-8154-43A8-8D33-471531B12E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93F262E2-F89F-4A75-B54F-D6A8EF2BF1D9}" type="datetimeFigureOut">
              <a:rPr lang="ko-KR" altLang="en-US"/>
              <a:pPr>
                <a:defRPr/>
              </a:pPr>
              <a:t>2025-12-05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314E77-F129-48B9-AC09-211BAEF70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0FB410-842C-48FF-BFF7-119062E7B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6938400F-1A3B-4F2D-8A86-FE816161704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57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9B64CD-C159-42EE-9204-80C8CA91D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5E1860-5D8C-4122-8171-2DF7F74BEE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5030E9D-78D7-42AB-BE75-DCC781A2CD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25BC3B4-068C-4788-9769-E92FD9620D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63B8D971-5704-4145-A919-9D554FEA486D}" type="datetimeFigureOut">
              <a:rPr lang="ko-KR" altLang="en-US"/>
              <a:pPr>
                <a:defRPr/>
              </a:pPr>
              <a:t>2025-12-05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D8AFBA1-12A0-4947-A3CD-1A8E91F71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DA3913B-B113-47D4-84EA-EB6436573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93363F4B-481F-40B9-AF0B-5BC614D296D5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9904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417A24-C952-4A9A-B023-1E809E300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EC70054-A956-453B-ADB4-760D845B6B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98F5E92-8FF3-47E1-B76E-9ED7E685BA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FD61E73-1E7C-48BE-A066-630009497B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6D66483-D5D0-4515-BE36-5F11985994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1514F2B-EEC2-4AB0-B950-A46D79B5A0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3B7BDD3F-43B3-4C4F-8D08-A54CB3D7E68D}" type="datetimeFigureOut">
              <a:rPr lang="ko-KR" altLang="en-US"/>
              <a:pPr>
                <a:defRPr/>
              </a:pPr>
              <a:t>2025-12-05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F24F9E2-F0E1-41AA-BCF4-EE8BAA01B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9F09759-156F-4647-9F42-84D66ABF7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65DD5644-BEC7-463E-B6D9-F45E0D64698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9832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FBF5D4-9CC4-443F-A94E-0956745B5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2FE8C62-0803-48ED-A0C0-4641E34249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73355378-CBBB-46C3-9CB1-42FDE5043C5B}" type="datetimeFigureOut">
              <a:rPr lang="ko-KR" altLang="en-US"/>
              <a:pPr>
                <a:defRPr/>
              </a:pPr>
              <a:t>2025-12-05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BB9E311-E6EA-4E0E-908C-3C6DB9F00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E0BB1C2-B304-4BA4-8AC9-50C1E26F0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9312DAEF-D8BE-4A95-9621-3C7C61594A2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9702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F610685-5AA5-4BCE-A1A5-33921F02192B}"/>
              </a:ext>
            </a:extLst>
          </p:cNvPr>
          <p:cNvSpPr/>
          <p:nvPr userDrawn="1"/>
        </p:nvSpPr>
        <p:spPr>
          <a:xfrm>
            <a:off x="0" y="0"/>
            <a:ext cx="12192000" cy="90646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837423A-65A9-4B83-BDCA-3F6F474D4956}"/>
              </a:ext>
            </a:extLst>
          </p:cNvPr>
          <p:cNvSpPr/>
          <p:nvPr userDrawn="1"/>
        </p:nvSpPr>
        <p:spPr>
          <a:xfrm>
            <a:off x="0" y="6375400"/>
            <a:ext cx="12192000" cy="515938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</p:txBody>
      </p:sp>
      <p:sp>
        <p:nvSpPr>
          <p:cNvPr id="4" name="바닥글 개체 틀 2">
            <a:extLst>
              <a:ext uri="{FF2B5EF4-FFF2-40B4-BE49-F238E27FC236}">
                <a16:creationId xmlns:a16="http://schemas.microsoft.com/office/drawing/2014/main" id="{03C89755-87E1-4D6C-B740-03B4E772C406}"/>
              </a:ext>
            </a:extLst>
          </p:cNvPr>
          <p:cNvSpPr txBox="1">
            <a:spLocks/>
          </p:cNvSpPr>
          <p:nvPr userDrawn="1"/>
        </p:nvSpPr>
        <p:spPr>
          <a:xfrm>
            <a:off x="104775" y="6453188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b="1">
                <a:solidFill>
                  <a:schemeClr val="bg1"/>
                </a:solidFill>
              </a:rPr>
              <a:t>빅데이터분석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D737D079-2C0D-4521-A876-B9F4A5FA5F09}"/>
              </a:ext>
            </a:extLst>
          </p:cNvPr>
          <p:cNvSpPr txBox="1">
            <a:spLocks/>
          </p:cNvSpPr>
          <p:nvPr userDrawn="1"/>
        </p:nvSpPr>
        <p:spPr>
          <a:xfrm>
            <a:off x="9281720" y="6452429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9A57A4BD-6EDC-46A2-834B-61CF7CE0EBB4}" type="slidenum">
              <a:rPr lang="ko-KR" altLang="en-US" sz="1400" b="1" smtClean="0">
                <a:highlight>
                  <a:srgbClr val="FFFF00"/>
                </a:highlight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ko-KR" altLang="en-US" sz="1400" b="1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75993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0E6E4C-8DC1-4A6E-90F7-4279984F9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DBCDBD-ABFC-4B82-96DF-BB8BEE9C8B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F6CFB77-90F2-48E2-8A9E-01A4DBE304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51036D9-3BB3-46E6-B802-D293EB269A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158422B7-24C4-472A-88B6-6AA6CE96B749}" type="datetimeFigureOut">
              <a:rPr lang="ko-KR" altLang="en-US"/>
              <a:pPr>
                <a:defRPr/>
              </a:pPr>
              <a:t>2025-12-05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4436836-273F-4845-A376-27200544C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AB74232-E956-49BA-BDA5-BA77544F9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E10B0596-D5FC-4448-AEED-9D032750900F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8983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E77DCA-43CC-47A7-88FB-A41ECECB4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D237996-607D-4B3D-BAC5-25D979EA01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69851F2-09B6-4956-9BF0-DFEF038CAF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95C56C3-12A8-4759-8E4A-40EA84B33C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E17EDF4F-80DE-426F-943F-FF36A6E1559A}" type="datetimeFigureOut">
              <a:rPr lang="ko-KR" altLang="en-US"/>
              <a:pPr>
                <a:defRPr/>
              </a:pPr>
              <a:t>2025-12-05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7A47C3B-8032-4D3E-A47B-4B42405E1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F3CFC89-AEEF-4956-BE87-8BC4DE099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296D3F32-FF73-4782-9A44-4690EBFCA6A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4214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B2C7B6-4FA9-4E7B-80EB-4943C2A97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10FEE5A-6421-4F73-841B-000457CEDF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4BDD94-E9E6-406E-A82E-C020B84125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F8A923E1-B626-4A76-A4A7-3115B0A6081E}" type="datetimeFigureOut">
              <a:rPr lang="ko-KR" altLang="en-US"/>
              <a:pPr>
                <a:defRPr/>
              </a:pPr>
              <a:t>2025-12-05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FBFED8-F9E0-4F82-881D-E9B658914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FBB101-8682-41CF-889C-33F581DAD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0FA2CD7F-A1BC-4C3E-B760-D215897D13B0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2897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F15334E-4487-4417-967C-1054F7FAAC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96C0DBE-A6CA-4D05-A2C8-13FBC03B1B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2B6FFD-80C7-4D3E-B5D7-444EFD0C27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E945837B-DF37-466E-9BF2-3F16DC998E80}" type="datetimeFigureOut">
              <a:rPr lang="ko-KR" altLang="en-US"/>
              <a:pPr>
                <a:defRPr/>
              </a:pPr>
              <a:t>2025-12-05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9A3EF1A-449A-4DB3-9434-6F6DB4340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6BCB683-FD5A-4B72-BD46-BFF8BD502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9A05E1FA-DA96-4D65-98BA-2FD6AD422774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107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2E86BCFE-0854-406E-BAA5-E392B5800975}"/>
              </a:ext>
            </a:extLst>
          </p:cNvPr>
          <p:cNvSpPr/>
          <p:nvPr userDrawn="1"/>
        </p:nvSpPr>
        <p:spPr>
          <a:xfrm>
            <a:off x="0" y="0"/>
            <a:ext cx="12192000" cy="763588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EA93F6A-40FD-4B81-A662-D35E24C518E6}"/>
              </a:ext>
            </a:extLst>
          </p:cNvPr>
          <p:cNvSpPr/>
          <p:nvPr userDrawn="1"/>
        </p:nvSpPr>
        <p:spPr>
          <a:xfrm>
            <a:off x="0" y="6411913"/>
            <a:ext cx="12192000" cy="44608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</p:txBody>
      </p:sp>
      <p:sp>
        <p:nvSpPr>
          <p:cNvPr id="9" name="바닥글 개체 틀 2">
            <a:extLst>
              <a:ext uri="{FF2B5EF4-FFF2-40B4-BE49-F238E27FC236}">
                <a16:creationId xmlns:a16="http://schemas.microsoft.com/office/drawing/2014/main" id="{AF16C193-7CA1-46B5-A79B-0B26BD580F18}"/>
              </a:ext>
            </a:extLst>
          </p:cNvPr>
          <p:cNvSpPr txBox="1">
            <a:spLocks/>
          </p:cNvSpPr>
          <p:nvPr userDrawn="1"/>
        </p:nvSpPr>
        <p:spPr>
          <a:xfrm>
            <a:off x="104775" y="6453188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b="1">
                <a:solidFill>
                  <a:srgbClr val="FFFF00"/>
                </a:solidFill>
              </a:rPr>
              <a:t>시군구연고산업</a:t>
            </a:r>
            <a:r>
              <a:rPr lang="en-US" altLang="ko-KR" b="1">
                <a:solidFill>
                  <a:srgbClr val="FFFF00"/>
                </a:solidFill>
              </a:rPr>
              <a:t>-</a:t>
            </a:r>
            <a:r>
              <a:rPr lang="ko-KR" altLang="en-US" b="1">
                <a:solidFill>
                  <a:srgbClr val="FFFF00"/>
                </a:solidFill>
              </a:rPr>
              <a:t>특강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10" name="슬라이드 번호 개체 틀 3">
            <a:extLst>
              <a:ext uri="{FF2B5EF4-FFF2-40B4-BE49-F238E27FC236}">
                <a16:creationId xmlns:a16="http://schemas.microsoft.com/office/drawing/2014/main" id="{1B77644E-9142-4F20-8A5E-A4B49795C21C}"/>
              </a:ext>
            </a:extLst>
          </p:cNvPr>
          <p:cNvSpPr txBox="1">
            <a:spLocks/>
          </p:cNvSpPr>
          <p:nvPr userDrawn="1"/>
        </p:nvSpPr>
        <p:spPr>
          <a:xfrm>
            <a:off x="9344025" y="6453188"/>
            <a:ext cx="2743200" cy="365125"/>
          </a:xfrm>
          <a:prstGeom prst="rect">
            <a:avLst/>
          </a:prstGeom>
          <a:noFill/>
        </p:spPr>
        <p:txBody>
          <a:bodyPr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7C3584EE-FCFA-4EFB-96C3-7202F341AB65}" type="slidenum">
              <a:rPr lang="ko-KR" altLang="en-US" sz="1600" b="1" smtClean="0">
                <a:solidFill>
                  <a:schemeClr val="bg1"/>
                </a:solidFill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ko-KR" altLang="en-US" sz="1600" b="1" dirty="0">
              <a:solidFill>
                <a:schemeClr val="bg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</p:sldLayoutIdLst>
  <p:txStyles>
    <p:titleStyle>
      <a:lvl1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2pPr>
      <a:lvl3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3pPr>
      <a:lvl4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4pPr>
      <a:lvl5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5pPr>
      <a:lvl6pPr marL="457200" algn="l" rtl="0" fontAlgn="base" latinLnBrk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6pPr>
      <a:lvl7pPr marL="914400" algn="l" rtl="0" fontAlgn="base" latinLnBrk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7pPr>
      <a:lvl8pPr marL="1371600" algn="l" rtl="0" fontAlgn="base" latinLnBrk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8pPr>
      <a:lvl9pPr marL="1828800" algn="l" rtl="0" fontAlgn="base" latinLnBrk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9pPr>
    </p:titleStyle>
    <p:bodyStyle>
      <a:lvl1pPr marL="228600" indent="-228600" algn="l" rtl="0" eaLnBrk="0" fontAlgn="base" latinLnBrk="1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latinLnBrk="1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orea.kr/govVision/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maily.so/mystartup/posts/72qzp32wr4x" TargetMode="External"/><Relationship Id="rId4" Type="http://schemas.openxmlformats.org/officeDocument/2006/relationships/hyperlink" Target="https://acquiredentrepreneur.tistory.com/42" TargetMode="Externa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>
            <a:extLst>
              <a:ext uri="{FF2B5EF4-FFF2-40B4-BE49-F238E27FC236}">
                <a16:creationId xmlns:a16="http://schemas.microsoft.com/office/drawing/2014/main" id="{B66A4F66-23A1-4D64-9013-BB55F7500A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5278" y="1593555"/>
            <a:ext cx="8275984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/>
            <a:r>
              <a:rPr lang="en-US" altLang="ko-KR" sz="4400" b="1" spc="-20">
                <a:ln w="0"/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나눔고딕" panose="020D0604000000000000" pitchFamily="50" charset="-127"/>
              </a:rPr>
              <a:t>AI</a:t>
            </a:r>
            <a:r>
              <a:rPr lang="ko-KR" altLang="en-US" sz="4400" b="1" spc="-20">
                <a:ln w="0"/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나눔고딕" panose="020D0604000000000000" pitchFamily="50" charset="-127"/>
              </a:rPr>
              <a:t> 기반 스타트업의 수익모델 전략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84E957-32FC-4B05-8449-23FC9FFCE57E}"/>
              </a:ext>
            </a:extLst>
          </p:cNvPr>
          <p:cNvSpPr txBox="1"/>
          <p:nvPr/>
        </p:nvSpPr>
        <p:spPr>
          <a:xfrm>
            <a:off x="4753741" y="3626240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>
                <a:solidFill>
                  <a:srgbClr val="002060"/>
                </a:solidFill>
              </a:rPr>
              <a:t>제주대학교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C72F5C-03A1-4CAD-A1C3-DE148F2807A0}"/>
              </a:ext>
            </a:extLst>
          </p:cNvPr>
          <p:cNvSpPr txBox="1"/>
          <p:nvPr/>
        </p:nvSpPr>
        <p:spPr>
          <a:xfrm>
            <a:off x="4952514" y="4167663"/>
            <a:ext cx="13260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>
                <a:solidFill>
                  <a:srgbClr val="002060"/>
                </a:solidFill>
              </a:rPr>
              <a:t>김 근 형</a:t>
            </a:r>
          </a:p>
        </p:txBody>
      </p:sp>
    </p:spTree>
    <p:extLst>
      <p:ext uri="{BB962C8B-B14F-4D97-AF65-F5344CB8AC3E}">
        <p14:creationId xmlns:p14="http://schemas.microsoft.com/office/powerpoint/2010/main" val="685523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8D2D013-8F3A-4F83-9B6D-65B6F220F1E1}"/>
              </a:ext>
            </a:extLst>
          </p:cNvPr>
          <p:cNvSpPr txBox="1"/>
          <p:nvPr/>
        </p:nvSpPr>
        <p:spPr>
          <a:xfrm>
            <a:off x="2907764" y="1949823"/>
            <a:ext cx="6376472" cy="1569660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  <a:defRPr/>
            </a:pPr>
            <a:r>
              <a:rPr lang="ko-KR" altLang="en-US" sz="2400" b="1">
                <a:solidFill>
                  <a:srgbClr val="002060"/>
                </a:solidFill>
                <a:latin typeface="+mn-lt"/>
                <a:ea typeface="+mn-ea"/>
              </a:rPr>
              <a:t>이재명 정부의 </a:t>
            </a:r>
            <a:r>
              <a:rPr lang="en-US" altLang="ko-KR" sz="2400" b="1">
                <a:solidFill>
                  <a:srgbClr val="002060"/>
                </a:solidFill>
                <a:latin typeface="+mn-lt"/>
                <a:ea typeface="+mn-ea"/>
              </a:rPr>
              <a:t>AI</a:t>
            </a:r>
            <a:r>
              <a:rPr lang="ko-KR" altLang="en-US" sz="2400" b="1">
                <a:solidFill>
                  <a:srgbClr val="002060"/>
                </a:solidFill>
                <a:latin typeface="+mn-lt"/>
                <a:ea typeface="+mn-ea"/>
              </a:rPr>
              <a:t> 전략</a:t>
            </a:r>
            <a:endParaRPr lang="en-US" altLang="ko-KR" sz="2400" b="1">
              <a:solidFill>
                <a:srgbClr val="002060"/>
              </a:solidFill>
              <a:latin typeface="+mn-lt"/>
              <a:ea typeface="+mn-ea"/>
            </a:endParaRPr>
          </a:p>
          <a:p>
            <a:pPr marL="285750" indent="-285750">
              <a:buFont typeface="Wingdings" panose="05000000000000000000" pitchFamily="2" charset="2"/>
              <a:buChar char="§"/>
              <a:defRPr/>
            </a:pPr>
            <a:r>
              <a:rPr lang="ko-KR" altLang="en-US" sz="2400" b="1">
                <a:solidFill>
                  <a:srgbClr val="002060"/>
                </a:solidFill>
                <a:latin typeface="+mn-lt"/>
                <a:ea typeface="+mn-ea"/>
              </a:rPr>
              <a:t>인공지능의 역사와 생성형 </a:t>
            </a:r>
            <a:r>
              <a:rPr lang="en-US" altLang="ko-KR" sz="2400" b="1">
                <a:solidFill>
                  <a:srgbClr val="002060"/>
                </a:solidFill>
                <a:latin typeface="+mn-lt"/>
                <a:ea typeface="+mn-ea"/>
              </a:rPr>
              <a:t>AI</a:t>
            </a:r>
          </a:p>
          <a:p>
            <a:pPr marL="285750" indent="-285750">
              <a:buFont typeface="Wingdings" panose="05000000000000000000" pitchFamily="2" charset="2"/>
              <a:buChar char="§"/>
              <a:defRPr/>
            </a:pPr>
            <a:r>
              <a:rPr lang="ko-KR" altLang="en-US" sz="2400" b="1">
                <a:solidFill>
                  <a:srgbClr val="002060"/>
                </a:solidFill>
                <a:latin typeface="+mn-lt"/>
                <a:ea typeface="+mn-ea"/>
              </a:rPr>
              <a:t>스타트업과 대기업의 협력방안</a:t>
            </a:r>
            <a:endParaRPr lang="en-US" altLang="ko-KR" sz="2400" b="1">
              <a:solidFill>
                <a:srgbClr val="002060"/>
              </a:solidFill>
              <a:latin typeface="+mn-lt"/>
              <a:ea typeface="+mn-ea"/>
            </a:endParaRPr>
          </a:p>
          <a:p>
            <a:pPr marL="285750" indent="-285750">
              <a:buFont typeface="Wingdings" panose="05000000000000000000" pitchFamily="2" charset="2"/>
              <a:buChar char="§"/>
              <a:defRPr/>
            </a:pPr>
            <a:r>
              <a:rPr lang="ko-KR" altLang="en-US" sz="2400" b="1">
                <a:solidFill>
                  <a:srgbClr val="002060"/>
                </a:solidFill>
                <a:latin typeface="+mn-lt"/>
                <a:ea typeface="+mn-ea"/>
              </a:rPr>
              <a:t>스타트업의 수익모델 전략</a:t>
            </a:r>
            <a:endParaRPr lang="en-US" altLang="ko-KR" sz="2400" b="1">
              <a:solidFill>
                <a:srgbClr val="002060"/>
              </a:solidFill>
              <a:latin typeface="+mn-lt"/>
              <a:ea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84E957-32FC-4B05-8449-23FC9FFCE57E}"/>
              </a:ext>
            </a:extLst>
          </p:cNvPr>
          <p:cNvSpPr txBox="1"/>
          <p:nvPr/>
        </p:nvSpPr>
        <p:spPr>
          <a:xfrm>
            <a:off x="5439216" y="1407476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>
                <a:solidFill>
                  <a:srgbClr val="0070C0"/>
                </a:solidFill>
              </a:rPr>
              <a:t>목차</a:t>
            </a:r>
          </a:p>
        </p:txBody>
      </p:sp>
    </p:spTree>
    <p:extLst>
      <p:ext uri="{BB962C8B-B14F-4D97-AF65-F5344CB8AC3E}">
        <p14:creationId xmlns:p14="http://schemas.microsoft.com/office/powerpoint/2010/main" val="5427022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57AE04-5CEE-403C-85B3-C1A825A02C93}"/>
              </a:ext>
            </a:extLst>
          </p:cNvPr>
          <p:cNvSpPr txBox="1"/>
          <p:nvPr/>
        </p:nvSpPr>
        <p:spPr>
          <a:xfrm>
            <a:off x="3729318" y="134470"/>
            <a:ext cx="45768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>
                <a:solidFill>
                  <a:schemeClr val="bg1"/>
                </a:solidFill>
              </a:rPr>
              <a:t>이재명 정부의 국정목표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0EFF887-B846-4863-8760-A2CF7B00C8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5739" y="825873"/>
            <a:ext cx="6580522" cy="5361907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</p:spTree>
    <p:extLst>
      <p:ext uri="{BB962C8B-B14F-4D97-AF65-F5344CB8AC3E}">
        <p14:creationId xmlns:p14="http://schemas.microsoft.com/office/powerpoint/2010/main" val="12256039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57AE04-5CEE-403C-85B3-C1A825A02C93}"/>
              </a:ext>
            </a:extLst>
          </p:cNvPr>
          <p:cNvSpPr txBox="1"/>
          <p:nvPr/>
        </p:nvSpPr>
        <p:spPr>
          <a:xfrm>
            <a:off x="3997402" y="127079"/>
            <a:ext cx="47211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>
                <a:solidFill>
                  <a:schemeClr val="bg1"/>
                </a:solidFill>
              </a:rPr>
              <a:t>이재명 정부의 혁신경제 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D30FBFF-2D3B-42AE-8C61-8610CC2466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212" y="900112"/>
            <a:ext cx="5486400" cy="536257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28750A2-D4D7-4729-A603-8F4D993B95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2074" y="900112"/>
            <a:ext cx="5448300" cy="284797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04301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57AE04-5CEE-403C-85B3-C1A825A02C93}"/>
              </a:ext>
            </a:extLst>
          </p:cNvPr>
          <p:cNvSpPr txBox="1"/>
          <p:nvPr/>
        </p:nvSpPr>
        <p:spPr>
          <a:xfrm>
            <a:off x="3523130" y="143435"/>
            <a:ext cx="51363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>
                <a:solidFill>
                  <a:schemeClr val="bg1"/>
                </a:solidFill>
              </a:rPr>
              <a:t>이재명 정부의 </a:t>
            </a:r>
            <a:r>
              <a:rPr lang="en-US" altLang="ko-KR" sz="3200" b="1">
                <a:solidFill>
                  <a:schemeClr val="bg1"/>
                </a:solidFill>
              </a:rPr>
              <a:t>AI</a:t>
            </a:r>
            <a:r>
              <a:rPr lang="ko-KR" altLang="en-US" sz="3200" b="1">
                <a:solidFill>
                  <a:schemeClr val="bg1"/>
                </a:solidFill>
              </a:rPr>
              <a:t>관련 목표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55D174F-88BE-4ACA-B182-1F9B517289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190" y="1080481"/>
            <a:ext cx="11210335" cy="292235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A398203-705A-4D69-9914-5037E993D5C6}"/>
              </a:ext>
            </a:extLst>
          </p:cNvPr>
          <p:cNvSpPr txBox="1"/>
          <p:nvPr/>
        </p:nvSpPr>
        <p:spPr>
          <a:xfrm>
            <a:off x="618565" y="1107376"/>
            <a:ext cx="1797287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b="1">
                <a:solidFill>
                  <a:srgbClr val="0070C0"/>
                </a:solidFill>
              </a:rPr>
              <a:t>AI </a:t>
            </a:r>
            <a:r>
              <a:rPr lang="ko-KR" altLang="en-US" b="1">
                <a:solidFill>
                  <a:srgbClr val="0070C0"/>
                </a:solidFill>
              </a:rPr>
              <a:t>인프라 강화</a:t>
            </a:r>
            <a:r>
              <a:rPr lang="en-US" altLang="ko-KR" b="1">
                <a:solidFill>
                  <a:srgbClr val="0070C0"/>
                </a:solidFill>
              </a:rPr>
              <a:t>:</a:t>
            </a:r>
            <a:endParaRPr lang="ko-KR" altLang="en-US" b="1">
              <a:solidFill>
                <a:srgbClr val="0070C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2F6C59-462D-4F92-8895-B6CF2F606FE8}"/>
              </a:ext>
            </a:extLst>
          </p:cNvPr>
          <p:cNvSpPr txBox="1"/>
          <p:nvPr/>
        </p:nvSpPr>
        <p:spPr>
          <a:xfrm>
            <a:off x="591670" y="1512568"/>
            <a:ext cx="207981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b="1">
                <a:solidFill>
                  <a:srgbClr val="0070C0"/>
                </a:solidFill>
              </a:rPr>
              <a:t>독자 </a:t>
            </a:r>
            <a:r>
              <a:rPr lang="en-US" altLang="ko-KR" b="1">
                <a:solidFill>
                  <a:srgbClr val="0070C0"/>
                </a:solidFill>
              </a:rPr>
              <a:t>AI</a:t>
            </a:r>
            <a:r>
              <a:rPr lang="ko-KR" altLang="en-US" b="1">
                <a:solidFill>
                  <a:srgbClr val="0070C0"/>
                </a:solidFill>
              </a:rPr>
              <a:t>기술 확보</a:t>
            </a:r>
            <a:r>
              <a:rPr lang="en-US" altLang="ko-KR" b="1">
                <a:solidFill>
                  <a:srgbClr val="0070C0"/>
                </a:solidFill>
              </a:rPr>
              <a:t>:</a:t>
            </a:r>
            <a:endParaRPr lang="ko-KR" altLang="en-US" b="1">
              <a:solidFill>
                <a:srgbClr val="0070C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6B8F53-66DF-4C88-ACB9-9808E097F435}"/>
              </a:ext>
            </a:extLst>
          </p:cNvPr>
          <p:cNvSpPr txBox="1"/>
          <p:nvPr/>
        </p:nvSpPr>
        <p:spPr>
          <a:xfrm>
            <a:off x="591671" y="1881900"/>
            <a:ext cx="238461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rgbClr val="0070C0"/>
                </a:solidFill>
              </a:rPr>
              <a:t>AI</a:t>
            </a:r>
            <a:r>
              <a:rPr lang="ko-KR" altLang="en-US" b="1">
                <a:solidFill>
                  <a:srgbClr val="0070C0"/>
                </a:solidFill>
              </a:rPr>
              <a:t>인재</a:t>
            </a:r>
            <a:r>
              <a:rPr lang="en-US" altLang="ko-KR" b="1">
                <a:solidFill>
                  <a:srgbClr val="0070C0"/>
                </a:solidFill>
              </a:rPr>
              <a:t>·</a:t>
            </a:r>
            <a:r>
              <a:rPr lang="ko-KR" altLang="en-US" b="1">
                <a:solidFill>
                  <a:srgbClr val="0070C0"/>
                </a:solidFill>
              </a:rPr>
              <a:t>기술 초격차</a:t>
            </a:r>
            <a:r>
              <a:rPr lang="en-US" altLang="ko-KR" b="1">
                <a:solidFill>
                  <a:srgbClr val="0070C0"/>
                </a:solidFill>
              </a:rPr>
              <a:t>:</a:t>
            </a:r>
            <a:endParaRPr lang="ko-KR" altLang="en-US" b="1">
              <a:solidFill>
                <a:srgbClr val="0070C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C71B3E-0E3D-4035-BCD5-0FEE366007A1}"/>
              </a:ext>
            </a:extLst>
          </p:cNvPr>
          <p:cNvSpPr txBox="1"/>
          <p:nvPr/>
        </p:nvSpPr>
        <p:spPr>
          <a:xfrm>
            <a:off x="564775" y="2710214"/>
            <a:ext cx="207084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rgbClr val="0070C0"/>
                </a:solidFill>
              </a:rPr>
              <a:t>AI</a:t>
            </a:r>
            <a:r>
              <a:rPr lang="ko-KR" altLang="en-US" b="1">
                <a:solidFill>
                  <a:srgbClr val="0070C0"/>
                </a:solidFill>
              </a:rPr>
              <a:t>기본사회</a:t>
            </a:r>
            <a:r>
              <a:rPr lang="en-US" altLang="ko-KR" b="1">
                <a:solidFill>
                  <a:srgbClr val="0070C0"/>
                </a:solidFill>
              </a:rPr>
              <a:t>·</a:t>
            </a:r>
            <a:r>
              <a:rPr lang="ko-KR" altLang="en-US" b="1">
                <a:solidFill>
                  <a:srgbClr val="0070C0"/>
                </a:solidFill>
              </a:rPr>
              <a:t>신뢰</a:t>
            </a:r>
            <a:r>
              <a:rPr lang="en-US" altLang="ko-KR" b="1">
                <a:solidFill>
                  <a:srgbClr val="0070C0"/>
                </a:solidFill>
              </a:rPr>
              <a:t>:</a:t>
            </a:r>
            <a:endParaRPr lang="ko-KR" altLang="en-US" b="1">
              <a:solidFill>
                <a:srgbClr val="0070C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9067D1-6F4A-4D99-84B8-4E20D85CA42B}"/>
              </a:ext>
            </a:extLst>
          </p:cNvPr>
          <p:cNvSpPr txBox="1"/>
          <p:nvPr/>
        </p:nvSpPr>
        <p:spPr>
          <a:xfrm>
            <a:off x="591670" y="3547493"/>
            <a:ext cx="157779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rgbClr val="0070C0"/>
                </a:solidFill>
              </a:rPr>
              <a:t>AI </a:t>
            </a:r>
            <a:r>
              <a:rPr lang="ko-KR" altLang="en-US" b="1">
                <a:solidFill>
                  <a:srgbClr val="0070C0"/>
                </a:solidFill>
              </a:rPr>
              <a:t>정부혁신</a:t>
            </a:r>
            <a:r>
              <a:rPr lang="en-US" altLang="ko-KR" b="1">
                <a:solidFill>
                  <a:srgbClr val="0070C0"/>
                </a:solidFill>
              </a:rPr>
              <a:t>:</a:t>
            </a:r>
            <a:endParaRPr lang="ko-KR" altLang="en-US" b="1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8512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57AE04-5CEE-403C-85B3-C1A825A02C93}"/>
              </a:ext>
            </a:extLst>
          </p:cNvPr>
          <p:cNvSpPr txBox="1"/>
          <p:nvPr/>
        </p:nvSpPr>
        <p:spPr>
          <a:xfrm>
            <a:off x="4851007" y="132682"/>
            <a:ext cx="32015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>
                <a:solidFill>
                  <a:schemeClr val="bg1"/>
                </a:solidFill>
              </a:rPr>
              <a:t>인공지능의 역사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488EE9D-7600-4254-A954-06FF669B71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5003" y="949807"/>
            <a:ext cx="3533775" cy="517207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FC989A2-8E00-48FA-9296-C9922AD20AF9}"/>
              </a:ext>
            </a:extLst>
          </p:cNvPr>
          <p:cNvSpPr txBox="1"/>
          <p:nvPr/>
        </p:nvSpPr>
        <p:spPr>
          <a:xfrm>
            <a:off x="2135161" y="985667"/>
            <a:ext cx="2887329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b="1">
                <a:solidFill>
                  <a:srgbClr val="0070C0"/>
                </a:solidFill>
              </a:rPr>
              <a:t>인공지능 기술의 발전과정</a:t>
            </a:r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5E1ADF3B-FD99-4B9D-80C3-B7D756BD3343}"/>
              </a:ext>
            </a:extLst>
          </p:cNvPr>
          <p:cNvSpPr/>
          <p:nvPr/>
        </p:nvSpPr>
        <p:spPr>
          <a:xfrm>
            <a:off x="5719666" y="2948474"/>
            <a:ext cx="348362" cy="5847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A63B3EA-D93B-4274-B4C8-0293159E3E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8916" y="985667"/>
            <a:ext cx="4523794" cy="5020687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</p:spTree>
    <p:extLst>
      <p:ext uri="{BB962C8B-B14F-4D97-AF65-F5344CB8AC3E}">
        <p14:creationId xmlns:p14="http://schemas.microsoft.com/office/powerpoint/2010/main" val="8021341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57AE04-5CEE-403C-85B3-C1A825A02C93}"/>
              </a:ext>
            </a:extLst>
          </p:cNvPr>
          <p:cNvSpPr txBox="1"/>
          <p:nvPr/>
        </p:nvSpPr>
        <p:spPr>
          <a:xfrm>
            <a:off x="4851007" y="132682"/>
            <a:ext cx="32015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>
                <a:solidFill>
                  <a:schemeClr val="bg1"/>
                </a:solidFill>
              </a:rPr>
              <a:t>인공지능</a:t>
            </a:r>
            <a:r>
              <a:rPr lang="en-US" altLang="ko-KR" sz="3200" b="1">
                <a:solidFill>
                  <a:schemeClr val="bg1"/>
                </a:solidFill>
              </a:rPr>
              <a:t> </a:t>
            </a:r>
            <a:r>
              <a:rPr lang="ko-KR" altLang="en-US" sz="3200" b="1">
                <a:solidFill>
                  <a:schemeClr val="bg1"/>
                </a:solidFill>
              </a:rPr>
              <a:t>플랫폼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5B0FE9A6-43F1-4827-9D17-48AB21E1B8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701" y="1100279"/>
            <a:ext cx="3035317" cy="51391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852E3D1-B9CB-48FE-B7A5-0CF1EA52BF64}"/>
              </a:ext>
            </a:extLst>
          </p:cNvPr>
          <p:cNvSpPr txBox="1"/>
          <p:nvPr/>
        </p:nvSpPr>
        <p:spPr>
          <a:xfrm>
            <a:off x="4189240" y="1157182"/>
            <a:ext cx="3496238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2000" b="1">
                <a:solidFill>
                  <a:srgbClr val="0070C0"/>
                </a:solidFill>
              </a:rPr>
              <a:t>생성형</a:t>
            </a:r>
            <a:r>
              <a:rPr lang="en-US" altLang="ko-KR" sz="2000" b="1">
                <a:solidFill>
                  <a:srgbClr val="0070C0"/>
                </a:solidFill>
              </a:rPr>
              <a:t>AI</a:t>
            </a:r>
            <a:r>
              <a:rPr lang="en-US" altLang="ko-KR" sz="2000" b="1">
                <a:solidFill>
                  <a:srgbClr val="00B050"/>
                </a:solidFill>
              </a:rPr>
              <a:t>&lt;-&gt;</a:t>
            </a:r>
            <a:r>
              <a:rPr lang="en-US" altLang="ko-KR" sz="2000" b="1">
                <a:solidFill>
                  <a:srgbClr val="0070C0"/>
                </a:solidFill>
              </a:rPr>
              <a:t> </a:t>
            </a:r>
            <a:r>
              <a:rPr lang="en-US" altLang="ko-KR" sz="2000" b="1">
                <a:solidFill>
                  <a:srgbClr val="C00000"/>
                </a:solidFill>
              </a:rPr>
              <a:t>AI</a:t>
            </a:r>
            <a:r>
              <a:rPr lang="ko-KR" altLang="en-US" sz="2000" b="1">
                <a:solidFill>
                  <a:srgbClr val="C00000"/>
                </a:solidFill>
              </a:rPr>
              <a:t>플랫폼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74D59B99-3ED6-47D0-A05E-E979EA6F7B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4294" y="1614195"/>
            <a:ext cx="7863412" cy="304881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</p:spTree>
    <p:extLst>
      <p:ext uri="{BB962C8B-B14F-4D97-AF65-F5344CB8AC3E}">
        <p14:creationId xmlns:p14="http://schemas.microsoft.com/office/powerpoint/2010/main" val="40621362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57AE04-5CEE-403C-85B3-C1A825A02C93}"/>
              </a:ext>
            </a:extLst>
          </p:cNvPr>
          <p:cNvSpPr txBox="1"/>
          <p:nvPr/>
        </p:nvSpPr>
        <p:spPr>
          <a:xfrm>
            <a:off x="3045325" y="152400"/>
            <a:ext cx="62488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>
                <a:solidFill>
                  <a:schemeClr val="bg1"/>
                </a:solidFill>
              </a:rPr>
              <a:t>국내 초거대 </a:t>
            </a:r>
            <a:r>
              <a:rPr lang="en-US" altLang="ko-KR" sz="3200" b="1">
                <a:solidFill>
                  <a:schemeClr val="bg1"/>
                </a:solidFill>
              </a:rPr>
              <a:t>AI</a:t>
            </a:r>
            <a:r>
              <a:rPr lang="ko-KR" altLang="en-US" sz="3200" b="1">
                <a:solidFill>
                  <a:schemeClr val="bg1"/>
                </a:solidFill>
              </a:rPr>
              <a:t>플랫폼 보유 현황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8451E53-6275-472F-BEBB-2DA9BD28C6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0858" y="1143583"/>
            <a:ext cx="8704032" cy="457083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FBC1779-DD31-44B1-BA3A-92485A57EC49}"/>
              </a:ext>
            </a:extLst>
          </p:cNvPr>
          <p:cNvSpPr txBox="1"/>
          <p:nvPr/>
        </p:nvSpPr>
        <p:spPr>
          <a:xfrm>
            <a:off x="2007512" y="1143583"/>
            <a:ext cx="7770969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b="1">
                <a:solidFill>
                  <a:srgbClr val="0070C0"/>
                </a:solidFill>
              </a:rPr>
              <a:t>기관                                  플랫폼                                             구축목표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0CEEDCA-EFC7-4624-88B2-33814E852AE5}"/>
              </a:ext>
            </a:extLst>
          </p:cNvPr>
          <p:cNvCxnSpPr/>
          <p:nvPr/>
        </p:nvCxnSpPr>
        <p:spPr>
          <a:xfrm>
            <a:off x="2007512" y="1432698"/>
            <a:ext cx="865737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19116AB5-0F9A-4192-A26C-D3D119BDD105}"/>
              </a:ext>
            </a:extLst>
          </p:cNvPr>
          <p:cNvCxnSpPr/>
          <p:nvPr/>
        </p:nvCxnSpPr>
        <p:spPr>
          <a:xfrm>
            <a:off x="1960858" y="2725271"/>
            <a:ext cx="87040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E773ADAB-0A41-4884-8ABA-FB2193887D9B}"/>
              </a:ext>
            </a:extLst>
          </p:cNvPr>
          <p:cNvCxnSpPr/>
          <p:nvPr/>
        </p:nvCxnSpPr>
        <p:spPr>
          <a:xfrm>
            <a:off x="1960858" y="3783106"/>
            <a:ext cx="87040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2DF85668-884B-47A8-8B1F-2DB328685016}"/>
              </a:ext>
            </a:extLst>
          </p:cNvPr>
          <p:cNvCxnSpPr/>
          <p:nvPr/>
        </p:nvCxnSpPr>
        <p:spPr>
          <a:xfrm>
            <a:off x="1960858" y="4796117"/>
            <a:ext cx="87040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93739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57AE04-5CEE-403C-85B3-C1A825A02C93}"/>
              </a:ext>
            </a:extLst>
          </p:cNvPr>
          <p:cNvSpPr txBox="1"/>
          <p:nvPr/>
        </p:nvSpPr>
        <p:spPr>
          <a:xfrm>
            <a:off x="2246228" y="126401"/>
            <a:ext cx="76995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>
                <a:solidFill>
                  <a:schemeClr val="bg1"/>
                </a:solidFill>
                <a:ea typeface="나눔고딕" panose="020D0604000000000000" pitchFamily="50" charset="-127"/>
              </a:rPr>
              <a:t>국내 </a:t>
            </a:r>
            <a:r>
              <a:rPr lang="en-US" altLang="ko-KR" sz="3200" b="1">
                <a:solidFill>
                  <a:schemeClr val="bg1"/>
                </a:solidFill>
                <a:ea typeface="나눔고딕" panose="020D0604000000000000" pitchFamily="50" charset="-127"/>
              </a:rPr>
              <a:t>AI </a:t>
            </a:r>
            <a:r>
              <a:rPr lang="ko-KR" altLang="en-US" sz="3200" b="1">
                <a:solidFill>
                  <a:schemeClr val="bg1"/>
                </a:solidFill>
                <a:ea typeface="나눔고딕" panose="020D0604000000000000" pitchFamily="50" charset="-127"/>
              </a:rPr>
              <a:t>모델과 해외 빅테크 </a:t>
            </a:r>
            <a:r>
              <a:rPr lang="en-US" altLang="ko-KR" sz="3200" b="1">
                <a:solidFill>
                  <a:schemeClr val="bg1"/>
                </a:solidFill>
                <a:ea typeface="나눔고딕" panose="020D0604000000000000" pitchFamily="50" charset="-127"/>
              </a:rPr>
              <a:t>AI </a:t>
            </a:r>
            <a:r>
              <a:rPr lang="ko-KR" altLang="en-US" sz="3200" b="1">
                <a:solidFill>
                  <a:schemeClr val="bg1"/>
                </a:solidFill>
                <a:ea typeface="나눔고딕" panose="020D0604000000000000" pitchFamily="50" charset="-127"/>
              </a:rPr>
              <a:t>모델의 비교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16F9A89-C512-47EE-BAA1-E310F9C0F5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7974" y="983817"/>
            <a:ext cx="6438122" cy="523028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1E88223-E532-4794-A0BD-8E09A06082A7}"/>
              </a:ext>
            </a:extLst>
          </p:cNvPr>
          <p:cNvSpPr txBox="1"/>
          <p:nvPr/>
        </p:nvSpPr>
        <p:spPr>
          <a:xfrm>
            <a:off x="3045325" y="1001747"/>
            <a:ext cx="589605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b="1"/>
              <a:t>HyperCLOVA X vs.</a:t>
            </a:r>
            <a:r>
              <a:rPr lang="ko-KR" altLang="en-US" b="1"/>
              <a:t> </a:t>
            </a:r>
            <a:r>
              <a:rPr lang="en-US" altLang="ko-KR" b="1"/>
              <a:t>GPT-5.1 vs.</a:t>
            </a:r>
            <a:r>
              <a:rPr lang="ko-KR" altLang="en-US" b="1"/>
              <a:t> </a:t>
            </a:r>
            <a:r>
              <a:rPr lang="en-US" altLang="ko-KR" b="1"/>
              <a:t>Gemini3.0  </a:t>
            </a:r>
            <a:r>
              <a:rPr lang="ko-KR" altLang="en-US" b="1"/>
              <a:t>비교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796BFC-09E2-4206-88C3-06287FFB1884}"/>
              </a:ext>
            </a:extLst>
          </p:cNvPr>
          <p:cNvSpPr txBox="1"/>
          <p:nvPr/>
        </p:nvSpPr>
        <p:spPr>
          <a:xfrm>
            <a:off x="2958353" y="1331757"/>
            <a:ext cx="6292107" cy="261610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100" b="1"/>
              <a:t>항목                        </a:t>
            </a:r>
            <a:r>
              <a:rPr lang="ko-KR" altLang="en-US" sz="1100" b="1">
                <a:solidFill>
                  <a:srgbClr val="0070C0"/>
                </a:solidFill>
              </a:rPr>
              <a:t>네이버 하이퍼클로바</a:t>
            </a:r>
            <a:r>
              <a:rPr lang="en-US" altLang="ko-KR" sz="1100" b="1">
                <a:solidFill>
                  <a:srgbClr val="0070C0"/>
                </a:solidFill>
              </a:rPr>
              <a:t>X       </a:t>
            </a:r>
            <a:r>
              <a:rPr lang="en-US" altLang="ko-KR" sz="1100" b="1">
                <a:solidFill>
                  <a:srgbClr val="C00000"/>
                </a:solidFill>
              </a:rPr>
              <a:t>GPT5.1(OpenAI)               </a:t>
            </a:r>
            <a:r>
              <a:rPr lang="en-US" altLang="ko-KR" sz="1100" b="1">
                <a:solidFill>
                  <a:srgbClr val="00B050"/>
                </a:solidFill>
              </a:rPr>
              <a:t>Gemini3.0(</a:t>
            </a:r>
            <a:r>
              <a:rPr lang="ko-KR" altLang="en-US" sz="1100" b="1">
                <a:solidFill>
                  <a:srgbClr val="00B050"/>
                </a:solidFill>
              </a:rPr>
              <a:t>구글</a:t>
            </a:r>
            <a:r>
              <a:rPr lang="en-US" altLang="ko-KR" sz="1100" b="1">
                <a:solidFill>
                  <a:srgbClr val="00B050"/>
                </a:solidFill>
              </a:rPr>
              <a:t>)</a:t>
            </a:r>
            <a:endParaRPr lang="ko-KR" altLang="en-US" sz="1100" b="1">
              <a:solidFill>
                <a:srgbClr val="00B050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11AFA68-358D-4753-80EA-C5B5095DEC8A}"/>
              </a:ext>
            </a:extLst>
          </p:cNvPr>
          <p:cNvSpPr/>
          <p:nvPr/>
        </p:nvSpPr>
        <p:spPr>
          <a:xfrm>
            <a:off x="2958353" y="1647157"/>
            <a:ext cx="1452282" cy="453849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D17C4C7-7162-4698-B945-672DF44A6A6B}"/>
              </a:ext>
            </a:extLst>
          </p:cNvPr>
          <p:cNvSpPr/>
          <p:nvPr/>
        </p:nvSpPr>
        <p:spPr>
          <a:xfrm>
            <a:off x="4541070" y="1638192"/>
            <a:ext cx="1452282" cy="453849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27B9123-58C7-466E-9EA3-8E196B077870}"/>
              </a:ext>
            </a:extLst>
          </p:cNvPr>
          <p:cNvSpPr/>
          <p:nvPr/>
        </p:nvSpPr>
        <p:spPr>
          <a:xfrm>
            <a:off x="6083731" y="1634486"/>
            <a:ext cx="1452282" cy="453849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41650D8-9C89-403D-888C-39AB98C76C98}"/>
              </a:ext>
            </a:extLst>
          </p:cNvPr>
          <p:cNvSpPr/>
          <p:nvPr/>
        </p:nvSpPr>
        <p:spPr>
          <a:xfrm>
            <a:off x="7669643" y="1616548"/>
            <a:ext cx="1539466" cy="453849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DA2A9602-7501-42BF-B5FF-F0345BDB2F25}"/>
              </a:ext>
            </a:extLst>
          </p:cNvPr>
          <p:cNvCxnSpPr>
            <a:cxnSpLocks/>
          </p:cNvCxnSpPr>
          <p:nvPr/>
        </p:nvCxnSpPr>
        <p:spPr>
          <a:xfrm>
            <a:off x="2958353" y="1927412"/>
            <a:ext cx="62507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FC94E17B-34C6-4363-AB18-64C49099920D}"/>
              </a:ext>
            </a:extLst>
          </p:cNvPr>
          <p:cNvCxnSpPr>
            <a:cxnSpLocks/>
          </p:cNvCxnSpPr>
          <p:nvPr/>
        </p:nvCxnSpPr>
        <p:spPr>
          <a:xfrm>
            <a:off x="2958353" y="2339789"/>
            <a:ext cx="62507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C0A59DD4-1472-4E6D-837F-F4212789E886}"/>
              </a:ext>
            </a:extLst>
          </p:cNvPr>
          <p:cNvCxnSpPr>
            <a:cxnSpLocks/>
          </p:cNvCxnSpPr>
          <p:nvPr/>
        </p:nvCxnSpPr>
        <p:spPr>
          <a:xfrm>
            <a:off x="2934762" y="2788024"/>
            <a:ext cx="62507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3D97224F-EEEF-4C2E-AF98-8407BE27EBEA}"/>
              </a:ext>
            </a:extLst>
          </p:cNvPr>
          <p:cNvCxnSpPr>
            <a:cxnSpLocks/>
          </p:cNvCxnSpPr>
          <p:nvPr/>
        </p:nvCxnSpPr>
        <p:spPr>
          <a:xfrm>
            <a:off x="2958353" y="3272118"/>
            <a:ext cx="62507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D93F46D7-8535-4BDA-972F-3ED540A33BE1}"/>
              </a:ext>
            </a:extLst>
          </p:cNvPr>
          <p:cNvCxnSpPr>
            <a:cxnSpLocks/>
          </p:cNvCxnSpPr>
          <p:nvPr/>
        </p:nvCxnSpPr>
        <p:spPr>
          <a:xfrm>
            <a:off x="2934762" y="3774142"/>
            <a:ext cx="62507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F1AEF868-B236-436D-9F51-BB6877F2E9DB}"/>
              </a:ext>
            </a:extLst>
          </p:cNvPr>
          <p:cNvCxnSpPr>
            <a:cxnSpLocks/>
          </p:cNvCxnSpPr>
          <p:nvPr/>
        </p:nvCxnSpPr>
        <p:spPr>
          <a:xfrm>
            <a:off x="2958353" y="4105836"/>
            <a:ext cx="62507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38062F1D-88BD-4E9B-903A-72121C932FEF}"/>
              </a:ext>
            </a:extLst>
          </p:cNvPr>
          <p:cNvCxnSpPr>
            <a:cxnSpLocks/>
          </p:cNvCxnSpPr>
          <p:nvPr/>
        </p:nvCxnSpPr>
        <p:spPr>
          <a:xfrm>
            <a:off x="2970622" y="4554071"/>
            <a:ext cx="62507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6E94A7B1-2A23-45F7-8F9D-B7855BCC7690}"/>
              </a:ext>
            </a:extLst>
          </p:cNvPr>
          <p:cNvCxnSpPr>
            <a:cxnSpLocks/>
          </p:cNvCxnSpPr>
          <p:nvPr/>
        </p:nvCxnSpPr>
        <p:spPr>
          <a:xfrm>
            <a:off x="2970622" y="4957483"/>
            <a:ext cx="62507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501D7E4F-56C9-4364-AB9E-800A43DD49B5}"/>
              </a:ext>
            </a:extLst>
          </p:cNvPr>
          <p:cNvCxnSpPr>
            <a:cxnSpLocks/>
          </p:cNvCxnSpPr>
          <p:nvPr/>
        </p:nvCxnSpPr>
        <p:spPr>
          <a:xfrm>
            <a:off x="2934762" y="5441577"/>
            <a:ext cx="62507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7A7B1892-EEB0-432F-80C5-BFD74DDB32C5}"/>
              </a:ext>
            </a:extLst>
          </p:cNvPr>
          <p:cNvCxnSpPr>
            <a:cxnSpLocks/>
          </p:cNvCxnSpPr>
          <p:nvPr/>
        </p:nvCxnSpPr>
        <p:spPr>
          <a:xfrm>
            <a:off x="2970622" y="5809130"/>
            <a:ext cx="62507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34774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57AE04-5CEE-403C-85B3-C1A825A02C93}"/>
              </a:ext>
            </a:extLst>
          </p:cNvPr>
          <p:cNvSpPr txBox="1"/>
          <p:nvPr/>
        </p:nvSpPr>
        <p:spPr>
          <a:xfrm>
            <a:off x="3155577" y="98612"/>
            <a:ext cx="69060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>
                <a:solidFill>
                  <a:schemeClr val="bg1"/>
                </a:solidFill>
              </a:rPr>
              <a:t>국가 초거대 </a:t>
            </a:r>
            <a:r>
              <a:rPr lang="en-US" altLang="ko-KR" sz="3200" b="1">
                <a:solidFill>
                  <a:schemeClr val="bg1"/>
                </a:solidFill>
              </a:rPr>
              <a:t>AI</a:t>
            </a:r>
            <a:r>
              <a:rPr lang="ko-KR" altLang="en-US" sz="3200" b="1">
                <a:solidFill>
                  <a:schemeClr val="bg1"/>
                </a:solidFill>
              </a:rPr>
              <a:t>플랫폼</a:t>
            </a:r>
            <a:r>
              <a:rPr lang="en-US" altLang="ko-KR" sz="3200" b="1">
                <a:solidFill>
                  <a:schemeClr val="bg1"/>
                </a:solidFill>
              </a:rPr>
              <a:t> </a:t>
            </a:r>
            <a:r>
              <a:rPr lang="ko-KR" altLang="en-US" sz="3200" b="1">
                <a:solidFill>
                  <a:schemeClr val="bg1"/>
                </a:solidFill>
              </a:rPr>
              <a:t>구축사업</a:t>
            </a:r>
            <a:r>
              <a:rPr lang="en-US" altLang="ko-KR" sz="3200" b="1">
                <a:solidFill>
                  <a:schemeClr val="bg1"/>
                </a:solidFill>
              </a:rPr>
              <a:t>(1/2)</a:t>
            </a:r>
            <a:endParaRPr lang="ko-KR" altLang="en-US" sz="3200" b="1">
              <a:solidFill>
                <a:schemeClr val="bg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3B9A3E31-ED16-42C6-BC10-927912BFD1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7669" y="1194318"/>
            <a:ext cx="9339813" cy="480526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</p:spTree>
    <p:extLst>
      <p:ext uri="{BB962C8B-B14F-4D97-AF65-F5344CB8AC3E}">
        <p14:creationId xmlns:p14="http://schemas.microsoft.com/office/powerpoint/2010/main" val="37357217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57AE04-5CEE-403C-85B3-C1A825A02C93}"/>
              </a:ext>
            </a:extLst>
          </p:cNvPr>
          <p:cNvSpPr txBox="1"/>
          <p:nvPr/>
        </p:nvSpPr>
        <p:spPr>
          <a:xfrm>
            <a:off x="2928504" y="134470"/>
            <a:ext cx="69060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>
                <a:solidFill>
                  <a:schemeClr val="bg1"/>
                </a:solidFill>
              </a:rPr>
              <a:t>국가 초거대 </a:t>
            </a:r>
            <a:r>
              <a:rPr lang="en-US" altLang="ko-KR" sz="3200" b="1">
                <a:solidFill>
                  <a:schemeClr val="bg1"/>
                </a:solidFill>
              </a:rPr>
              <a:t>AI</a:t>
            </a:r>
            <a:r>
              <a:rPr lang="ko-KR" altLang="en-US" sz="3200" b="1">
                <a:solidFill>
                  <a:schemeClr val="bg1"/>
                </a:solidFill>
              </a:rPr>
              <a:t>플랫폼 구축사업</a:t>
            </a:r>
            <a:r>
              <a:rPr lang="en-US" altLang="ko-KR" sz="3200" b="1">
                <a:solidFill>
                  <a:schemeClr val="bg1"/>
                </a:solidFill>
              </a:rPr>
              <a:t>(2/2)</a:t>
            </a:r>
            <a:endParaRPr lang="ko-KR" altLang="en-US" sz="3200" b="1">
              <a:solidFill>
                <a:schemeClr val="bg1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99C3B7C-31BC-4906-9518-CE6E7C47BD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4002" y="1020856"/>
            <a:ext cx="8382281" cy="499733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0340536-70D4-4911-AB40-9360C281FC3A}"/>
              </a:ext>
            </a:extLst>
          </p:cNvPr>
          <p:cNvSpPr txBox="1"/>
          <p:nvPr/>
        </p:nvSpPr>
        <p:spPr>
          <a:xfrm>
            <a:off x="2680447" y="1079040"/>
            <a:ext cx="566533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b="1">
                <a:solidFill>
                  <a:srgbClr val="0070C0"/>
                </a:solidFill>
              </a:rPr>
              <a:t>국가 초거대 </a:t>
            </a:r>
            <a:r>
              <a:rPr lang="en-US" altLang="ko-KR" b="1">
                <a:solidFill>
                  <a:srgbClr val="0070C0"/>
                </a:solidFill>
              </a:rPr>
              <a:t>AI</a:t>
            </a:r>
            <a:r>
              <a:rPr lang="ko-KR" altLang="en-US" b="1">
                <a:solidFill>
                  <a:srgbClr val="0070C0"/>
                </a:solidFill>
              </a:rPr>
              <a:t>플랫폼 구축 </a:t>
            </a:r>
            <a:r>
              <a:rPr lang="en-US" altLang="ko-KR" b="1">
                <a:solidFill>
                  <a:srgbClr val="0070C0"/>
                </a:solidFill>
              </a:rPr>
              <a:t>5</a:t>
            </a:r>
            <a:r>
              <a:rPr lang="ko-KR" altLang="en-US" b="1">
                <a:solidFill>
                  <a:srgbClr val="0070C0"/>
                </a:solidFill>
              </a:rPr>
              <a:t>대 컨소시험 현황</a:t>
            </a:r>
            <a:r>
              <a:rPr lang="en-US" altLang="ko-KR" b="1">
                <a:solidFill>
                  <a:srgbClr val="0070C0"/>
                </a:solidFill>
              </a:rPr>
              <a:t>(2025)</a:t>
            </a:r>
            <a:endParaRPr lang="ko-KR" altLang="en-US" b="1">
              <a:solidFill>
                <a:srgbClr val="0070C0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4C84C82-A7C7-4619-A375-736C3FFEB013}"/>
              </a:ext>
            </a:extLst>
          </p:cNvPr>
          <p:cNvSpPr/>
          <p:nvPr/>
        </p:nvSpPr>
        <p:spPr>
          <a:xfrm>
            <a:off x="2360645" y="1079040"/>
            <a:ext cx="242596" cy="2552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51100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3614296E-3677-4D86-A391-07116CAEFF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758" y="1031988"/>
            <a:ext cx="6476483" cy="521277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BE1867C-3616-4FAD-9A14-A2DECFFF7251}"/>
              </a:ext>
            </a:extLst>
          </p:cNvPr>
          <p:cNvSpPr txBox="1"/>
          <p:nvPr/>
        </p:nvSpPr>
        <p:spPr>
          <a:xfrm>
            <a:off x="1676401" y="134470"/>
            <a:ext cx="89803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>
                <a:solidFill>
                  <a:schemeClr val="bg1"/>
                </a:solidFill>
              </a:rPr>
              <a:t>AI </a:t>
            </a:r>
            <a:r>
              <a:rPr lang="ko-KR" altLang="en-US" sz="3200" b="1">
                <a:solidFill>
                  <a:schemeClr val="bg1"/>
                </a:solidFill>
              </a:rPr>
              <a:t>응용 스타트업 육성과 대기업 협업 방안</a:t>
            </a:r>
            <a:r>
              <a:rPr lang="en-US" altLang="ko-KR" sz="3200" b="1">
                <a:solidFill>
                  <a:schemeClr val="bg1"/>
                </a:solidFill>
              </a:rPr>
              <a:t>(1/4)</a:t>
            </a:r>
            <a:endParaRPr lang="ko-KR" altLang="en-US" sz="32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88999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57AE04-5CEE-403C-85B3-C1A825A02C93}"/>
              </a:ext>
            </a:extLst>
          </p:cNvPr>
          <p:cNvSpPr txBox="1"/>
          <p:nvPr/>
        </p:nvSpPr>
        <p:spPr>
          <a:xfrm>
            <a:off x="1676401" y="134470"/>
            <a:ext cx="89803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>
                <a:solidFill>
                  <a:schemeClr val="bg1"/>
                </a:solidFill>
              </a:rPr>
              <a:t>AI </a:t>
            </a:r>
            <a:r>
              <a:rPr lang="ko-KR" altLang="en-US" sz="3200" b="1">
                <a:solidFill>
                  <a:schemeClr val="bg1"/>
                </a:solidFill>
              </a:rPr>
              <a:t>응용 스타트업 육성과 대기업 협업 방안</a:t>
            </a:r>
            <a:r>
              <a:rPr lang="en-US" altLang="ko-KR" sz="3200" b="1">
                <a:solidFill>
                  <a:schemeClr val="bg1"/>
                </a:solidFill>
              </a:rPr>
              <a:t>(2/4)</a:t>
            </a:r>
            <a:endParaRPr lang="ko-KR" altLang="en-US" sz="3200" b="1">
              <a:solidFill>
                <a:schemeClr val="bg1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4251A0B-EC62-4270-A815-00D8199C5C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073" y="1364876"/>
            <a:ext cx="5553075" cy="373380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23F07B3-A704-42CF-810C-70379CE6E9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364876"/>
            <a:ext cx="5921915" cy="354302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0A4E9EA-54E4-4738-B628-4FAD050C90E9}"/>
              </a:ext>
            </a:extLst>
          </p:cNvPr>
          <p:cNvSpPr txBox="1"/>
          <p:nvPr/>
        </p:nvSpPr>
        <p:spPr>
          <a:xfrm>
            <a:off x="370073" y="1364876"/>
            <a:ext cx="4565545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b="1">
                <a:solidFill>
                  <a:srgbClr val="0070C0"/>
                </a:solidFill>
              </a:rPr>
              <a:t>종합지원형</a:t>
            </a:r>
            <a:r>
              <a:rPr lang="en-US" altLang="ko-KR" b="1">
                <a:solidFill>
                  <a:srgbClr val="0070C0"/>
                </a:solidFill>
              </a:rPr>
              <a:t>(Supply-driven, </a:t>
            </a:r>
            <a:r>
              <a:rPr lang="ko-KR" altLang="en-US" b="1">
                <a:solidFill>
                  <a:srgbClr val="0070C0"/>
                </a:solidFill>
              </a:rPr>
              <a:t>공급중심지원</a:t>
            </a:r>
            <a:r>
              <a:rPr lang="en-US" altLang="ko-KR" b="1">
                <a:solidFill>
                  <a:srgbClr val="0070C0"/>
                </a:solidFill>
              </a:rPr>
              <a:t>)</a:t>
            </a:r>
            <a:endParaRPr lang="ko-KR" altLang="en-US" b="1">
              <a:solidFill>
                <a:srgbClr val="0070C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8D05EE-A3CD-4902-8E8E-78EB0D805927}"/>
              </a:ext>
            </a:extLst>
          </p:cNvPr>
          <p:cNvSpPr txBox="1"/>
          <p:nvPr/>
        </p:nvSpPr>
        <p:spPr>
          <a:xfrm>
            <a:off x="6147551" y="1395653"/>
            <a:ext cx="5861028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600" b="1">
                <a:solidFill>
                  <a:srgbClr val="0070C0"/>
                </a:solidFill>
              </a:rPr>
              <a:t>수요연계형</a:t>
            </a:r>
            <a:r>
              <a:rPr lang="en-US" altLang="ko-KR" sz="1600" b="1">
                <a:solidFill>
                  <a:srgbClr val="0070C0"/>
                </a:solidFill>
              </a:rPr>
              <a:t>(Demandy-driven, </a:t>
            </a:r>
            <a:r>
              <a:rPr lang="ko-KR" altLang="en-US" sz="1600" b="1">
                <a:solidFill>
                  <a:srgbClr val="0070C0"/>
                </a:solidFill>
              </a:rPr>
              <a:t>수요자 중심 서비스 개발 지원</a:t>
            </a:r>
            <a:r>
              <a:rPr lang="en-US" altLang="ko-KR" sz="1600" b="1">
                <a:solidFill>
                  <a:srgbClr val="0070C0"/>
                </a:solidFill>
              </a:rPr>
              <a:t>)</a:t>
            </a:r>
            <a:endParaRPr lang="ko-KR" altLang="en-US" sz="1600" b="1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95745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57AE04-5CEE-403C-85B3-C1A825A02C93}"/>
              </a:ext>
            </a:extLst>
          </p:cNvPr>
          <p:cNvSpPr txBox="1"/>
          <p:nvPr/>
        </p:nvSpPr>
        <p:spPr>
          <a:xfrm>
            <a:off x="1810872" y="152399"/>
            <a:ext cx="89803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>
                <a:solidFill>
                  <a:schemeClr val="bg1"/>
                </a:solidFill>
              </a:rPr>
              <a:t>AI </a:t>
            </a:r>
            <a:r>
              <a:rPr lang="ko-KR" altLang="en-US" sz="3200" b="1">
                <a:solidFill>
                  <a:schemeClr val="bg1"/>
                </a:solidFill>
              </a:rPr>
              <a:t>응용 스타트업 육성과 대기업 협업 방안</a:t>
            </a:r>
            <a:r>
              <a:rPr lang="en-US" altLang="ko-KR" sz="3200" b="1">
                <a:solidFill>
                  <a:schemeClr val="bg1"/>
                </a:solidFill>
              </a:rPr>
              <a:t>(3/4)</a:t>
            </a:r>
            <a:endParaRPr lang="ko-KR" altLang="en-US" sz="3200" b="1">
              <a:solidFill>
                <a:schemeClr val="bg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0AB8FBD-AFD5-4E27-A347-A7BEBFE097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1386" y="1353911"/>
            <a:ext cx="9548833" cy="259696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0C5C817-DB53-40C8-81ED-7E87BA86C85F}"/>
              </a:ext>
            </a:extLst>
          </p:cNvPr>
          <p:cNvSpPr txBox="1"/>
          <p:nvPr/>
        </p:nvSpPr>
        <p:spPr>
          <a:xfrm>
            <a:off x="1401386" y="1381904"/>
            <a:ext cx="7840608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600" b="1">
                <a:solidFill>
                  <a:srgbClr val="0070C0"/>
                </a:solidFill>
              </a:rPr>
              <a:t>구분                                 종합지원형                                        수요연계형</a:t>
            </a:r>
          </a:p>
        </p:txBody>
      </p:sp>
    </p:spTree>
    <p:extLst>
      <p:ext uri="{BB962C8B-B14F-4D97-AF65-F5344CB8AC3E}">
        <p14:creationId xmlns:p14="http://schemas.microsoft.com/office/powerpoint/2010/main" val="41984149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57AE04-5CEE-403C-85B3-C1A825A02C93}"/>
              </a:ext>
            </a:extLst>
          </p:cNvPr>
          <p:cNvSpPr txBox="1"/>
          <p:nvPr/>
        </p:nvSpPr>
        <p:spPr>
          <a:xfrm>
            <a:off x="1676401" y="134470"/>
            <a:ext cx="89803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>
                <a:solidFill>
                  <a:schemeClr val="bg1"/>
                </a:solidFill>
              </a:rPr>
              <a:t>AI </a:t>
            </a:r>
            <a:r>
              <a:rPr lang="ko-KR" altLang="en-US" sz="3200" b="1">
                <a:solidFill>
                  <a:schemeClr val="bg1"/>
                </a:solidFill>
              </a:rPr>
              <a:t>응용 스타트업 육성과 대기업 협업 방안</a:t>
            </a:r>
            <a:r>
              <a:rPr lang="en-US" altLang="ko-KR" sz="3200" b="1">
                <a:solidFill>
                  <a:schemeClr val="bg1"/>
                </a:solidFill>
              </a:rPr>
              <a:t>(4/4)</a:t>
            </a:r>
            <a:endParaRPr lang="ko-KR" altLang="en-US" sz="3200" b="1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C46240-D1EA-4586-BBEC-8E2DE12FF2D5}"/>
              </a:ext>
            </a:extLst>
          </p:cNvPr>
          <p:cNvSpPr txBox="1"/>
          <p:nvPr/>
        </p:nvSpPr>
        <p:spPr>
          <a:xfrm>
            <a:off x="3101790" y="959223"/>
            <a:ext cx="5862502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600" b="1">
                <a:solidFill>
                  <a:srgbClr val="0070C0"/>
                </a:solidFill>
              </a:rPr>
              <a:t>과학기술정보통신부</a:t>
            </a:r>
            <a:r>
              <a:rPr lang="en-US" altLang="ko-KR" sz="1600" b="1">
                <a:solidFill>
                  <a:srgbClr val="0070C0"/>
                </a:solidFill>
              </a:rPr>
              <a:t>/</a:t>
            </a:r>
            <a:r>
              <a:rPr lang="ko-KR" altLang="en-US" sz="1600" b="1">
                <a:solidFill>
                  <a:srgbClr val="0070C0"/>
                </a:solidFill>
              </a:rPr>
              <a:t>한국지능정보사회진흥원</a:t>
            </a:r>
            <a:r>
              <a:rPr lang="en-US" altLang="ko-KR" sz="1600" b="1">
                <a:solidFill>
                  <a:srgbClr val="0070C0"/>
                </a:solidFill>
              </a:rPr>
              <a:t>(NIA)</a:t>
            </a:r>
            <a:r>
              <a:rPr lang="ko-KR" altLang="en-US" sz="1600" b="1">
                <a:solidFill>
                  <a:srgbClr val="0070C0"/>
                </a:solidFill>
              </a:rPr>
              <a:t> 중심 사업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AC848B9-269E-4302-9FB0-5E2933C500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6077" y="1350432"/>
            <a:ext cx="8870668" cy="468069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</p:spTree>
    <p:extLst>
      <p:ext uri="{BB962C8B-B14F-4D97-AF65-F5344CB8AC3E}">
        <p14:creationId xmlns:p14="http://schemas.microsoft.com/office/powerpoint/2010/main" val="37928943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57AE04-5CEE-403C-85B3-C1A825A02C93}"/>
              </a:ext>
            </a:extLst>
          </p:cNvPr>
          <p:cNvSpPr txBox="1"/>
          <p:nvPr/>
        </p:nvSpPr>
        <p:spPr>
          <a:xfrm>
            <a:off x="4285130" y="143434"/>
            <a:ext cx="49712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>
                <a:solidFill>
                  <a:schemeClr val="bg1"/>
                </a:solidFill>
              </a:rPr>
              <a:t>수익모델 프레임워크</a:t>
            </a:r>
            <a:r>
              <a:rPr lang="en-US" altLang="ko-KR" sz="3200" b="1">
                <a:solidFill>
                  <a:schemeClr val="bg1"/>
                </a:solidFill>
              </a:rPr>
              <a:t>(1/4)</a:t>
            </a:r>
            <a:endParaRPr lang="ko-KR" altLang="en-US" sz="3200" b="1">
              <a:solidFill>
                <a:schemeClr val="bg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3FE3B4D-47FC-40F0-BA71-4E43AB9673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8214" y="1307291"/>
            <a:ext cx="9677685" cy="219635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23FE3A7-AD07-4CDD-A699-4B445A518402}"/>
              </a:ext>
            </a:extLst>
          </p:cNvPr>
          <p:cNvSpPr txBox="1"/>
          <p:nvPr/>
        </p:nvSpPr>
        <p:spPr>
          <a:xfrm>
            <a:off x="1266101" y="1316622"/>
            <a:ext cx="2265545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2000" b="1">
                <a:solidFill>
                  <a:srgbClr val="0070C0"/>
                </a:solidFill>
              </a:rPr>
              <a:t> 수익모델</a:t>
            </a:r>
          </a:p>
        </p:txBody>
      </p:sp>
    </p:spTree>
    <p:extLst>
      <p:ext uri="{BB962C8B-B14F-4D97-AF65-F5344CB8AC3E}">
        <p14:creationId xmlns:p14="http://schemas.microsoft.com/office/powerpoint/2010/main" val="11847684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57AE04-5CEE-403C-85B3-C1A825A02C93}"/>
              </a:ext>
            </a:extLst>
          </p:cNvPr>
          <p:cNvSpPr txBox="1"/>
          <p:nvPr/>
        </p:nvSpPr>
        <p:spPr>
          <a:xfrm>
            <a:off x="4285130" y="143434"/>
            <a:ext cx="49712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>
                <a:solidFill>
                  <a:schemeClr val="bg1"/>
                </a:solidFill>
              </a:rPr>
              <a:t>수익모델 프레임워크</a:t>
            </a:r>
            <a:r>
              <a:rPr lang="en-US" altLang="ko-KR" sz="3200" b="1">
                <a:solidFill>
                  <a:schemeClr val="bg1"/>
                </a:solidFill>
              </a:rPr>
              <a:t>(2/4)</a:t>
            </a:r>
            <a:endParaRPr lang="ko-KR" altLang="en-US" sz="3200" b="1">
              <a:solidFill>
                <a:schemeClr val="bg1"/>
              </a:solidFill>
            </a:endParaRPr>
          </a:p>
        </p:txBody>
      </p:sp>
      <p:pic>
        <p:nvPicPr>
          <p:cNvPr id="4" name="Picture 0">
            <a:extLst>
              <a:ext uri="{FF2B5EF4-FFF2-40B4-BE49-F238E27FC236}">
                <a16:creationId xmlns:a16="http://schemas.microsoft.com/office/drawing/2014/main" id="{5E97600F-E178-471D-AD82-5A0D1EEACA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90056" y="1881598"/>
            <a:ext cx="5892459" cy="3919899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BCF7E36-D5DB-46AD-B55F-6AC8187C9076}"/>
              </a:ext>
            </a:extLst>
          </p:cNvPr>
          <p:cNvSpPr txBox="1"/>
          <p:nvPr/>
        </p:nvSpPr>
        <p:spPr>
          <a:xfrm>
            <a:off x="594296" y="989046"/>
            <a:ext cx="5182359" cy="89255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>
                <a:solidFill>
                  <a:srgbClr val="C00000"/>
                </a:solidFill>
              </a:rPr>
              <a:t> </a:t>
            </a:r>
            <a:r>
              <a:rPr lang="en-US" altLang="ko-KR" sz="2400" b="1">
                <a:solidFill>
                  <a:srgbClr val="0070C0"/>
                </a:solidFill>
              </a:rPr>
              <a:t>Ron Meyer</a:t>
            </a:r>
            <a:r>
              <a:rPr lang="ko-KR" altLang="en-US" sz="2400" b="1">
                <a:solidFill>
                  <a:srgbClr val="0070C0"/>
                </a:solidFill>
              </a:rPr>
              <a:t>의</a:t>
            </a:r>
            <a:r>
              <a:rPr lang="ko-KR" altLang="en-US" sz="2400" b="1">
                <a:solidFill>
                  <a:srgbClr val="C00000"/>
                </a:solidFill>
              </a:rPr>
              <a:t> </a:t>
            </a:r>
            <a:endParaRPr lang="en-US" altLang="ko-KR" sz="2400" b="1">
              <a:solidFill>
                <a:srgbClr val="C00000"/>
              </a:solidFill>
            </a:endParaRPr>
          </a:p>
          <a:p>
            <a:pPr algn="ctr"/>
            <a:r>
              <a:rPr lang="ko-KR" altLang="en-US" sz="2800" b="1">
                <a:solidFill>
                  <a:srgbClr val="C00000"/>
                </a:solidFill>
              </a:rPr>
              <a:t>수익모델 프레임워크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71E9D8F-D089-47C1-BDA1-48103075AB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872" y="877079"/>
            <a:ext cx="4006897" cy="538317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C614EFE5-8323-4831-8AC7-D5C9E5D2896B}"/>
              </a:ext>
            </a:extLst>
          </p:cNvPr>
          <p:cNvSpPr/>
          <p:nvPr/>
        </p:nvSpPr>
        <p:spPr>
          <a:xfrm flipH="1">
            <a:off x="6282515" y="3324229"/>
            <a:ext cx="578498" cy="5847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55362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57AE04-5CEE-403C-85B3-C1A825A02C93}"/>
              </a:ext>
            </a:extLst>
          </p:cNvPr>
          <p:cNvSpPr txBox="1"/>
          <p:nvPr/>
        </p:nvSpPr>
        <p:spPr>
          <a:xfrm>
            <a:off x="4285130" y="143434"/>
            <a:ext cx="49712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>
                <a:solidFill>
                  <a:schemeClr val="bg1"/>
                </a:solidFill>
              </a:rPr>
              <a:t>수익모델 프레임워크</a:t>
            </a:r>
            <a:r>
              <a:rPr lang="en-US" altLang="ko-KR" sz="3200" b="1">
                <a:solidFill>
                  <a:schemeClr val="bg1"/>
                </a:solidFill>
              </a:rPr>
              <a:t>(3/4)</a:t>
            </a:r>
            <a:endParaRPr lang="ko-KR" altLang="en-US" sz="3200" b="1">
              <a:solidFill>
                <a:schemeClr val="bg1"/>
              </a:solidFill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9503244-DA07-4F42-804B-817707ED17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4004" y="1077425"/>
            <a:ext cx="7381875" cy="352425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CE6798B-EEE5-4577-8DF3-D0178FF77B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9123" y="4818249"/>
            <a:ext cx="3626846" cy="533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9351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57AE04-5CEE-403C-85B3-C1A825A02C93}"/>
              </a:ext>
            </a:extLst>
          </p:cNvPr>
          <p:cNvSpPr txBox="1"/>
          <p:nvPr/>
        </p:nvSpPr>
        <p:spPr>
          <a:xfrm>
            <a:off x="4285130" y="143434"/>
            <a:ext cx="49712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>
                <a:solidFill>
                  <a:schemeClr val="bg1"/>
                </a:solidFill>
              </a:rPr>
              <a:t>수익모델 프레임워크</a:t>
            </a:r>
            <a:r>
              <a:rPr lang="en-US" altLang="ko-KR" sz="3200" b="1">
                <a:solidFill>
                  <a:schemeClr val="bg1"/>
                </a:solidFill>
              </a:rPr>
              <a:t>(4/4)</a:t>
            </a:r>
            <a:endParaRPr lang="ko-KR" altLang="en-US" sz="3200" b="1">
              <a:solidFill>
                <a:schemeClr val="bg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342285A-65F6-4AD7-9B8B-17A70DDD3F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6961" y="1207433"/>
            <a:ext cx="8162925" cy="390525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E7C606E-5472-4F2F-9388-9D5CA16983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2420" y="5239573"/>
            <a:ext cx="6023588" cy="271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3119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57AE04-5CEE-403C-85B3-C1A825A02C93}"/>
              </a:ext>
            </a:extLst>
          </p:cNvPr>
          <p:cNvSpPr txBox="1"/>
          <p:nvPr/>
        </p:nvSpPr>
        <p:spPr>
          <a:xfrm>
            <a:off x="3361766" y="152399"/>
            <a:ext cx="59362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>
                <a:solidFill>
                  <a:schemeClr val="bg1"/>
                </a:solidFill>
              </a:rPr>
              <a:t>스타트업의 수익모델 전략</a:t>
            </a:r>
            <a:r>
              <a:rPr lang="en-US" altLang="ko-KR" sz="3200" b="1">
                <a:solidFill>
                  <a:schemeClr val="bg1"/>
                </a:solidFill>
              </a:rPr>
              <a:t>(1/7)</a:t>
            </a:r>
            <a:endParaRPr lang="ko-KR" altLang="en-US" sz="3200" b="1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3B8E8B-D413-45F6-B7B4-D12FE29137C9}"/>
              </a:ext>
            </a:extLst>
          </p:cNvPr>
          <p:cNvSpPr txBox="1"/>
          <p:nvPr/>
        </p:nvSpPr>
        <p:spPr>
          <a:xfrm>
            <a:off x="4225204" y="1117046"/>
            <a:ext cx="4445448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sz="2400" b="1">
                <a:solidFill>
                  <a:srgbClr val="0070C0"/>
                </a:solidFill>
              </a:rPr>
              <a:t>FUS </a:t>
            </a:r>
            <a:r>
              <a:rPr lang="ko-KR" altLang="en-US" sz="2400" b="1">
                <a:solidFill>
                  <a:srgbClr val="0070C0"/>
                </a:solidFill>
              </a:rPr>
              <a:t>수익모델 전략               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336CFC4-CECA-4BBC-B025-1CF21E0BEC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7275" y="1578711"/>
            <a:ext cx="9487672" cy="337008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</p:spTree>
    <p:extLst>
      <p:ext uri="{BB962C8B-B14F-4D97-AF65-F5344CB8AC3E}">
        <p14:creationId xmlns:p14="http://schemas.microsoft.com/office/powerpoint/2010/main" val="12800770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57AE04-5CEE-403C-85B3-C1A825A02C93}"/>
              </a:ext>
            </a:extLst>
          </p:cNvPr>
          <p:cNvSpPr txBox="1"/>
          <p:nvPr/>
        </p:nvSpPr>
        <p:spPr>
          <a:xfrm>
            <a:off x="3361766" y="152399"/>
            <a:ext cx="59362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>
                <a:solidFill>
                  <a:schemeClr val="bg1"/>
                </a:solidFill>
              </a:rPr>
              <a:t>스타트업의 수익모델 전략</a:t>
            </a:r>
            <a:r>
              <a:rPr lang="en-US" altLang="ko-KR" sz="3200" b="1">
                <a:solidFill>
                  <a:schemeClr val="bg1"/>
                </a:solidFill>
              </a:rPr>
              <a:t>(2/7)</a:t>
            </a:r>
            <a:endParaRPr lang="ko-KR" altLang="en-US" sz="3200" b="1">
              <a:solidFill>
                <a:schemeClr val="bg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897A2326-0853-41D9-B200-03E208FAD9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0598" y="981635"/>
            <a:ext cx="2171700" cy="304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3C63D4C-ADC9-4EDA-A030-CBA04754B042}"/>
              </a:ext>
            </a:extLst>
          </p:cNvPr>
          <p:cNvSpPr txBox="1"/>
          <p:nvPr/>
        </p:nvSpPr>
        <p:spPr>
          <a:xfrm>
            <a:off x="3880598" y="900970"/>
            <a:ext cx="3308342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sz="2400" b="1">
                <a:solidFill>
                  <a:srgbClr val="00B050"/>
                </a:solidFill>
              </a:rPr>
              <a:t>F</a:t>
            </a:r>
            <a:r>
              <a:rPr lang="en-US" altLang="ko-KR" sz="2400" b="1">
                <a:solidFill>
                  <a:srgbClr val="C00000"/>
                </a:solidFill>
              </a:rPr>
              <a:t>: Friction(</a:t>
            </a:r>
            <a:r>
              <a:rPr lang="ko-KR" altLang="en-US" sz="2400" b="1">
                <a:solidFill>
                  <a:srgbClr val="C00000"/>
                </a:solidFill>
              </a:rPr>
              <a:t>마찰</a:t>
            </a:r>
            <a:r>
              <a:rPr lang="en-US" altLang="ko-KR" sz="2400" b="1">
                <a:solidFill>
                  <a:srgbClr val="C00000"/>
                </a:solidFill>
              </a:rPr>
              <a:t>) </a:t>
            </a:r>
            <a:r>
              <a:rPr lang="ko-KR" altLang="en-US" sz="2400" b="1">
                <a:solidFill>
                  <a:srgbClr val="C00000"/>
                </a:solidFill>
              </a:rPr>
              <a:t>개념 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F09F5B1-8210-45B4-BD9A-4EB0EC214A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7611" y="1362635"/>
            <a:ext cx="5638836" cy="485769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</p:spTree>
    <p:extLst>
      <p:ext uri="{BB962C8B-B14F-4D97-AF65-F5344CB8AC3E}">
        <p14:creationId xmlns:p14="http://schemas.microsoft.com/office/powerpoint/2010/main" val="28714738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57AE04-5CEE-403C-85B3-C1A825A02C93}"/>
              </a:ext>
            </a:extLst>
          </p:cNvPr>
          <p:cNvSpPr txBox="1"/>
          <p:nvPr/>
        </p:nvSpPr>
        <p:spPr>
          <a:xfrm>
            <a:off x="3361766" y="152399"/>
            <a:ext cx="59362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>
                <a:solidFill>
                  <a:schemeClr val="bg1"/>
                </a:solidFill>
              </a:rPr>
              <a:t>스타트업의 수익모델 전략</a:t>
            </a:r>
            <a:r>
              <a:rPr lang="en-US" altLang="ko-KR" sz="3200" b="1">
                <a:solidFill>
                  <a:schemeClr val="bg1"/>
                </a:solidFill>
              </a:rPr>
              <a:t>(3/7)</a:t>
            </a:r>
            <a:endParaRPr lang="ko-KR" altLang="en-US" sz="3200" b="1">
              <a:solidFill>
                <a:schemeClr val="bg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AC8195A-F0E7-4F0C-9E6E-2213047501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3664" y="1088091"/>
            <a:ext cx="3124200" cy="3429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A005639-0D63-4DE7-8FA0-E5879861D427}"/>
              </a:ext>
            </a:extLst>
          </p:cNvPr>
          <p:cNvSpPr txBox="1"/>
          <p:nvPr/>
        </p:nvSpPr>
        <p:spPr>
          <a:xfrm>
            <a:off x="3109633" y="1028708"/>
            <a:ext cx="4847802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sz="2400" b="1">
                <a:solidFill>
                  <a:srgbClr val="00B050"/>
                </a:solidFill>
              </a:rPr>
              <a:t>U</a:t>
            </a:r>
            <a:r>
              <a:rPr lang="en-US" altLang="ko-KR" sz="2400" b="1">
                <a:solidFill>
                  <a:srgbClr val="C00000"/>
                </a:solidFill>
              </a:rPr>
              <a:t>: Unit Economics(</a:t>
            </a:r>
            <a:r>
              <a:rPr lang="ko-KR" altLang="en-US" sz="2400" b="1">
                <a:solidFill>
                  <a:srgbClr val="C00000"/>
                </a:solidFill>
              </a:rPr>
              <a:t>단위경제학</a:t>
            </a:r>
            <a:r>
              <a:rPr lang="en-US" altLang="ko-KR" sz="2400" b="1">
                <a:solidFill>
                  <a:srgbClr val="C00000"/>
                </a:solidFill>
              </a:rPr>
              <a:t>) </a:t>
            </a:r>
            <a:r>
              <a:rPr lang="ko-KR" altLang="en-US" sz="2400" b="1">
                <a:solidFill>
                  <a:srgbClr val="C00000"/>
                </a:solidFill>
              </a:rPr>
              <a:t> 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FBB11CC-682D-4812-86BE-686265F3A4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8558" y="1549756"/>
            <a:ext cx="6573371" cy="4524528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</p:spTree>
    <p:extLst>
      <p:ext uri="{BB962C8B-B14F-4D97-AF65-F5344CB8AC3E}">
        <p14:creationId xmlns:p14="http://schemas.microsoft.com/office/powerpoint/2010/main" val="28215879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57AE04-5CEE-403C-85B3-C1A825A02C93}"/>
              </a:ext>
            </a:extLst>
          </p:cNvPr>
          <p:cNvSpPr txBox="1"/>
          <p:nvPr/>
        </p:nvSpPr>
        <p:spPr>
          <a:xfrm>
            <a:off x="3361766" y="152399"/>
            <a:ext cx="59362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>
                <a:solidFill>
                  <a:schemeClr val="bg1"/>
                </a:solidFill>
              </a:rPr>
              <a:t>스타트업의 수익모델 전략</a:t>
            </a:r>
            <a:r>
              <a:rPr lang="en-US" altLang="ko-KR" sz="3200" b="1">
                <a:solidFill>
                  <a:schemeClr val="bg1"/>
                </a:solidFill>
              </a:rPr>
              <a:t>(4/7)</a:t>
            </a:r>
            <a:endParaRPr lang="ko-KR" altLang="en-US" sz="3200" b="1">
              <a:solidFill>
                <a:schemeClr val="bg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AC8195A-F0E7-4F0C-9E6E-2213047501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3664" y="1088091"/>
            <a:ext cx="3124200" cy="3429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A005639-0D63-4DE7-8FA0-E5879861D427}"/>
              </a:ext>
            </a:extLst>
          </p:cNvPr>
          <p:cNvSpPr txBox="1"/>
          <p:nvPr/>
        </p:nvSpPr>
        <p:spPr>
          <a:xfrm>
            <a:off x="3109633" y="1028708"/>
            <a:ext cx="3938899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sz="2400" b="1">
                <a:solidFill>
                  <a:srgbClr val="00B050"/>
                </a:solidFill>
              </a:rPr>
              <a:t>S</a:t>
            </a:r>
            <a:r>
              <a:rPr lang="en-US" altLang="ko-KR" sz="2400" b="1">
                <a:solidFill>
                  <a:srgbClr val="C00000"/>
                </a:solidFill>
              </a:rPr>
              <a:t>: Sellability(</a:t>
            </a:r>
            <a:r>
              <a:rPr lang="ko-KR" altLang="en-US" sz="2400" b="1">
                <a:solidFill>
                  <a:srgbClr val="C00000"/>
                </a:solidFill>
              </a:rPr>
              <a:t>판매가능성</a:t>
            </a:r>
            <a:r>
              <a:rPr lang="en-US" altLang="ko-KR" sz="2400" b="1">
                <a:solidFill>
                  <a:srgbClr val="C00000"/>
                </a:solidFill>
              </a:rPr>
              <a:t>) </a:t>
            </a:r>
            <a:r>
              <a:rPr lang="ko-KR" altLang="en-US" sz="2400" b="1">
                <a:solidFill>
                  <a:srgbClr val="C00000"/>
                </a:solidFill>
              </a:rPr>
              <a:t>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21B21B2-6E58-4DE7-A552-42DF291B15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4856" y="1490373"/>
            <a:ext cx="5828179" cy="415527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</p:spTree>
    <p:extLst>
      <p:ext uri="{BB962C8B-B14F-4D97-AF65-F5344CB8AC3E}">
        <p14:creationId xmlns:p14="http://schemas.microsoft.com/office/powerpoint/2010/main" val="15895175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57AE04-5CEE-403C-85B3-C1A825A02C93}"/>
              </a:ext>
            </a:extLst>
          </p:cNvPr>
          <p:cNvSpPr txBox="1"/>
          <p:nvPr/>
        </p:nvSpPr>
        <p:spPr>
          <a:xfrm>
            <a:off x="3361766" y="152399"/>
            <a:ext cx="59362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>
                <a:solidFill>
                  <a:schemeClr val="bg1"/>
                </a:solidFill>
              </a:rPr>
              <a:t>스타트업의 수익모델 전략</a:t>
            </a:r>
            <a:r>
              <a:rPr lang="en-US" altLang="ko-KR" sz="3200" b="1">
                <a:solidFill>
                  <a:schemeClr val="bg1"/>
                </a:solidFill>
              </a:rPr>
              <a:t>(5/7)</a:t>
            </a:r>
            <a:endParaRPr lang="ko-KR" altLang="en-US" sz="3200" b="1">
              <a:solidFill>
                <a:schemeClr val="bg1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D12A5D2-AAD0-4E19-8D1B-50ED32EF65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9852" y="1554439"/>
            <a:ext cx="8466884" cy="444695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A05A7B2-1DB0-4E82-A6BD-7ADA4D521F91}"/>
              </a:ext>
            </a:extLst>
          </p:cNvPr>
          <p:cNvSpPr txBox="1"/>
          <p:nvPr/>
        </p:nvSpPr>
        <p:spPr>
          <a:xfrm>
            <a:off x="3001999" y="1092774"/>
            <a:ext cx="5482591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sz="2400" b="1">
                <a:solidFill>
                  <a:srgbClr val="0070C0"/>
                </a:solidFill>
              </a:rPr>
              <a:t>FUS </a:t>
            </a:r>
            <a:r>
              <a:rPr lang="ko-KR" altLang="en-US" sz="2400" b="1">
                <a:solidFill>
                  <a:srgbClr val="0070C0"/>
                </a:solidFill>
              </a:rPr>
              <a:t>수익모델 프레임워크 전체 구조</a:t>
            </a:r>
            <a:r>
              <a:rPr lang="en-US" altLang="ko-KR" sz="2400" b="1">
                <a:solidFill>
                  <a:srgbClr val="0070C0"/>
                </a:solidFill>
              </a:rPr>
              <a:t> </a:t>
            </a:r>
            <a:r>
              <a:rPr lang="ko-KR" altLang="en-US" sz="2400" b="1">
                <a:solidFill>
                  <a:srgbClr val="0070C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344210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57AE04-5CEE-403C-85B3-C1A825A02C93}"/>
              </a:ext>
            </a:extLst>
          </p:cNvPr>
          <p:cNvSpPr txBox="1"/>
          <p:nvPr/>
        </p:nvSpPr>
        <p:spPr>
          <a:xfrm>
            <a:off x="3361766" y="152399"/>
            <a:ext cx="59362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>
                <a:solidFill>
                  <a:schemeClr val="bg1"/>
                </a:solidFill>
              </a:rPr>
              <a:t>스타트업의 수익모델 전략</a:t>
            </a:r>
            <a:r>
              <a:rPr lang="en-US" altLang="ko-KR" sz="3200" b="1">
                <a:solidFill>
                  <a:schemeClr val="bg1"/>
                </a:solidFill>
              </a:rPr>
              <a:t>(6/7)</a:t>
            </a:r>
            <a:endParaRPr lang="ko-KR" altLang="en-US" sz="3200" b="1">
              <a:solidFill>
                <a:schemeClr val="bg1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ADC7E55-7337-40FA-868B-CA29ED36DD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1642" y="1559281"/>
            <a:ext cx="4632301" cy="420110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CD38BD5-8CBD-4D71-9521-8BADB5038612}"/>
              </a:ext>
            </a:extLst>
          </p:cNvPr>
          <p:cNvSpPr txBox="1"/>
          <p:nvPr/>
        </p:nvSpPr>
        <p:spPr>
          <a:xfrm>
            <a:off x="3514664" y="1097616"/>
            <a:ext cx="4006225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2400" b="1">
                <a:solidFill>
                  <a:srgbClr val="0070C0"/>
                </a:solidFill>
              </a:rPr>
              <a:t>수익모델 점검 체크리스트</a:t>
            </a:r>
            <a:r>
              <a:rPr lang="en-US" altLang="ko-KR" sz="2400" b="1">
                <a:solidFill>
                  <a:srgbClr val="0070C0"/>
                </a:solidFill>
              </a:rPr>
              <a:t> </a:t>
            </a:r>
            <a:r>
              <a:rPr lang="ko-KR" altLang="en-US" sz="2400" b="1">
                <a:solidFill>
                  <a:srgbClr val="0070C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057688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57AE04-5CEE-403C-85B3-C1A825A02C93}"/>
              </a:ext>
            </a:extLst>
          </p:cNvPr>
          <p:cNvSpPr txBox="1"/>
          <p:nvPr/>
        </p:nvSpPr>
        <p:spPr>
          <a:xfrm>
            <a:off x="3361766" y="152399"/>
            <a:ext cx="59362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>
                <a:solidFill>
                  <a:schemeClr val="bg1"/>
                </a:solidFill>
              </a:rPr>
              <a:t>스타트업의 수익모델 전략</a:t>
            </a:r>
            <a:r>
              <a:rPr lang="en-US" altLang="ko-KR" sz="3200" b="1">
                <a:solidFill>
                  <a:schemeClr val="bg1"/>
                </a:solidFill>
              </a:rPr>
              <a:t>(7/7)</a:t>
            </a:r>
            <a:endParaRPr lang="ko-KR" altLang="en-US" sz="3200" b="1">
              <a:solidFill>
                <a:schemeClr val="bg1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FFB1698-8003-4459-BD84-3B514940CE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0424" y="1575644"/>
            <a:ext cx="6162967" cy="370671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05C4A8-3096-4A4E-BA3C-B89D041FB5EC}"/>
              </a:ext>
            </a:extLst>
          </p:cNvPr>
          <p:cNvSpPr txBox="1"/>
          <p:nvPr/>
        </p:nvSpPr>
        <p:spPr>
          <a:xfrm>
            <a:off x="5420663" y="1030722"/>
            <a:ext cx="909223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2400" b="1">
                <a:solidFill>
                  <a:srgbClr val="0070C0"/>
                </a:solidFill>
              </a:rPr>
              <a:t>제 언</a:t>
            </a:r>
          </a:p>
        </p:txBody>
      </p:sp>
    </p:spTree>
    <p:extLst>
      <p:ext uri="{BB962C8B-B14F-4D97-AF65-F5344CB8AC3E}">
        <p14:creationId xmlns:p14="http://schemas.microsoft.com/office/powerpoint/2010/main" val="26942090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57AE04-5CEE-403C-85B3-C1A825A02C93}"/>
              </a:ext>
            </a:extLst>
          </p:cNvPr>
          <p:cNvSpPr txBox="1"/>
          <p:nvPr/>
        </p:nvSpPr>
        <p:spPr>
          <a:xfrm>
            <a:off x="5011272" y="170328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>
                <a:solidFill>
                  <a:schemeClr val="bg1"/>
                </a:solidFill>
              </a:rPr>
              <a:t>참고자료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F1A37D-0575-4304-9CE0-74F6502F0E7B}"/>
              </a:ext>
            </a:extLst>
          </p:cNvPr>
          <p:cNvSpPr txBox="1"/>
          <p:nvPr/>
        </p:nvSpPr>
        <p:spPr>
          <a:xfrm>
            <a:off x="421341" y="986118"/>
            <a:ext cx="10484345" cy="27741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/>
              <a:t>• </a:t>
            </a:r>
            <a:r>
              <a:rPr lang="ko-KR" altLang="en-US"/>
              <a:t>이재명정부 국정과제</a:t>
            </a:r>
            <a:r>
              <a:rPr lang="en-US" altLang="ko-KR"/>
              <a:t>: </a:t>
            </a:r>
            <a:r>
              <a:rPr lang="en-US" altLang="ko-KR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https://www.korea.kr/govVision/</a:t>
            </a:r>
            <a:endParaRPr lang="ko-KR" altLang="en-US"/>
          </a:p>
          <a:p>
            <a:pPr>
              <a:lnSpc>
                <a:spcPct val="200000"/>
              </a:lnSpc>
            </a:pPr>
            <a:r>
              <a:rPr lang="en-US" altLang="ko-KR"/>
              <a:t>• </a:t>
            </a:r>
            <a:r>
              <a:rPr lang="ko-KR" altLang="en-US"/>
              <a:t>수익모델 프레임워크</a:t>
            </a:r>
            <a:r>
              <a:rPr lang="en-US" altLang="ko-KR"/>
              <a:t>: </a:t>
            </a:r>
            <a:r>
              <a:rPr lang="en-US" altLang="ko-KR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https://acquiredentrepreneur.tistory.com/42</a:t>
            </a:r>
            <a:endParaRPr lang="ko-KR" altLang="en-US"/>
          </a:p>
          <a:p>
            <a:pPr>
              <a:lnSpc>
                <a:spcPct val="200000"/>
              </a:lnSpc>
            </a:pPr>
            <a:r>
              <a:rPr lang="en-US" altLang="ko-KR"/>
              <a:t>• </a:t>
            </a:r>
            <a:r>
              <a:rPr lang="ko-KR" altLang="en-US"/>
              <a:t>스타트업의 수익모델</a:t>
            </a:r>
            <a:r>
              <a:rPr lang="en-US" altLang="ko-KR"/>
              <a:t>: </a:t>
            </a:r>
            <a:r>
              <a:rPr lang="en-US" altLang="ko-KR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https://maily.so/mystartup/posts/72qzp32wr4x</a:t>
            </a:r>
            <a:endParaRPr lang="ko-KR" altLang="en-US"/>
          </a:p>
          <a:p>
            <a:r>
              <a:rPr lang="en-US" altLang="ko-KR"/>
              <a:t>• </a:t>
            </a:r>
            <a:r>
              <a:rPr lang="ko-KR" altLang="en-US"/>
              <a:t>민간의 첨단 초거대 인공지능 활용지원 사업 </a:t>
            </a:r>
            <a:r>
              <a:rPr lang="en-US" altLang="ko-KR"/>
              <a:t>:</a:t>
            </a:r>
          </a:p>
          <a:p>
            <a:r>
              <a:rPr lang="en-US" altLang="ko-KR"/>
              <a:t> </a:t>
            </a:r>
            <a:r>
              <a:rPr lang="en-US" altLang="ko-KR" sz="1600"/>
              <a:t>https://www.msit.go.kr/bbs/view.do?sCode=user&amp;nttSeqNo=3178371&amp;bbsSeqNo=100&amp;mId=129&amp;mPid=224</a:t>
            </a:r>
          </a:p>
          <a:p>
            <a:pPr>
              <a:lnSpc>
                <a:spcPct val="200000"/>
              </a:lnSpc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94242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TextBox 1">
            <a:extLst>
              <a:ext uri="{FF2B5EF4-FFF2-40B4-BE49-F238E27FC236}">
                <a16:creationId xmlns:a16="http://schemas.microsoft.com/office/drawing/2014/main" id="{2DB29A70-DB06-4203-9F65-D6C3B13B15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2465388"/>
            <a:ext cx="4233863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/>
            <a:r>
              <a:rPr lang="ko-KR" altLang="en-US" sz="6000" b="1">
                <a:solidFill>
                  <a:srgbClr val="0070C0"/>
                </a:solidFill>
              </a:rPr>
              <a:t>감사합니다</a:t>
            </a:r>
            <a:r>
              <a:rPr lang="en-US" altLang="ko-KR" sz="6000" b="1">
                <a:solidFill>
                  <a:srgbClr val="0070C0"/>
                </a:solidFill>
              </a:rPr>
              <a:t>.</a:t>
            </a:r>
            <a:endParaRPr lang="ko-KR" altLang="en-US" sz="6000" b="1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0334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8942</TotalTime>
  <Words>423</Words>
  <Application>Microsoft Office PowerPoint</Application>
  <PresentationFormat>와이드스크린</PresentationFormat>
  <Paragraphs>92</Paragraphs>
  <Slides>28</Slides>
  <Notes>28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3" baseType="lpstr">
      <vt:lpstr>나눔고딕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1009</cp:revision>
  <dcterms:created xsi:type="dcterms:W3CDTF">2024-09-09T09:01:14Z</dcterms:created>
  <dcterms:modified xsi:type="dcterms:W3CDTF">2025-12-04T21:15:34Z</dcterms:modified>
</cp:coreProperties>
</file>