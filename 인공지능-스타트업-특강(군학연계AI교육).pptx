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5" r:id="rId2"/>
    <p:sldId id="415" r:id="rId3"/>
    <p:sldId id="387" r:id="rId4"/>
    <p:sldId id="416" r:id="rId5"/>
    <p:sldId id="439" r:id="rId6"/>
    <p:sldId id="448" r:id="rId7"/>
    <p:sldId id="453" r:id="rId8"/>
    <p:sldId id="455" r:id="rId9"/>
    <p:sldId id="454" r:id="rId10"/>
    <p:sldId id="293" r:id="rId11"/>
    <p:sldId id="294" r:id="rId12"/>
    <p:sldId id="440" r:id="rId13"/>
    <p:sldId id="418" r:id="rId14"/>
    <p:sldId id="425" r:id="rId15"/>
    <p:sldId id="419" r:id="rId16"/>
    <p:sldId id="426" r:id="rId17"/>
    <p:sldId id="417" r:id="rId18"/>
    <p:sldId id="445" r:id="rId19"/>
    <p:sldId id="447" r:id="rId20"/>
    <p:sldId id="446" r:id="rId21"/>
    <p:sldId id="444" r:id="rId22"/>
    <p:sldId id="420" r:id="rId23"/>
    <p:sldId id="428" r:id="rId24"/>
    <p:sldId id="427" r:id="rId25"/>
    <p:sldId id="421" r:id="rId26"/>
    <p:sldId id="429" r:id="rId27"/>
    <p:sldId id="430" r:id="rId28"/>
    <p:sldId id="431" r:id="rId29"/>
    <p:sldId id="438" r:id="rId30"/>
    <p:sldId id="433" r:id="rId31"/>
    <p:sldId id="434" r:id="rId32"/>
    <p:sldId id="443" r:id="rId33"/>
    <p:sldId id="435" r:id="rId34"/>
    <p:sldId id="436" r:id="rId35"/>
    <p:sldId id="437" r:id="rId36"/>
    <p:sldId id="441" r:id="rId37"/>
    <p:sldId id="414" r:id="rId38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1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E57BD7-6E0A-4654-8A8E-45C9B546C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0836C-64D8-4B00-AF23-4EC6ECD07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A3DF36-72CB-4BD0-95EF-0A4C8AB0C029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CE8BD2C-751C-4D6A-BAA0-6B48B088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19AC6DE-15A7-4637-BE2A-1F6A92DAA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6FB4F-BC62-43BA-8162-7B34D70C09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F8414-35E0-440F-9014-C342F8BB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53F1AAE-D5E4-44D4-AE0C-3A0245E281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46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709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21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337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401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693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404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501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768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835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564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344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750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795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828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486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503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153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1170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075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697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743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8775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1156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744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48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59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39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296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769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9483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0959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723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1014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1136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3951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>
            <a:extLst>
              <a:ext uri="{FF2B5EF4-FFF2-40B4-BE49-F238E27FC236}">
                <a16:creationId xmlns:a16="http://schemas.microsoft.com/office/drawing/2014/main" id="{7D134615-8354-4988-90A3-ACC602B44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>
            <a:extLst>
              <a:ext uri="{FF2B5EF4-FFF2-40B4-BE49-F238E27FC236}">
                <a16:creationId xmlns:a16="http://schemas.microsoft.com/office/drawing/2014/main" id="{09D80C2F-1DF4-4032-9AAC-F267E478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9332" name="슬라이드 번호 개체 틀 3">
            <a:extLst>
              <a:ext uri="{FF2B5EF4-FFF2-40B4-BE49-F238E27FC236}">
                <a16:creationId xmlns:a16="http://schemas.microsoft.com/office/drawing/2014/main" id="{B606F641-B9C1-42A4-B9E0-4AE21EF71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78118F-0833-4CE6-ACF9-EDCD7E8F2FDC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20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E70D-639B-4F24-9546-1A1D88E92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9BD01-DB6D-481D-8812-AC619E82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B16EF-AF43-443C-964F-E3637FED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93F610-EC9F-49AF-BEE7-BFECFBEE6B62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EA2F-911D-48DE-8BEF-3CAA8C66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EBBB8-3312-4ED0-8229-46139B8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58AB4F4-AAE8-4439-8C60-54BA36FC8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769A8-9AF7-406A-9493-ABFDEEB6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DFD6-07A0-4F2E-AAA4-B8EBF1F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2C10F-8AD1-4CEE-B22F-D5531E7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DEF653-2431-4A0E-9654-9ACB9D51FBE7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5EECA-72DC-4BD4-B0AB-FA64181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0EC19-3B01-4402-96B5-C499BD89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E1167C-F991-4836-8C18-AE230C6BF58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6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4FECC-54DA-4AE7-A17E-22058E2C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DFE1E-F1FA-45E7-983F-80552D737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EA5F0-8154-43A8-8D33-471531B1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F262E2-F89F-4A75-B54F-D6A8EF2BF1D9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14E77-F129-48B9-AC09-211BAEF7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B410-842C-48FF-BFF7-119062E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938400F-1A3B-4F2D-8A86-FE8161617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64CD-C159-42EE-9204-80C8CA9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E1860-5D8C-4122-8171-2DF7F74BE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30E9D-78D7-42AB-BE75-DCC781A2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BC3B4-068C-4788-9769-E92FD96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3B8D971-5704-4145-A919-9D554FEA486D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FBA1-12A0-4947-A3CD-1A8E91F7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3913B-B113-47D4-84EA-EB643657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363F4B-481F-40B9-AF0B-5BC614D296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7A24-C952-4A9A-B023-1E809E30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70054-A956-453B-ADB4-760D845B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8F5E92-8FF3-47E1-B76E-9ED7E685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61E73-1E7C-48BE-A066-63000949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D66483-D5D0-4515-BE36-5F119859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514F2B-EEC2-4AB0-B950-A46D79B5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B7BDD3F-43B3-4C4F-8D08-A54CB3D7E68D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4F9E2-F0E1-41AA-BCF4-EE8BAA01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09759-156F-4647-9F42-84D66A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5DD5644-BEC7-463E-B6D9-F45E0D6469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BF5D4-9CC4-443F-A94E-0956745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FE8C62-0803-48ED-A0C0-4641E3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3355378-CBBB-46C3-9CB1-42FDE5043C5B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9E311-E6EA-4E0E-908C-3C6DB9F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B1C2-B304-4BA4-8AC9-50C1E26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12DAEF-D8BE-4A95-9621-3C7C61594A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610685-5AA5-4BCE-A1A5-33921F02192B}"/>
              </a:ext>
            </a:extLst>
          </p:cNvPr>
          <p:cNvSpPr/>
          <p:nvPr userDrawn="1"/>
        </p:nvSpPr>
        <p:spPr>
          <a:xfrm>
            <a:off x="0" y="0"/>
            <a:ext cx="12192000" cy="9064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7423A-65A9-4B83-BDCA-3F6F474D4956}"/>
              </a:ext>
            </a:extLst>
          </p:cNvPr>
          <p:cNvSpPr/>
          <p:nvPr userDrawn="1"/>
        </p:nvSpPr>
        <p:spPr>
          <a:xfrm>
            <a:off x="0" y="6375400"/>
            <a:ext cx="12192000" cy="5159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바닥글 개체 틀 2">
            <a:extLst>
              <a:ext uri="{FF2B5EF4-FFF2-40B4-BE49-F238E27FC236}">
                <a16:creationId xmlns:a16="http://schemas.microsoft.com/office/drawing/2014/main" id="{03C89755-87E1-4D6C-B740-03B4E772C406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빅데이터분석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737D079-2C0D-4521-A876-B9F4A5FA5F09}"/>
              </a:ext>
            </a:extLst>
          </p:cNvPr>
          <p:cNvSpPr txBox="1">
            <a:spLocks/>
          </p:cNvSpPr>
          <p:nvPr userDrawn="1"/>
        </p:nvSpPr>
        <p:spPr>
          <a:xfrm>
            <a:off x="9281720" y="645242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57A4BD-6EDC-46A2-834B-61CF7CE0EBB4}" type="slidenum">
              <a:rPr lang="ko-KR" altLang="en-US" sz="1400" b="1" smtClean="0">
                <a:highlight>
                  <a:srgbClr val="FFFF00"/>
                </a:highlight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9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E6E4C-8DC1-4A6E-90F7-4279984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BCDBD-ABFC-4B82-96DF-BB8BEE9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CFB77-90F2-48E2-8A9E-01A4DBE30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036D9-3BB3-46E6-B802-D293EB26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58422B7-24C4-472A-88B6-6AA6CE96B749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36836-273F-4845-A376-2720054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74232-E956-49BA-BDA5-BA77544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0B0596-D5FC-4448-AEED-9D0327509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7DCA-43CC-47A7-88FB-A41ECEC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7996-607D-4B3D-BAC5-25D979EA0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851F2-09B6-4956-9BF0-DFEF038C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C56C3-12A8-4759-8E4A-40EA84B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7EDF4F-80DE-426F-943F-FF36A6E1559A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47C3B-8032-4D3E-A47B-4B42405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FC89-AEEF-4956-BE87-8BC4DE09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96D3F32-FF73-4782-9A44-4690EBFCA6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C7B6-4FA9-4E7B-80EB-4943C2A9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FEE5A-6421-4F73-841B-000457CE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D94-E9E6-406E-A82E-C020B841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8A923E1-B626-4A76-A4A7-3115B0A6081E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FED8-F9E0-4F82-881D-E9B6589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BB101-8682-41CF-889C-33F581D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A2CD7F-A1BC-4C3E-B760-D215897D13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5334E-4487-4417-967C-1054F7FAA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C0DBE-A6CA-4D05-A2C8-13FBC03B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6FFD-80C7-4D3E-B5D7-444EFD0C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945837B-DF37-466E-9BF2-3F16DC998E80}" type="datetimeFigureOut">
              <a:rPr lang="ko-KR" altLang="en-US"/>
              <a:pPr>
                <a:defRPr/>
              </a:pPr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3EF1A-449A-4DB3-9434-6F6DB43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CB683-FD5A-4B72-BD46-BFF8BD5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05E1FA-DA96-4D65-98BA-2FD6AD4227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86BCFE-0854-406E-BAA5-E392B5800975}"/>
              </a:ext>
            </a:extLst>
          </p:cNvPr>
          <p:cNvSpPr/>
          <p:nvPr userDrawn="1"/>
        </p:nvSpPr>
        <p:spPr>
          <a:xfrm>
            <a:off x="0" y="0"/>
            <a:ext cx="12192000" cy="7635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93F6A-40FD-4B81-A662-D35E24C518E6}"/>
              </a:ext>
            </a:extLst>
          </p:cNvPr>
          <p:cNvSpPr/>
          <p:nvPr userDrawn="1"/>
        </p:nvSpPr>
        <p:spPr>
          <a:xfrm>
            <a:off x="0" y="6411913"/>
            <a:ext cx="12192000" cy="44608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바닥글 개체 틀 2">
            <a:extLst>
              <a:ext uri="{FF2B5EF4-FFF2-40B4-BE49-F238E27FC236}">
                <a16:creationId xmlns:a16="http://schemas.microsoft.com/office/drawing/2014/main" id="{AF16C193-7CA1-46B5-A79B-0B26BD580F18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rgbClr val="FFFF00"/>
                </a:solidFill>
              </a:rPr>
              <a:t>인공지능</a:t>
            </a:r>
            <a:r>
              <a:rPr lang="en-US" altLang="ko-KR" b="1">
                <a:solidFill>
                  <a:srgbClr val="FFFF00"/>
                </a:solidFill>
              </a:rPr>
              <a:t>-</a:t>
            </a:r>
            <a:r>
              <a:rPr lang="ko-KR" altLang="en-US" b="1">
                <a:solidFill>
                  <a:srgbClr val="FFFF00"/>
                </a:solidFill>
              </a:rPr>
              <a:t>특강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1B77644E-9142-4F20-8A5E-A4B49795C21C}"/>
              </a:ext>
            </a:extLst>
          </p:cNvPr>
          <p:cNvSpPr txBox="1">
            <a:spLocks/>
          </p:cNvSpPr>
          <p:nvPr userDrawn="1"/>
        </p:nvSpPr>
        <p:spPr>
          <a:xfrm>
            <a:off x="9344025" y="6453188"/>
            <a:ext cx="2743200" cy="365125"/>
          </a:xfrm>
          <a:prstGeom prst="rect">
            <a:avLst/>
          </a:prstGeom>
          <a:noFill/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C3584EE-FCFA-4EFB-96C3-7202F341AB65}" type="slidenum">
              <a:rPr lang="ko-KR" altLang="en-US" sz="1600" b="1" smtClean="0">
                <a:solidFill>
                  <a:schemeClr val="bg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6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rea.kr/govVision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aily.so/mystartup/posts/72qzp32wr4x" TargetMode="External"/><Relationship Id="rId4" Type="http://schemas.openxmlformats.org/officeDocument/2006/relationships/hyperlink" Target="https://acquiredentrepreneur.tistory.com/42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B66A4F66-23A1-4D64-9013-BB55F7500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375" y="1276315"/>
            <a:ext cx="67948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3600" b="1" spc="-2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나눔고딕" panose="020D0604000000000000" pitchFamily="50" charset="-127"/>
              </a:rPr>
              <a:t>AI</a:t>
            </a:r>
            <a:r>
              <a:rPr lang="ko-KR" altLang="en-US" sz="3600" b="1" spc="-2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나눔고딕" panose="020D0604000000000000" pitchFamily="50" charset="-127"/>
              </a:rPr>
              <a:t> 기반 스타트업의 수익모델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48CF2-C654-40A8-9DDE-D87C72F893DB}"/>
              </a:ext>
            </a:extLst>
          </p:cNvPr>
          <p:cNvSpPr txBox="1"/>
          <p:nvPr/>
        </p:nvSpPr>
        <p:spPr>
          <a:xfrm>
            <a:off x="2907764" y="3498704"/>
            <a:ext cx="6376472" cy="2308324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B0F0"/>
                </a:solidFill>
                <a:latin typeface="+mn-lt"/>
                <a:ea typeface="+mn-ea"/>
              </a:rPr>
              <a:t>이재명 정부의 </a:t>
            </a:r>
            <a:r>
              <a:rPr lang="en-US" altLang="ko-KR" sz="2400" b="1">
                <a:solidFill>
                  <a:srgbClr val="00B0F0"/>
                </a:solidFill>
                <a:latin typeface="+mn-lt"/>
                <a:ea typeface="+mn-ea"/>
              </a:rPr>
              <a:t>AI</a:t>
            </a:r>
            <a:r>
              <a:rPr lang="ko-KR" altLang="en-US" sz="2400" b="1">
                <a:solidFill>
                  <a:srgbClr val="00B0F0"/>
                </a:solidFill>
                <a:latin typeface="+mn-lt"/>
                <a:ea typeface="+mn-ea"/>
              </a:rPr>
              <a:t> 전략</a:t>
            </a:r>
            <a:endParaRPr lang="en-US" altLang="ko-KR" sz="2400" b="1">
              <a:solidFill>
                <a:srgbClr val="00B0F0"/>
              </a:solidFill>
              <a:latin typeface="+mn-lt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B0F0"/>
                </a:solidFill>
                <a:latin typeface="+mn-lt"/>
                <a:ea typeface="+mn-ea"/>
              </a:rPr>
              <a:t>인공지능의 역사와 생성형 </a:t>
            </a:r>
            <a:r>
              <a:rPr lang="en-US" altLang="ko-KR" sz="2400" b="1">
                <a:solidFill>
                  <a:srgbClr val="00B0F0"/>
                </a:solidFill>
                <a:latin typeface="+mn-lt"/>
                <a:ea typeface="+mn-ea"/>
              </a:rPr>
              <a:t>AI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초거대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AI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플랫폼 생태계 구조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AIaaS 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구조</a:t>
            </a:r>
            <a:endParaRPr lang="en-US" altLang="ko-KR" sz="2400" b="1">
              <a:solidFill>
                <a:srgbClr val="00B050"/>
              </a:solidFill>
              <a:latin typeface="+mn-lt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B050"/>
                </a:solidFill>
                <a:latin typeface="+mn-lt"/>
                <a:ea typeface="+mn-ea"/>
              </a:rPr>
              <a:t>스타트업과 대기업의 협력방안</a:t>
            </a:r>
            <a:endParaRPr lang="en-US" altLang="ko-KR" sz="2400" b="1">
              <a:solidFill>
                <a:srgbClr val="00B050"/>
              </a:solidFill>
              <a:latin typeface="+mn-lt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B050"/>
                </a:solidFill>
                <a:latin typeface="+mn-lt"/>
                <a:ea typeface="+mn-ea"/>
              </a:rPr>
              <a:t>스타트업의 수익모델 전략</a:t>
            </a:r>
            <a:endParaRPr lang="en-US" altLang="ko-KR" sz="2400" b="1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EB452-BBA4-4313-9E3A-CFBA781E0B16}"/>
              </a:ext>
            </a:extLst>
          </p:cNvPr>
          <p:cNvSpPr txBox="1"/>
          <p:nvPr/>
        </p:nvSpPr>
        <p:spPr>
          <a:xfrm>
            <a:off x="5439216" y="29563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70C0"/>
                </a:solidFill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68552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729318" y="134470"/>
            <a:ext cx="4576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이재명 정부의 국정목표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EFF887-B846-4863-8760-A2CF7B00C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739" y="825873"/>
            <a:ext cx="6580522" cy="536190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22560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997402" y="127079"/>
            <a:ext cx="4721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이재명 정부의 혁신경제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30FBFF-2D3B-42AE-8C61-8610CC246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12" y="900112"/>
            <a:ext cx="5486400" cy="53625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28750A2-D4D7-4729-A603-8F4D993B9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074" y="900112"/>
            <a:ext cx="5448300" cy="28479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0AFC9C-6050-4C33-961C-660420E402DB}"/>
              </a:ext>
            </a:extLst>
          </p:cNvPr>
          <p:cNvSpPr/>
          <p:nvPr/>
        </p:nvSpPr>
        <p:spPr>
          <a:xfrm>
            <a:off x="1013012" y="5414682"/>
            <a:ext cx="4858870" cy="25101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6E8F13E-93BB-48A4-87C1-7FDE31DA27A4}"/>
              </a:ext>
            </a:extLst>
          </p:cNvPr>
          <p:cNvSpPr/>
          <p:nvPr/>
        </p:nvSpPr>
        <p:spPr>
          <a:xfrm>
            <a:off x="9377082" y="3009481"/>
            <a:ext cx="2339788" cy="25101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0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523130" y="143435"/>
            <a:ext cx="5136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이재명 정부의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관련 목표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5D174F-88BE-4ACA-B182-1F9B51728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90" y="1080481"/>
            <a:ext cx="11210335" cy="29223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398203-705A-4D69-9914-5037E993D5C6}"/>
              </a:ext>
            </a:extLst>
          </p:cNvPr>
          <p:cNvSpPr txBox="1"/>
          <p:nvPr/>
        </p:nvSpPr>
        <p:spPr>
          <a:xfrm>
            <a:off x="618565" y="1107376"/>
            <a:ext cx="17972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 </a:t>
            </a:r>
            <a:r>
              <a:rPr lang="ko-KR" altLang="en-US" b="1">
                <a:solidFill>
                  <a:srgbClr val="0070C0"/>
                </a:solidFill>
              </a:rPr>
              <a:t>인프라 강화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F6C59-462D-4F92-8895-B6CF2F606FE8}"/>
              </a:ext>
            </a:extLst>
          </p:cNvPr>
          <p:cNvSpPr txBox="1"/>
          <p:nvPr/>
        </p:nvSpPr>
        <p:spPr>
          <a:xfrm>
            <a:off x="591670" y="1512568"/>
            <a:ext cx="20798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독자 </a:t>
            </a:r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기술 확보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B8F53-66DF-4C88-ACB9-9808E097F435}"/>
              </a:ext>
            </a:extLst>
          </p:cNvPr>
          <p:cNvSpPr txBox="1"/>
          <p:nvPr/>
        </p:nvSpPr>
        <p:spPr>
          <a:xfrm>
            <a:off x="591671" y="1881900"/>
            <a:ext cx="23846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인재</a:t>
            </a:r>
            <a:r>
              <a:rPr lang="en-US" altLang="ko-KR" b="1">
                <a:solidFill>
                  <a:srgbClr val="0070C0"/>
                </a:solidFill>
              </a:rPr>
              <a:t>·</a:t>
            </a:r>
            <a:r>
              <a:rPr lang="ko-KR" altLang="en-US" b="1">
                <a:solidFill>
                  <a:srgbClr val="0070C0"/>
                </a:solidFill>
              </a:rPr>
              <a:t>기술 초격차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71B3E-0E3D-4035-BCD5-0FEE366007A1}"/>
              </a:ext>
            </a:extLst>
          </p:cNvPr>
          <p:cNvSpPr txBox="1"/>
          <p:nvPr/>
        </p:nvSpPr>
        <p:spPr>
          <a:xfrm>
            <a:off x="564775" y="2710214"/>
            <a:ext cx="20708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기본사회</a:t>
            </a:r>
            <a:r>
              <a:rPr lang="en-US" altLang="ko-KR" b="1">
                <a:solidFill>
                  <a:srgbClr val="0070C0"/>
                </a:solidFill>
              </a:rPr>
              <a:t>·</a:t>
            </a:r>
            <a:r>
              <a:rPr lang="ko-KR" altLang="en-US" b="1">
                <a:solidFill>
                  <a:srgbClr val="0070C0"/>
                </a:solidFill>
              </a:rPr>
              <a:t>신뢰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9067D1-6F4A-4D99-84B8-4E20D85CA42B}"/>
              </a:ext>
            </a:extLst>
          </p:cNvPr>
          <p:cNvSpPr txBox="1"/>
          <p:nvPr/>
        </p:nvSpPr>
        <p:spPr>
          <a:xfrm>
            <a:off x="591670" y="3547493"/>
            <a:ext cx="15777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0070C0"/>
                </a:solidFill>
              </a:rPr>
              <a:t>AI </a:t>
            </a:r>
            <a:r>
              <a:rPr lang="ko-KR" altLang="en-US" b="1">
                <a:solidFill>
                  <a:srgbClr val="0070C0"/>
                </a:solidFill>
              </a:rPr>
              <a:t>정부혁신</a:t>
            </a:r>
            <a:r>
              <a:rPr lang="en-US" altLang="ko-KR" b="1">
                <a:solidFill>
                  <a:srgbClr val="0070C0"/>
                </a:solidFill>
              </a:rPr>
              <a:t>:</a:t>
            </a:r>
            <a:endParaRPr lang="ko-KR" altLang="en-US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1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851007" y="132682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인공지능의 역사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88EE9D-7600-4254-A954-06FF669B7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03" y="949807"/>
            <a:ext cx="3533775" cy="51720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C989A2-8E00-48FA-9296-C9922AD20AF9}"/>
              </a:ext>
            </a:extLst>
          </p:cNvPr>
          <p:cNvSpPr txBox="1"/>
          <p:nvPr/>
        </p:nvSpPr>
        <p:spPr>
          <a:xfrm>
            <a:off x="2135161" y="985667"/>
            <a:ext cx="28873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인공지능 기술의 발전과정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5E1ADF3B-FD99-4B9D-80C3-B7D756BD3343}"/>
              </a:ext>
            </a:extLst>
          </p:cNvPr>
          <p:cNvSpPr/>
          <p:nvPr/>
        </p:nvSpPr>
        <p:spPr>
          <a:xfrm>
            <a:off x="5719666" y="2948474"/>
            <a:ext cx="348362" cy="584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63B3EA-D93B-4274-B4C8-0293159E3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916" y="985667"/>
            <a:ext cx="4523794" cy="50206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80213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331054" y="132682"/>
            <a:ext cx="4150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신경망 언어모델</a:t>
            </a:r>
            <a:r>
              <a:rPr lang="en-US" altLang="ko-KR" sz="3200" b="1">
                <a:solidFill>
                  <a:schemeClr val="bg1"/>
                </a:solidFill>
              </a:rPr>
              <a:t>(1/3)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FAD7D-706C-43C1-91B6-AC8AC856769F}"/>
              </a:ext>
            </a:extLst>
          </p:cNvPr>
          <p:cNvSpPr txBox="1"/>
          <p:nvPr/>
        </p:nvSpPr>
        <p:spPr>
          <a:xfrm>
            <a:off x="584364" y="1041724"/>
            <a:ext cx="10694896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b="1" dirty="0">
                <a:solidFill>
                  <a:srgbClr val="0070C0"/>
                </a:solidFill>
              </a:rPr>
              <a:t>신경망 언어모델 예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en-US"/>
              <a:t>단어의 의미적 유사성을 학습하여 다음 단어 예측  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 </a:t>
            </a:r>
            <a:r>
              <a:rPr lang="en-US" altLang="ko-KR" dirty="0"/>
              <a:t>'what will the fat cat'</a:t>
            </a:r>
            <a:r>
              <a:rPr lang="ko-KR" altLang="en-US" dirty="0"/>
              <a:t>이라는 단어 시퀀스가 입력으로 주어지면</a:t>
            </a:r>
            <a:r>
              <a:rPr lang="en-US" altLang="ko-KR" dirty="0"/>
              <a:t>, </a:t>
            </a:r>
            <a:r>
              <a:rPr lang="ko-KR" altLang="en-US" dirty="0"/>
              <a:t>다음 단어 </a:t>
            </a:r>
            <a:r>
              <a:rPr lang="en-US" altLang="ko-KR" dirty="0"/>
              <a:t>'sit'</a:t>
            </a:r>
            <a:r>
              <a:rPr lang="ko-KR" altLang="en-US" dirty="0"/>
              <a:t>을 예측하는 방식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B95810-FFCE-4702-B2AC-1730DC93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96" y="2289321"/>
            <a:ext cx="2647950" cy="3429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87BC67-C473-4EC8-9AF3-9DE264740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296" y="2956488"/>
            <a:ext cx="2057400" cy="16097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F5A1471-E831-4FD3-8D45-9CE2E0E6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599" y="2651688"/>
            <a:ext cx="45339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3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331054" y="132682"/>
            <a:ext cx="4150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신경망 언어모델</a:t>
            </a:r>
            <a:r>
              <a:rPr lang="en-US" altLang="ko-KR" sz="3200" b="1">
                <a:solidFill>
                  <a:schemeClr val="bg1"/>
                </a:solidFill>
              </a:rPr>
              <a:t>(2/3)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157AAF-FA62-4514-A48C-7BF52FB4B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95" y="1066103"/>
            <a:ext cx="2647950" cy="3429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48AD19A-6AF2-445E-BF84-A5532D6DE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227" y="1543118"/>
            <a:ext cx="2312966" cy="1809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19C6EFA-3346-453A-93A2-AF4B7451B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429" y="1033606"/>
            <a:ext cx="5806787" cy="26545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B85EF6D-BA3E-4C3B-B1FA-44DB5C2C8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371" y="3993099"/>
            <a:ext cx="2886075" cy="4286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F0953EB-6D92-4344-ACDC-E818DC8CC3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07" y="3761697"/>
            <a:ext cx="5495925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0A2C347-CE8C-4AC1-B30A-FA0DAC3C0A48}"/>
              </a:ext>
            </a:extLst>
          </p:cNvPr>
          <p:cNvSpPr txBox="1"/>
          <p:nvPr/>
        </p:nvSpPr>
        <p:spPr>
          <a:xfrm>
            <a:off x="3599661" y="4564544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92D050"/>
                </a:solidFill>
              </a:rPr>
              <a:t>fat</a:t>
            </a:r>
            <a:endParaRPr lang="ko-KR" altLang="en-US" sz="1400" dirty="0">
              <a:solidFill>
                <a:srgbClr val="92D050"/>
              </a:solidFill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F5F988CA-4A60-45C8-A795-8F75C2DC5203}"/>
              </a:ext>
            </a:extLst>
          </p:cNvPr>
          <p:cNvSpPr/>
          <p:nvPr/>
        </p:nvSpPr>
        <p:spPr>
          <a:xfrm>
            <a:off x="3478306" y="5334000"/>
            <a:ext cx="3003176" cy="726141"/>
          </a:xfrm>
          <a:custGeom>
            <a:avLst/>
            <a:gdLst>
              <a:gd name="connsiteX0" fmla="*/ 0 w 3003176"/>
              <a:gd name="connsiteY0" fmla="*/ 0 h 726141"/>
              <a:gd name="connsiteX1" fmla="*/ 44823 w 3003176"/>
              <a:gd name="connsiteY1" fmla="*/ 152400 h 726141"/>
              <a:gd name="connsiteX2" fmla="*/ 62753 w 3003176"/>
              <a:gd name="connsiteY2" fmla="*/ 233082 h 726141"/>
              <a:gd name="connsiteX3" fmla="*/ 80682 w 3003176"/>
              <a:gd name="connsiteY3" fmla="*/ 277906 h 726141"/>
              <a:gd name="connsiteX4" fmla="*/ 98612 w 3003176"/>
              <a:gd name="connsiteY4" fmla="*/ 304800 h 726141"/>
              <a:gd name="connsiteX5" fmla="*/ 125506 w 3003176"/>
              <a:gd name="connsiteY5" fmla="*/ 358588 h 726141"/>
              <a:gd name="connsiteX6" fmla="*/ 143435 w 3003176"/>
              <a:gd name="connsiteY6" fmla="*/ 412376 h 726141"/>
              <a:gd name="connsiteX7" fmla="*/ 170329 w 3003176"/>
              <a:gd name="connsiteY7" fmla="*/ 430306 h 726141"/>
              <a:gd name="connsiteX8" fmla="*/ 215153 w 3003176"/>
              <a:gd name="connsiteY8" fmla="*/ 502024 h 726141"/>
              <a:gd name="connsiteX9" fmla="*/ 251012 w 3003176"/>
              <a:gd name="connsiteY9" fmla="*/ 528918 h 726141"/>
              <a:gd name="connsiteX10" fmla="*/ 295835 w 3003176"/>
              <a:gd name="connsiteY10" fmla="*/ 582706 h 726141"/>
              <a:gd name="connsiteX11" fmla="*/ 322729 w 3003176"/>
              <a:gd name="connsiteY11" fmla="*/ 600635 h 726141"/>
              <a:gd name="connsiteX12" fmla="*/ 358588 w 3003176"/>
              <a:gd name="connsiteY12" fmla="*/ 618565 h 726141"/>
              <a:gd name="connsiteX13" fmla="*/ 466165 w 3003176"/>
              <a:gd name="connsiteY13" fmla="*/ 645459 h 726141"/>
              <a:gd name="connsiteX14" fmla="*/ 564776 w 3003176"/>
              <a:gd name="connsiteY14" fmla="*/ 636494 h 726141"/>
              <a:gd name="connsiteX15" fmla="*/ 636494 w 3003176"/>
              <a:gd name="connsiteY15" fmla="*/ 591671 h 726141"/>
              <a:gd name="connsiteX16" fmla="*/ 681318 w 3003176"/>
              <a:gd name="connsiteY16" fmla="*/ 573741 h 726141"/>
              <a:gd name="connsiteX17" fmla="*/ 717176 w 3003176"/>
              <a:gd name="connsiteY17" fmla="*/ 555812 h 726141"/>
              <a:gd name="connsiteX18" fmla="*/ 815788 w 3003176"/>
              <a:gd name="connsiteY18" fmla="*/ 502024 h 726141"/>
              <a:gd name="connsiteX19" fmla="*/ 914400 w 3003176"/>
              <a:gd name="connsiteY19" fmla="*/ 421341 h 726141"/>
              <a:gd name="connsiteX20" fmla="*/ 950259 w 3003176"/>
              <a:gd name="connsiteY20" fmla="*/ 403412 h 726141"/>
              <a:gd name="connsiteX21" fmla="*/ 995082 w 3003176"/>
              <a:gd name="connsiteY21" fmla="*/ 376518 h 726141"/>
              <a:gd name="connsiteX22" fmla="*/ 1057835 w 3003176"/>
              <a:gd name="connsiteY22" fmla="*/ 349624 h 726141"/>
              <a:gd name="connsiteX23" fmla="*/ 1147482 w 3003176"/>
              <a:gd name="connsiteY23" fmla="*/ 367553 h 726141"/>
              <a:gd name="connsiteX24" fmla="*/ 1183341 w 3003176"/>
              <a:gd name="connsiteY24" fmla="*/ 412376 h 726141"/>
              <a:gd name="connsiteX25" fmla="*/ 1210235 w 3003176"/>
              <a:gd name="connsiteY25" fmla="*/ 430306 h 726141"/>
              <a:gd name="connsiteX26" fmla="*/ 1272988 w 3003176"/>
              <a:gd name="connsiteY26" fmla="*/ 493059 h 726141"/>
              <a:gd name="connsiteX27" fmla="*/ 1299882 w 3003176"/>
              <a:gd name="connsiteY27" fmla="*/ 519953 h 726141"/>
              <a:gd name="connsiteX28" fmla="*/ 1335741 w 3003176"/>
              <a:gd name="connsiteY28" fmla="*/ 573741 h 726141"/>
              <a:gd name="connsiteX29" fmla="*/ 1362635 w 3003176"/>
              <a:gd name="connsiteY29" fmla="*/ 609600 h 726141"/>
              <a:gd name="connsiteX30" fmla="*/ 1407459 w 3003176"/>
              <a:gd name="connsiteY30" fmla="*/ 654424 h 726141"/>
              <a:gd name="connsiteX31" fmla="*/ 1416423 w 3003176"/>
              <a:gd name="connsiteY31" fmla="*/ 681318 h 726141"/>
              <a:gd name="connsiteX32" fmla="*/ 1443318 w 3003176"/>
              <a:gd name="connsiteY32" fmla="*/ 699247 h 726141"/>
              <a:gd name="connsiteX33" fmla="*/ 1470212 w 3003176"/>
              <a:gd name="connsiteY33" fmla="*/ 726141 h 726141"/>
              <a:gd name="connsiteX34" fmla="*/ 1541929 w 3003176"/>
              <a:gd name="connsiteY34" fmla="*/ 708212 h 726141"/>
              <a:gd name="connsiteX35" fmla="*/ 1604682 w 3003176"/>
              <a:gd name="connsiteY35" fmla="*/ 663388 h 726141"/>
              <a:gd name="connsiteX36" fmla="*/ 1631576 w 3003176"/>
              <a:gd name="connsiteY36" fmla="*/ 654424 h 726141"/>
              <a:gd name="connsiteX37" fmla="*/ 1676400 w 3003176"/>
              <a:gd name="connsiteY37" fmla="*/ 618565 h 726141"/>
              <a:gd name="connsiteX38" fmla="*/ 1703294 w 3003176"/>
              <a:gd name="connsiteY38" fmla="*/ 600635 h 726141"/>
              <a:gd name="connsiteX39" fmla="*/ 1757082 w 3003176"/>
              <a:gd name="connsiteY39" fmla="*/ 537882 h 726141"/>
              <a:gd name="connsiteX40" fmla="*/ 1783976 w 3003176"/>
              <a:gd name="connsiteY40" fmla="*/ 510988 h 726141"/>
              <a:gd name="connsiteX41" fmla="*/ 1837765 w 3003176"/>
              <a:gd name="connsiteY41" fmla="*/ 475129 h 726141"/>
              <a:gd name="connsiteX42" fmla="*/ 1918447 w 3003176"/>
              <a:gd name="connsiteY42" fmla="*/ 484094 h 726141"/>
              <a:gd name="connsiteX43" fmla="*/ 1981200 w 3003176"/>
              <a:gd name="connsiteY43" fmla="*/ 546847 h 726141"/>
              <a:gd name="connsiteX44" fmla="*/ 2008094 w 3003176"/>
              <a:gd name="connsiteY44" fmla="*/ 564776 h 726141"/>
              <a:gd name="connsiteX45" fmla="*/ 2061882 w 3003176"/>
              <a:gd name="connsiteY45" fmla="*/ 618565 h 726141"/>
              <a:gd name="connsiteX46" fmla="*/ 2079812 w 3003176"/>
              <a:gd name="connsiteY46" fmla="*/ 636494 h 726141"/>
              <a:gd name="connsiteX47" fmla="*/ 2133600 w 3003176"/>
              <a:gd name="connsiteY47" fmla="*/ 654424 h 726141"/>
              <a:gd name="connsiteX48" fmla="*/ 2169459 w 3003176"/>
              <a:gd name="connsiteY48" fmla="*/ 645459 h 726141"/>
              <a:gd name="connsiteX49" fmla="*/ 2259106 w 3003176"/>
              <a:gd name="connsiteY49" fmla="*/ 573741 h 726141"/>
              <a:gd name="connsiteX50" fmla="*/ 2303929 w 3003176"/>
              <a:gd name="connsiteY50" fmla="*/ 537882 h 726141"/>
              <a:gd name="connsiteX51" fmla="*/ 2330823 w 3003176"/>
              <a:gd name="connsiteY51" fmla="*/ 510988 h 726141"/>
              <a:gd name="connsiteX52" fmla="*/ 2366682 w 3003176"/>
              <a:gd name="connsiteY52" fmla="*/ 502024 h 726141"/>
              <a:gd name="connsiteX53" fmla="*/ 2384612 w 3003176"/>
              <a:gd name="connsiteY53" fmla="*/ 475129 h 726141"/>
              <a:gd name="connsiteX54" fmla="*/ 2411506 w 3003176"/>
              <a:gd name="connsiteY54" fmla="*/ 466165 h 726141"/>
              <a:gd name="connsiteX55" fmla="*/ 2429435 w 3003176"/>
              <a:gd name="connsiteY55" fmla="*/ 448235 h 726141"/>
              <a:gd name="connsiteX56" fmla="*/ 2510118 w 3003176"/>
              <a:gd name="connsiteY56" fmla="*/ 457200 h 726141"/>
              <a:gd name="connsiteX57" fmla="*/ 2545976 w 3003176"/>
              <a:gd name="connsiteY57" fmla="*/ 475129 h 726141"/>
              <a:gd name="connsiteX58" fmla="*/ 2572870 w 3003176"/>
              <a:gd name="connsiteY58" fmla="*/ 484094 h 726141"/>
              <a:gd name="connsiteX59" fmla="*/ 2653553 w 3003176"/>
              <a:gd name="connsiteY59" fmla="*/ 573741 h 726141"/>
              <a:gd name="connsiteX60" fmla="*/ 2680447 w 3003176"/>
              <a:gd name="connsiteY60" fmla="*/ 591671 h 726141"/>
              <a:gd name="connsiteX61" fmla="*/ 2707341 w 3003176"/>
              <a:gd name="connsiteY61" fmla="*/ 618565 h 726141"/>
              <a:gd name="connsiteX62" fmla="*/ 2761129 w 3003176"/>
              <a:gd name="connsiteY62" fmla="*/ 645459 h 726141"/>
              <a:gd name="connsiteX63" fmla="*/ 2788023 w 3003176"/>
              <a:gd name="connsiteY63" fmla="*/ 636494 h 726141"/>
              <a:gd name="connsiteX64" fmla="*/ 2805953 w 3003176"/>
              <a:gd name="connsiteY64" fmla="*/ 609600 h 726141"/>
              <a:gd name="connsiteX65" fmla="*/ 2841812 w 3003176"/>
              <a:gd name="connsiteY65" fmla="*/ 582706 h 726141"/>
              <a:gd name="connsiteX66" fmla="*/ 2931459 w 3003176"/>
              <a:gd name="connsiteY66" fmla="*/ 528918 h 726141"/>
              <a:gd name="connsiteX67" fmla="*/ 3003176 w 3003176"/>
              <a:gd name="connsiteY67" fmla="*/ 502024 h 726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003176" h="726141">
                <a:moveTo>
                  <a:pt x="0" y="0"/>
                </a:moveTo>
                <a:cubicBezTo>
                  <a:pt x="20421" y="61262"/>
                  <a:pt x="32419" y="90380"/>
                  <a:pt x="44823" y="152400"/>
                </a:cubicBezTo>
                <a:cubicBezTo>
                  <a:pt x="48377" y="170168"/>
                  <a:pt x="56422" y="214088"/>
                  <a:pt x="62753" y="233082"/>
                </a:cubicBezTo>
                <a:cubicBezTo>
                  <a:pt x="67842" y="248348"/>
                  <a:pt x="73485" y="263513"/>
                  <a:pt x="80682" y="277906"/>
                </a:cubicBezTo>
                <a:cubicBezTo>
                  <a:pt x="85500" y="287543"/>
                  <a:pt x="93379" y="295382"/>
                  <a:pt x="98612" y="304800"/>
                </a:cubicBezTo>
                <a:cubicBezTo>
                  <a:pt x="108347" y="322323"/>
                  <a:pt x="117796" y="340084"/>
                  <a:pt x="125506" y="358588"/>
                </a:cubicBezTo>
                <a:cubicBezTo>
                  <a:pt x="132775" y="376033"/>
                  <a:pt x="127710" y="401892"/>
                  <a:pt x="143435" y="412376"/>
                </a:cubicBezTo>
                <a:cubicBezTo>
                  <a:pt x="152400" y="418353"/>
                  <a:pt x="162710" y="422687"/>
                  <a:pt x="170329" y="430306"/>
                </a:cubicBezTo>
                <a:cubicBezTo>
                  <a:pt x="273010" y="532988"/>
                  <a:pt x="129927" y="402595"/>
                  <a:pt x="215153" y="502024"/>
                </a:cubicBezTo>
                <a:cubicBezTo>
                  <a:pt x="224877" y="513368"/>
                  <a:pt x="239059" y="519953"/>
                  <a:pt x="251012" y="528918"/>
                </a:cubicBezTo>
                <a:cubicBezTo>
                  <a:pt x="268641" y="555362"/>
                  <a:pt x="269951" y="561136"/>
                  <a:pt x="295835" y="582706"/>
                </a:cubicBezTo>
                <a:cubicBezTo>
                  <a:pt x="304112" y="589603"/>
                  <a:pt x="313374" y="595290"/>
                  <a:pt x="322729" y="600635"/>
                </a:cubicBezTo>
                <a:cubicBezTo>
                  <a:pt x="334332" y="607265"/>
                  <a:pt x="346305" y="613301"/>
                  <a:pt x="358588" y="618565"/>
                </a:cubicBezTo>
                <a:cubicBezTo>
                  <a:pt x="387136" y="630800"/>
                  <a:pt x="447637" y="641342"/>
                  <a:pt x="466165" y="645459"/>
                </a:cubicBezTo>
                <a:cubicBezTo>
                  <a:pt x="499035" y="642471"/>
                  <a:pt x="532335" y="642577"/>
                  <a:pt x="564776" y="636494"/>
                </a:cubicBezTo>
                <a:cubicBezTo>
                  <a:pt x="635523" y="623229"/>
                  <a:pt x="587072" y="622560"/>
                  <a:pt x="636494" y="591671"/>
                </a:cubicBezTo>
                <a:cubicBezTo>
                  <a:pt x="650140" y="583142"/>
                  <a:pt x="666613" y="580277"/>
                  <a:pt x="681318" y="573741"/>
                </a:cubicBezTo>
                <a:cubicBezTo>
                  <a:pt x="693530" y="568314"/>
                  <a:pt x="705717" y="562687"/>
                  <a:pt x="717176" y="555812"/>
                </a:cubicBezTo>
                <a:cubicBezTo>
                  <a:pt x="806746" y="502070"/>
                  <a:pt x="734236" y="534644"/>
                  <a:pt x="815788" y="502024"/>
                </a:cubicBezTo>
                <a:cubicBezTo>
                  <a:pt x="846447" y="471363"/>
                  <a:pt x="873467" y="441807"/>
                  <a:pt x="914400" y="421341"/>
                </a:cubicBezTo>
                <a:lnTo>
                  <a:pt x="950259" y="403412"/>
                </a:lnTo>
                <a:cubicBezTo>
                  <a:pt x="995686" y="357983"/>
                  <a:pt x="936897" y="411428"/>
                  <a:pt x="995082" y="376518"/>
                </a:cubicBezTo>
                <a:cubicBezTo>
                  <a:pt x="1052490" y="342073"/>
                  <a:pt x="952979" y="370594"/>
                  <a:pt x="1057835" y="349624"/>
                </a:cubicBezTo>
                <a:cubicBezTo>
                  <a:pt x="1087717" y="355600"/>
                  <a:pt x="1118572" y="357916"/>
                  <a:pt x="1147482" y="367553"/>
                </a:cubicBezTo>
                <a:cubicBezTo>
                  <a:pt x="1160792" y="371989"/>
                  <a:pt x="1176325" y="405360"/>
                  <a:pt x="1183341" y="412376"/>
                </a:cubicBezTo>
                <a:cubicBezTo>
                  <a:pt x="1190960" y="419995"/>
                  <a:pt x="1202227" y="423098"/>
                  <a:pt x="1210235" y="430306"/>
                </a:cubicBezTo>
                <a:cubicBezTo>
                  <a:pt x="1232223" y="450095"/>
                  <a:pt x="1252070" y="472141"/>
                  <a:pt x="1272988" y="493059"/>
                </a:cubicBezTo>
                <a:lnTo>
                  <a:pt x="1299882" y="519953"/>
                </a:lnTo>
                <a:cubicBezTo>
                  <a:pt x="1315132" y="565700"/>
                  <a:pt x="1299112" y="531007"/>
                  <a:pt x="1335741" y="573741"/>
                </a:cubicBezTo>
                <a:cubicBezTo>
                  <a:pt x="1345465" y="585085"/>
                  <a:pt x="1352709" y="598433"/>
                  <a:pt x="1362635" y="609600"/>
                </a:cubicBezTo>
                <a:cubicBezTo>
                  <a:pt x="1376673" y="625393"/>
                  <a:pt x="1407459" y="654424"/>
                  <a:pt x="1407459" y="654424"/>
                </a:cubicBezTo>
                <a:cubicBezTo>
                  <a:pt x="1410447" y="663389"/>
                  <a:pt x="1410520" y="673939"/>
                  <a:pt x="1416423" y="681318"/>
                </a:cubicBezTo>
                <a:cubicBezTo>
                  <a:pt x="1423154" y="689731"/>
                  <a:pt x="1435041" y="692350"/>
                  <a:pt x="1443318" y="699247"/>
                </a:cubicBezTo>
                <a:cubicBezTo>
                  <a:pt x="1453058" y="707363"/>
                  <a:pt x="1461247" y="717176"/>
                  <a:pt x="1470212" y="726141"/>
                </a:cubicBezTo>
                <a:cubicBezTo>
                  <a:pt x="1494118" y="720165"/>
                  <a:pt x="1518771" y="716633"/>
                  <a:pt x="1541929" y="708212"/>
                </a:cubicBezTo>
                <a:cubicBezTo>
                  <a:pt x="1551463" y="704745"/>
                  <a:pt x="1601517" y="665197"/>
                  <a:pt x="1604682" y="663388"/>
                </a:cubicBezTo>
                <a:cubicBezTo>
                  <a:pt x="1612887" y="658700"/>
                  <a:pt x="1622611" y="657412"/>
                  <a:pt x="1631576" y="654424"/>
                </a:cubicBezTo>
                <a:cubicBezTo>
                  <a:pt x="1714353" y="599237"/>
                  <a:pt x="1612529" y="669661"/>
                  <a:pt x="1676400" y="618565"/>
                </a:cubicBezTo>
                <a:cubicBezTo>
                  <a:pt x="1684813" y="611834"/>
                  <a:pt x="1694329" y="606612"/>
                  <a:pt x="1703294" y="600635"/>
                </a:cubicBezTo>
                <a:cubicBezTo>
                  <a:pt x="1730600" y="559676"/>
                  <a:pt x="1713605" y="581359"/>
                  <a:pt x="1757082" y="537882"/>
                </a:cubicBezTo>
                <a:cubicBezTo>
                  <a:pt x="1766047" y="528917"/>
                  <a:pt x="1773427" y="518020"/>
                  <a:pt x="1783976" y="510988"/>
                </a:cubicBezTo>
                <a:lnTo>
                  <a:pt x="1837765" y="475129"/>
                </a:lnTo>
                <a:cubicBezTo>
                  <a:pt x="1864659" y="478117"/>
                  <a:pt x="1892584" y="476136"/>
                  <a:pt x="1918447" y="484094"/>
                </a:cubicBezTo>
                <a:cubicBezTo>
                  <a:pt x="1952979" y="494719"/>
                  <a:pt x="1958621" y="524268"/>
                  <a:pt x="1981200" y="546847"/>
                </a:cubicBezTo>
                <a:cubicBezTo>
                  <a:pt x="1988818" y="554465"/>
                  <a:pt x="2000041" y="557618"/>
                  <a:pt x="2008094" y="564776"/>
                </a:cubicBezTo>
                <a:cubicBezTo>
                  <a:pt x="2027045" y="581622"/>
                  <a:pt x="2043952" y="600635"/>
                  <a:pt x="2061882" y="618565"/>
                </a:cubicBezTo>
                <a:cubicBezTo>
                  <a:pt x="2067859" y="624542"/>
                  <a:pt x="2071794" y="633821"/>
                  <a:pt x="2079812" y="636494"/>
                </a:cubicBezTo>
                <a:lnTo>
                  <a:pt x="2133600" y="654424"/>
                </a:lnTo>
                <a:cubicBezTo>
                  <a:pt x="2145553" y="651436"/>
                  <a:pt x="2158816" y="651667"/>
                  <a:pt x="2169459" y="645459"/>
                </a:cubicBezTo>
                <a:cubicBezTo>
                  <a:pt x="2272209" y="585521"/>
                  <a:pt x="2213181" y="613106"/>
                  <a:pt x="2259106" y="573741"/>
                </a:cubicBezTo>
                <a:cubicBezTo>
                  <a:pt x="2273633" y="561289"/>
                  <a:pt x="2289529" y="550482"/>
                  <a:pt x="2303929" y="537882"/>
                </a:cubicBezTo>
                <a:cubicBezTo>
                  <a:pt x="2313470" y="529533"/>
                  <a:pt x="2319815" y="517278"/>
                  <a:pt x="2330823" y="510988"/>
                </a:cubicBezTo>
                <a:cubicBezTo>
                  <a:pt x="2341521" y="504875"/>
                  <a:pt x="2354729" y="505012"/>
                  <a:pt x="2366682" y="502024"/>
                </a:cubicBezTo>
                <a:cubicBezTo>
                  <a:pt x="2372659" y="493059"/>
                  <a:pt x="2376198" y="481860"/>
                  <a:pt x="2384612" y="475129"/>
                </a:cubicBezTo>
                <a:cubicBezTo>
                  <a:pt x="2391991" y="469226"/>
                  <a:pt x="2403403" y="471027"/>
                  <a:pt x="2411506" y="466165"/>
                </a:cubicBezTo>
                <a:cubicBezTo>
                  <a:pt x="2418754" y="461816"/>
                  <a:pt x="2423459" y="454212"/>
                  <a:pt x="2429435" y="448235"/>
                </a:cubicBezTo>
                <a:cubicBezTo>
                  <a:pt x="2456329" y="451223"/>
                  <a:pt x="2483751" y="451115"/>
                  <a:pt x="2510118" y="457200"/>
                </a:cubicBezTo>
                <a:cubicBezTo>
                  <a:pt x="2523139" y="460205"/>
                  <a:pt x="2533693" y="469865"/>
                  <a:pt x="2545976" y="475129"/>
                </a:cubicBezTo>
                <a:cubicBezTo>
                  <a:pt x="2554662" y="478851"/>
                  <a:pt x="2563905" y="481106"/>
                  <a:pt x="2572870" y="484094"/>
                </a:cubicBezTo>
                <a:cubicBezTo>
                  <a:pt x="2596018" y="514957"/>
                  <a:pt x="2621377" y="552290"/>
                  <a:pt x="2653553" y="573741"/>
                </a:cubicBezTo>
                <a:cubicBezTo>
                  <a:pt x="2662518" y="579718"/>
                  <a:pt x="2672170" y="584773"/>
                  <a:pt x="2680447" y="591671"/>
                </a:cubicBezTo>
                <a:cubicBezTo>
                  <a:pt x="2690186" y="599787"/>
                  <a:pt x="2697601" y="610449"/>
                  <a:pt x="2707341" y="618565"/>
                </a:cubicBezTo>
                <a:cubicBezTo>
                  <a:pt x="2730511" y="637873"/>
                  <a:pt x="2734176" y="636474"/>
                  <a:pt x="2761129" y="645459"/>
                </a:cubicBezTo>
                <a:cubicBezTo>
                  <a:pt x="2770094" y="642471"/>
                  <a:pt x="2780644" y="642397"/>
                  <a:pt x="2788023" y="636494"/>
                </a:cubicBezTo>
                <a:cubicBezTo>
                  <a:pt x="2796436" y="629763"/>
                  <a:pt x="2798334" y="617219"/>
                  <a:pt x="2805953" y="609600"/>
                </a:cubicBezTo>
                <a:cubicBezTo>
                  <a:pt x="2816518" y="599035"/>
                  <a:pt x="2829572" y="591274"/>
                  <a:pt x="2841812" y="582706"/>
                </a:cubicBezTo>
                <a:cubicBezTo>
                  <a:pt x="2869880" y="563058"/>
                  <a:pt x="2899173" y="541832"/>
                  <a:pt x="2931459" y="528918"/>
                </a:cubicBezTo>
                <a:cubicBezTo>
                  <a:pt x="3031676" y="488831"/>
                  <a:pt x="2954169" y="526526"/>
                  <a:pt x="3003176" y="502024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7593E8-EE38-458F-874F-C53921F4BA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0371" y="4564544"/>
            <a:ext cx="4429966" cy="1743789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70113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331054" y="132682"/>
            <a:ext cx="4150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신경망 언어모델</a:t>
            </a:r>
            <a:r>
              <a:rPr lang="en-US" altLang="ko-KR" sz="3200" b="1">
                <a:solidFill>
                  <a:schemeClr val="bg1"/>
                </a:solidFill>
              </a:rPr>
              <a:t>(3/3)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157AAF-FA62-4514-A48C-7BF52FB4B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89" y="877844"/>
            <a:ext cx="2647950" cy="3429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48AD19A-6AF2-445E-BF84-A5532D6DE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321" y="1354859"/>
            <a:ext cx="2312966" cy="1809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19C6EFA-3346-453A-93A2-AF4B7451B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523" y="845347"/>
            <a:ext cx="5806787" cy="26545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330F9A-4D73-4DDB-ABA3-A1DCE6F344F4}"/>
              </a:ext>
            </a:extLst>
          </p:cNvPr>
          <p:cNvSpPr txBox="1"/>
          <p:nvPr/>
        </p:nvSpPr>
        <p:spPr>
          <a:xfrm>
            <a:off x="1047983" y="3935507"/>
            <a:ext cx="10597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FF0000"/>
                </a:solidFill>
              </a:rPr>
              <a:t>언어모델</a:t>
            </a:r>
            <a:r>
              <a:rPr lang="ko-KR" altLang="en-US" b="1"/>
              <a:t> </a:t>
            </a:r>
            <a:r>
              <a:rPr lang="en-US" altLang="ko-KR" b="1"/>
              <a:t>= </a:t>
            </a:r>
            <a:r>
              <a:rPr lang="ko-KR" altLang="en-US" b="1"/>
              <a:t>워드임베딩벡터 행렬  </a:t>
            </a:r>
            <a:r>
              <a:rPr lang="en-US" altLang="ko-KR" b="1"/>
              <a:t>+ </a:t>
            </a:r>
            <a:r>
              <a:rPr lang="ko-KR" altLang="en-US" b="1">
                <a:solidFill>
                  <a:srgbClr val="00B0F0"/>
                </a:solidFill>
              </a:rPr>
              <a:t>은닉층 가중치 행렬 </a:t>
            </a:r>
            <a:r>
              <a:rPr lang="en-US" altLang="ko-KR" b="1"/>
              <a:t>+ </a:t>
            </a:r>
            <a:r>
              <a:rPr lang="ko-KR" altLang="en-US" b="1">
                <a:solidFill>
                  <a:srgbClr val="00B050"/>
                </a:solidFill>
              </a:rPr>
              <a:t>출력층 가중치 행렬 </a:t>
            </a:r>
            <a:r>
              <a:rPr lang="en-US" altLang="ko-KR" b="1"/>
              <a:t>+ softmax </a:t>
            </a:r>
            <a:r>
              <a:rPr lang="ko-KR" altLang="en-US" b="1"/>
              <a:t>함수</a:t>
            </a:r>
            <a:r>
              <a:rPr lang="en-US" altLang="ko-KR" b="1"/>
              <a:t>()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402361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1787848" y="90637"/>
            <a:ext cx="885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신경망</a:t>
            </a:r>
            <a:r>
              <a:rPr lang="en-US" altLang="ko-KR" sz="3200" b="1">
                <a:solidFill>
                  <a:schemeClr val="bg1"/>
                </a:solidFill>
              </a:rPr>
              <a:t> </a:t>
            </a:r>
            <a:r>
              <a:rPr lang="ko-KR" altLang="en-US" sz="3200" b="1">
                <a:solidFill>
                  <a:schemeClr val="bg1"/>
                </a:solidFill>
              </a:rPr>
              <a:t>언어모델 </a:t>
            </a:r>
            <a:r>
              <a:rPr lang="en-US" altLang="ko-KR" sz="3200" b="1">
                <a:solidFill>
                  <a:schemeClr val="bg1"/>
                </a:solidFill>
              </a:rPr>
              <a:t>vs Transfomer </a:t>
            </a:r>
            <a:r>
              <a:rPr lang="ko-KR" altLang="en-US" sz="3200" b="1">
                <a:solidFill>
                  <a:schemeClr val="bg1"/>
                </a:solidFill>
              </a:rPr>
              <a:t>언어모델 비교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9EBF9C-E585-4381-91BF-8FAD2E667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934" y="1149724"/>
            <a:ext cx="8567738" cy="39798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831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3549055" y="111662"/>
            <a:ext cx="473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err="1">
                <a:solidFill>
                  <a:schemeClr val="bg1"/>
                </a:solidFill>
              </a:rPr>
              <a:t>워드임베딩과</a:t>
            </a:r>
            <a:r>
              <a:rPr lang="ko-KR" altLang="en-US" sz="2800" b="1">
                <a:solidFill>
                  <a:schemeClr val="bg1"/>
                </a:solidFill>
              </a:rPr>
              <a:t> 언어모델</a:t>
            </a:r>
            <a:r>
              <a:rPr lang="en-US" altLang="ko-KR" sz="2800" b="1">
                <a:solidFill>
                  <a:schemeClr val="bg1"/>
                </a:solidFill>
              </a:rPr>
              <a:t>(</a:t>
            </a:r>
            <a:r>
              <a:rPr lang="en-US" altLang="ko-KR" sz="2800" b="1" dirty="0">
                <a:solidFill>
                  <a:schemeClr val="bg1"/>
                </a:solidFill>
              </a:rPr>
              <a:t>1/2)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23F55B-71F0-456E-8634-755D90C7D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084" y="1170084"/>
            <a:ext cx="7217150" cy="26244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F632AB-5CCE-419B-86EB-9429F817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001" y="4011705"/>
            <a:ext cx="6896566" cy="110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80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3324938" y="102698"/>
            <a:ext cx="473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err="1">
                <a:solidFill>
                  <a:schemeClr val="bg1"/>
                </a:solidFill>
              </a:rPr>
              <a:t>워드임베딩과</a:t>
            </a:r>
            <a:r>
              <a:rPr lang="ko-KR" altLang="en-US" sz="2800" b="1">
                <a:solidFill>
                  <a:schemeClr val="bg1"/>
                </a:solidFill>
              </a:rPr>
              <a:t> 언어모델</a:t>
            </a:r>
            <a:r>
              <a:rPr lang="en-US" altLang="ko-KR" sz="2800" b="1">
                <a:solidFill>
                  <a:schemeClr val="bg1"/>
                </a:solidFill>
              </a:rPr>
              <a:t>(</a:t>
            </a:r>
            <a:r>
              <a:rPr lang="en-US" altLang="ko-KR" sz="2800" b="1" dirty="0">
                <a:solidFill>
                  <a:schemeClr val="bg1"/>
                </a:solidFill>
              </a:rPr>
              <a:t>2/2)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C45B33-B4A2-4D71-8E4F-DDAC010F6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99" y="1223962"/>
            <a:ext cx="4895850" cy="41052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95441E-DE65-48C2-AC66-87B26F863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126" y="1053633"/>
            <a:ext cx="581977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6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851007" y="132682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인공지능</a:t>
            </a:r>
            <a:r>
              <a:rPr lang="en-US" altLang="ko-KR" sz="3200" b="1">
                <a:solidFill>
                  <a:schemeClr val="bg1"/>
                </a:solidFill>
              </a:rPr>
              <a:t> </a:t>
            </a:r>
            <a:r>
              <a:rPr lang="ko-KR" altLang="en-US" sz="3200" b="1">
                <a:solidFill>
                  <a:schemeClr val="bg1"/>
                </a:solidFill>
              </a:rPr>
              <a:t>플랫폼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0FE9A6-43F1-4827-9D17-48AB21E1B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701" y="1100279"/>
            <a:ext cx="3035317" cy="5139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2E3D1-B9CB-48FE-B7A5-0CF1EA52BF64}"/>
              </a:ext>
            </a:extLst>
          </p:cNvPr>
          <p:cNvSpPr txBox="1"/>
          <p:nvPr/>
        </p:nvSpPr>
        <p:spPr>
          <a:xfrm>
            <a:off x="4189240" y="1157182"/>
            <a:ext cx="349623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0070C0"/>
                </a:solidFill>
              </a:rPr>
              <a:t>생성형</a:t>
            </a:r>
            <a:r>
              <a:rPr lang="en-US" altLang="ko-KR" sz="2000" b="1">
                <a:solidFill>
                  <a:srgbClr val="0070C0"/>
                </a:solidFill>
              </a:rPr>
              <a:t>AI</a:t>
            </a:r>
            <a:r>
              <a:rPr lang="en-US" altLang="ko-KR" sz="2000" b="1">
                <a:solidFill>
                  <a:srgbClr val="00B050"/>
                </a:solidFill>
              </a:rPr>
              <a:t>&lt;-&gt;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en-US" altLang="ko-KR" sz="2000" b="1">
                <a:solidFill>
                  <a:srgbClr val="C00000"/>
                </a:solidFill>
              </a:rPr>
              <a:t>AI</a:t>
            </a:r>
            <a:r>
              <a:rPr lang="ko-KR" altLang="en-US" sz="2000" b="1">
                <a:solidFill>
                  <a:srgbClr val="C00000"/>
                </a:solidFill>
              </a:rPr>
              <a:t>플랫폼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D59B99-3ED6-47D0-A05E-E979EA6F7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294" y="1614195"/>
            <a:ext cx="7863412" cy="30488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EF5D3-2B07-4FD6-993C-F98EA43681B6}"/>
              </a:ext>
            </a:extLst>
          </p:cNvPr>
          <p:cNvSpPr txBox="1"/>
          <p:nvPr/>
        </p:nvSpPr>
        <p:spPr>
          <a:xfrm>
            <a:off x="7257795" y="3244334"/>
            <a:ext cx="4695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50"/>
                </a:solidFill>
              </a:rPr>
              <a:t>https://platform.openai.com/docs/overview</a:t>
            </a:r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58446-7E00-4BC3-BDA7-FC9DF2989F8F}"/>
              </a:ext>
            </a:extLst>
          </p:cNvPr>
          <p:cNvSpPr txBox="1"/>
          <p:nvPr/>
        </p:nvSpPr>
        <p:spPr>
          <a:xfrm>
            <a:off x="7046259" y="1671098"/>
            <a:ext cx="2340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7030A0"/>
                </a:solidFill>
              </a:rPr>
              <a:t>https://chatgpt.com/</a:t>
            </a:r>
            <a:endParaRPr lang="ko-KR" alt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13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045325" y="152400"/>
            <a:ext cx="6248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국내 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 보유 현황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451E53-6275-472F-BEBB-2DA9BD28C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858" y="1143583"/>
            <a:ext cx="8704032" cy="45708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BC1779-DD31-44B1-BA3A-92485A57EC49}"/>
              </a:ext>
            </a:extLst>
          </p:cNvPr>
          <p:cNvSpPr txBox="1"/>
          <p:nvPr/>
        </p:nvSpPr>
        <p:spPr>
          <a:xfrm>
            <a:off x="2007512" y="1143583"/>
            <a:ext cx="77709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rgbClr val="0070C0"/>
                </a:solidFill>
              </a:rPr>
              <a:t>기관                                  플랫폼                                             구축목표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CEEDCA-EFC7-4624-88B2-33814E852AE5}"/>
              </a:ext>
            </a:extLst>
          </p:cNvPr>
          <p:cNvCxnSpPr/>
          <p:nvPr/>
        </p:nvCxnSpPr>
        <p:spPr>
          <a:xfrm>
            <a:off x="2007512" y="1432698"/>
            <a:ext cx="86573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9116AB5-0F9A-4192-A26C-D3D119BDD105}"/>
              </a:ext>
            </a:extLst>
          </p:cNvPr>
          <p:cNvCxnSpPr/>
          <p:nvPr/>
        </p:nvCxnSpPr>
        <p:spPr>
          <a:xfrm>
            <a:off x="1960858" y="2725271"/>
            <a:ext cx="8704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773ADAB-0A41-4884-8ABA-FB2193887D9B}"/>
              </a:ext>
            </a:extLst>
          </p:cNvPr>
          <p:cNvCxnSpPr/>
          <p:nvPr/>
        </p:nvCxnSpPr>
        <p:spPr>
          <a:xfrm>
            <a:off x="1960858" y="3783106"/>
            <a:ext cx="8704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DF85668-884B-47A8-8B1F-2DB328685016}"/>
              </a:ext>
            </a:extLst>
          </p:cNvPr>
          <p:cNvCxnSpPr/>
          <p:nvPr/>
        </p:nvCxnSpPr>
        <p:spPr>
          <a:xfrm>
            <a:off x="1960858" y="4796117"/>
            <a:ext cx="8704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373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2246228" y="126401"/>
            <a:ext cx="769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  <a:ea typeface="나눔고딕" panose="020D0604000000000000" pitchFamily="50" charset="-127"/>
              </a:rPr>
              <a:t>국내 </a:t>
            </a:r>
            <a:r>
              <a:rPr lang="en-US" altLang="ko-KR" sz="3200" b="1">
                <a:solidFill>
                  <a:schemeClr val="bg1"/>
                </a:solidFill>
                <a:ea typeface="나눔고딕" panose="020D0604000000000000" pitchFamily="50" charset="-127"/>
              </a:rPr>
              <a:t>AI </a:t>
            </a:r>
            <a:r>
              <a:rPr lang="ko-KR" altLang="en-US" sz="3200" b="1">
                <a:solidFill>
                  <a:schemeClr val="bg1"/>
                </a:solidFill>
                <a:ea typeface="나눔고딕" panose="020D0604000000000000" pitchFamily="50" charset="-127"/>
              </a:rPr>
              <a:t>모델과 해외 빅테크 </a:t>
            </a:r>
            <a:r>
              <a:rPr lang="en-US" altLang="ko-KR" sz="3200" b="1">
                <a:solidFill>
                  <a:schemeClr val="bg1"/>
                </a:solidFill>
                <a:ea typeface="나눔고딕" panose="020D0604000000000000" pitchFamily="50" charset="-127"/>
              </a:rPr>
              <a:t>AI </a:t>
            </a:r>
            <a:r>
              <a:rPr lang="ko-KR" altLang="en-US" sz="3200" b="1">
                <a:solidFill>
                  <a:schemeClr val="bg1"/>
                </a:solidFill>
                <a:ea typeface="나눔고딕" panose="020D0604000000000000" pitchFamily="50" charset="-127"/>
              </a:rPr>
              <a:t>모델의 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6F9A89-C512-47EE-BAA1-E310F9C0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974" y="983817"/>
            <a:ext cx="6438122" cy="52302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E88223-E532-4794-A0BD-8E09A06082A7}"/>
              </a:ext>
            </a:extLst>
          </p:cNvPr>
          <p:cNvSpPr txBox="1"/>
          <p:nvPr/>
        </p:nvSpPr>
        <p:spPr>
          <a:xfrm>
            <a:off x="3045325" y="1001747"/>
            <a:ext cx="589605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/>
              <a:t>HyperCLOVA X vs.</a:t>
            </a:r>
            <a:r>
              <a:rPr lang="ko-KR" altLang="en-US" b="1"/>
              <a:t> </a:t>
            </a:r>
            <a:r>
              <a:rPr lang="en-US" altLang="ko-KR" b="1"/>
              <a:t>GPT-5.1 vs.</a:t>
            </a:r>
            <a:r>
              <a:rPr lang="ko-KR" altLang="en-US" b="1"/>
              <a:t> </a:t>
            </a:r>
            <a:r>
              <a:rPr lang="en-US" altLang="ko-KR" b="1"/>
              <a:t>Gemini3.0  </a:t>
            </a:r>
            <a:r>
              <a:rPr lang="ko-KR" altLang="en-US" b="1"/>
              <a:t>비교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796BFC-09E2-4206-88C3-06287FFB1884}"/>
              </a:ext>
            </a:extLst>
          </p:cNvPr>
          <p:cNvSpPr txBox="1"/>
          <p:nvPr/>
        </p:nvSpPr>
        <p:spPr>
          <a:xfrm>
            <a:off x="2958353" y="1331757"/>
            <a:ext cx="6292107" cy="26161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b="1"/>
              <a:t>항목                        </a:t>
            </a:r>
            <a:r>
              <a:rPr lang="ko-KR" altLang="en-US" sz="1100" b="1">
                <a:solidFill>
                  <a:srgbClr val="0070C0"/>
                </a:solidFill>
              </a:rPr>
              <a:t>네이버 하이퍼클로바</a:t>
            </a:r>
            <a:r>
              <a:rPr lang="en-US" altLang="ko-KR" sz="1100" b="1">
                <a:solidFill>
                  <a:srgbClr val="0070C0"/>
                </a:solidFill>
              </a:rPr>
              <a:t>X       </a:t>
            </a:r>
            <a:r>
              <a:rPr lang="en-US" altLang="ko-KR" sz="1100" b="1">
                <a:solidFill>
                  <a:srgbClr val="C00000"/>
                </a:solidFill>
              </a:rPr>
              <a:t>GPT5.1(OpenAI)               </a:t>
            </a:r>
            <a:r>
              <a:rPr lang="en-US" altLang="ko-KR" sz="1100" b="1">
                <a:solidFill>
                  <a:srgbClr val="00B050"/>
                </a:solidFill>
              </a:rPr>
              <a:t>Gemini3.0(</a:t>
            </a:r>
            <a:r>
              <a:rPr lang="ko-KR" altLang="en-US" sz="1100" b="1">
                <a:solidFill>
                  <a:srgbClr val="00B050"/>
                </a:solidFill>
              </a:rPr>
              <a:t>구글</a:t>
            </a:r>
            <a:r>
              <a:rPr lang="en-US" altLang="ko-KR" sz="1100" b="1">
                <a:solidFill>
                  <a:srgbClr val="00B050"/>
                </a:solidFill>
              </a:rPr>
              <a:t>)</a:t>
            </a:r>
            <a:endParaRPr lang="ko-KR" altLang="en-US" sz="1100" b="1">
              <a:solidFill>
                <a:srgbClr val="00B05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1AFA68-358D-4753-80EA-C5B5095DEC8A}"/>
              </a:ext>
            </a:extLst>
          </p:cNvPr>
          <p:cNvSpPr/>
          <p:nvPr/>
        </p:nvSpPr>
        <p:spPr>
          <a:xfrm>
            <a:off x="2958353" y="1647157"/>
            <a:ext cx="1452282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17C4C7-7162-4698-B945-672DF44A6A6B}"/>
              </a:ext>
            </a:extLst>
          </p:cNvPr>
          <p:cNvSpPr/>
          <p:nvPr/>
        </p:nvSpPr>
        <p:spPr>
          <a:xfrm>
            <a:off x="4541070" y="1638192"/>
            <a:ext cx="1452282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7B9123-58C7-466E-9EA3-8E196B077870}"/>
              </a:ext>
            </a:extLst>
          </p:cNvPr>
          <p:cNvSpPr/>
          <p:nvPr/>
        </p:nvSpPr>
        <p:spPr>
          <a:xfrm>
            <a:off x="6083731" y="1634486"/>
            <a:ext cx="1452282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1650D8-9C89-403D-888C-39AB98C76C98}"/>
              </a:ext>
            </a:extLst>
          </p:cNvPr>
          <p:cNvSpPr/>
          <p:nvPr/>
        </p:nvSpPr>
        <p:spPr>
          <a:xfrm>
            <a:off x="7669643" y="1616548"/>
            <a:ext cx="1539466" cy="45384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A2A9602-7501-42BF-B5FF-F0345BDB2F25}"/>
              </a:ext>
            </a:extLst>
          </p:cNvPr>
          <p:cNvCxnSpPr>
            <a:cxnSpLocks/>
          </p:cNvCxnSpPr>
          <p:nvPr/>
        </p:nvCxnSpPr>
        <p:spPr>
          <a:xfrm>
            <a:off x="2958353" y="1927412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C94E17B-34C6-4363-AB18-64C49099920D}"/>
              </a:ext>
            </a:extLst>
          </p:cNvPr>
          <p:cNvCxnSpPr>
            <a:cxnSpLocks/>
          </p:cNvCxnSpPr>
          <p:nvPr/>
        </p:nvCxnSpPr>
        <p:spPr>
          <a:xfrm>
            <a:off x="2958353" y="2339789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0A59DD4-1472-4E6D-837F-F4212789E886}"/>
              </a:ext>
            </a:extLst>
          </p:cNvPr>
          <p:cNvCxnSpPr>
            <a:cxnSpLocks/>
          </p:cNvCxnSpPr>
          <p:nvPr/>
        </p:nvCxnSpPr>
        <p:spPr>
          <a:xfrm>
            <a:off x="2934762" y="2788024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D97224F-EEEF-4C2E-AF98-8407BE27EBEA}"/>
              </a:ext>
            </a:extLst>
          </p:cNvPr>
          <p:cNvCxnSpPr>
            <a:cxnSpLocks/>
          </p:cNvCxnSpPr>
          <p:nvPr/>
        </p:nvCxnSpPr>
        <p:spPr>
          <a:xfrm>
            <a:off x="2958353" y="3272118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93F46D7-8535-4BDA-972F-3ED540A33BE1}"/>
              </a:ext>
            </a:extLst>
          </p:cNvPr>
          <p:cNvCxnSpPr>
            <a:cxnSpLocks/>
          </p:cNvCxnSpPr>
          <p:nvPr/>
        </p:nvCxnSpPr>
        <p:spPr>
          <a:xfrm>
            <a:off x="2934762" y="3774142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1AEF868-B236-436D-9F51-BB6877F2E9DB}"/>
              </a:ext>
            </a:extLst>
          </p:cNvPr>
          <p:cNvCxnSpPr>
            <a:cxnSpLocks/>
          </p:cNvCxnSpPr>
          <p:nvPr/>
        </p:nvCxnSpPr>
        <p:spPr>
          <a:xfrm>
            <a:off x="2958353" y="4105836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8062F1D-88BD-4E9B-903A-72121C932FEF}"/>
              </a:ext>
            </a:extLst>
          </p:cNvPr>
          <p:cNvCxnSpPr>
            <a:cxnSpLocks/>
          </p:cNvCxnSpPr>
          <p:nvPr/>
        </p:nvCxnSpPr>
        <p:spPr>
          <a:xfrm>
            <a:off x="2970622" y="4554071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94A7B1-2A23-45F7-8F9D-B7855BCC7690}"/>
              </a:ext>
            </a:extLst>
          </p:cNvPr>
          <p:cNvCxnSpPr>
            <a:cxnSpLocks/>
          </p:cNvCxnSpPr>
          <p:nvPr/>
        </p:nvCxnSpPr>
        <p:spPr>
          <a:xfrm>
            <a:off x="2970622" y="4957483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01D7E4F-56C9-4364-AB9E-800A43DD49B5}"/>
              </a:ext>
            </a:extLst>
          </p:cNvPr>
          <p:cNvCxnSpPr>
            <a:cxnSpLocks/>
          </p:cNvCxnSpPr>
          <p:nvPr/>
        </p:nvCxnSpPr>
        <p:spPr>
          <a:xfrm>
            <a:off x="2934762" y="5441577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A7B1892-EEB0-432F-80C5-BFD74DDB32C5}"/>
              </a:ext>
            </a:extLst>
          </p:cNvPr>
          <p:cNvCxnSpPr>
            <a:cxnSpLocks/>
          </p:cNvCxnSpPr>
          <p:nvPr/>
        </p:nvCxnSpPr>
        <p:spPr>
          <a:xfrm>
            <a:off x="2970622" y="5809130"/>
            <a:ext cx="62507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477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155577" y="98612"/>
            <a:ext cx="6906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국가 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</a:t>
            </a:r>
            <a:r>
              <a:rPr lang="en-US" altLang="ko-KR" sz="3200" b="1">
                <a:solidFill>
                  <a:schemeClr val="bg1"/>
                </a:solidFill>
              </a:rPr>
              <a:t> </a:t>
            </a:r>
            <a:r>
              <a:rPr lang="ko-KR" altLang="en-US" sz="3200" b="1">
                <a:solidFill>
                  <a:schemeClr val="bg1"/>
                </a:solidFill>
              </a:rPr>
              <a:t>구축사업</a:t>
            </a:r>
            <a:r>
              <a:rPr lang="en-US" altLang="ko-KR" sz="3200" b="1">
                <a:solidFill>
                  <a:schemeClr val="bg1"/>
                </a:solidFill>
              </a:rPr>
              <a:t>(1/2)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9A3E31-ED16-42C6-BC10-927912BFD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69" y="1194318"/>
            <a:ext cx="9339813" cy="48052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735721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2928504" y="134470"/>
            <a:ext cx="6906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국가 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 구축사업</a:t>
            </a:r>
            <a:r>
              <a:rPr lang="en-US" altLang="ko-KR" sz="3200" b="1">
                <a:solidFill>
                  <a:schemeClr val="bg1"/>
                </a:solidFill>
              </a:rPr>
              <a:t>(2/2)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C3B7C-31BC-4906-9518-CE6E7C47B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002" y="1020856"/>
            <a:ext cx="8382281" cy="499733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340536-70D4-4911-AB40-9360C281FC3A}"/>
              </a:ext>
            </a:extLst>
          </p:cNvPr>
          <p:cNvSpPr txBox="1"/>
          <p:nvPr/>
        </p:nvSpPr>
        <p:spPr>
          <a:xfrm>
            <a:off x="2680447" y="1079040"/>
            <a:ext cx="566533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국가 초거대 </a:t>
            </a:r>
            <a:r>
              <a:rPr lang="en-US" altLang="ko-KR" b="1">
                <a:solidFill>
                  <a:srgbClr val="0070C0"/>
                </a:solidFill>
              </a:rPr>
              <a:t>AI</a:t>
            </a:r>
            <a:r>
              <a:rPr lang="ko-KR" altLang="en-US" b="1">
                <a:solidFill>
                  <a:srgbClr val="0070C0"/>
                </a:solidFill>
              </a:rPr>
              <a:t>플랫폼 구축 </a:t>
            </a:r>
            <a:r>
              <a:rPr lang="en-US" altLang="ko-KR" b="1">
                <a:solidFill>
                  <a:srgbClr val="0070C0"/>
                </a:solidFill>
              </a:rPr>
              <a:t>5</a:t>
            </a:r>
            <a:r>
              <a:rPr lang="ko-KR" altLang="en-US" b="1">
                <a:solidFill>
                  <a:srgbClr val="0070C0"/>
                </a:solidFill>
              </a:rPr>
              <a:t>대 컨소시험 현황</a:t>
            </a:r>
            <a:r>
              <a:rPr lang="en-US" altLang="ko-KR" b="1">
                <a:solidFill>
                  <a:srgbClr val="0070C0"/>
                </a:solidFill>
              </a:rPr>
              <a:t>(2025)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C84C82-A7C7-4619-A375-736C3FFEB013}"/>
              </a:ext>
            </a:extLst>
          </p:cNvPr>
          <p:cNvSpPr/>
          <p:nvPr/>
        </p:nvSpPr>
        <p:spPr>
          <a:xfrm>
            <a:off x="2360645" y="1079040"/>
            <a:ext cx="242596" cy="255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110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614296E-3677-4D86-A391-07116CAE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405" y="1014059"/>
            <a:ext cx="6476483" cy="52127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E1867C-3616-4FAD-9A14-A2DECFFF7251}"/>
              </a:ext>
            </a:extLst>
          </p:cNvPr>
          <p:cNvSpPr txBox="1"/>
          <p:nvPr/>
        </p:nvSpPr>
        <p:spPr>
          <a:xfrm>
            <a:off x="3248906" y="125505"/>
            <a:ext cx="6495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 생태계 구조</a:t>
            </a:r>
            <a:r>
              <a:rPr lang="en-US" altLang="ko-KR" sz="3200" b="1">
                <a:solidFill>
                  <a:schemeClr val="bg1"/>
                </a:solidFill>
              </a:rPr>
              <a:t>(1/2)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8ACE87-577E-4FA6-8B34-FEAC8FE75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93" y="4854108"/>
            <a:ext cx="3476625" cy="771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1EE2335-B44F-4400-B90B-7BB0216D4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368" y="2750839"/>
            <a:ext cx="2374855" cy="1718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463493-727E-4E3D-9A84-EBE06E5678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5191" y="1319093"/>
            <a:ext cx="3009900" cy="971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8899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E1867C-3616-4FAD-9A14-A2DECFFF7251}"/>
              </a:ext>
            </a:extLst>
          </p:cNvPr>
          <p:cNvSpPr txBox="1"/>
          <p:nvPr/>
        </p:nvSpPr>
        <p:spPr>
          <a:xfrm>
            <a:off x="3248906" y="125505"/>
            <a:ext cx="6495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초거대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플랫폼 생태계 구조</a:t>
            </a:r>
            <a:r>
              <a:rPr lang="en-US" altLang="ko-KR" sz="3200" b="1">
                <a:solidFill>
                  <a:schemeClr val="bg1"/>
                </a:solidFill>
              </a:rPr>
              <a:t>(2/2)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5518866-25FE-415E-AB9A-BBDC7EFD4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986" y="878585"/>
            <a:ext cx="4907508" cy="30283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12D2514-27EB-4C54-BF18-AA9A1BF7F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505" y="3121634"/>
            <a:ext cx="4718180" cy="30416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64A29D5B-7C68-43EF-84D4-32AD1AB0B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03" y="878585"/>
            <a:ext cx="5023711" cy="40434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4D7A70B-2198-4978-9309-E8E44079E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120" y="1251696"/>
            <a:ext cx="3016904" cy="18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22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E1867C-3616-4FAD-9A14-A2DECFFF7251}"/>
              </a:ext>
            </a:extLst>
          </p:cNvPr>
          <p:cNvSpPr txBox="1"/>
          <p:nvPr/>
        </p:nvSpPr>
        <p:spPr>
          <a:xfrm>
            <a:off x="4773446" y="115170"/>
            <a:ext cx="3191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AIaaS </a:t>
            </a:r>
            <a:r>
              <a:rPr lang="ko-KR" altLang="en-US" sz="3200" b="1">
                <a:solidFill>
                  <a:schemeClr val="bg1"/>
                </a:solidFill>
              </a:rPr>
              <a:t>구조</a:t>
            </a:r>
            <a:r>
              <a:rPr lang="en-US" altLang="ko-KR" sz="3200" b="1">
                <a:solidFill>
                  <a:schemeClr val="bg1"/>
                </a:solidFill>
              </a:rPr>
              <a:t>(1/2)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5AB10-F1F7-4CF0-AF62-38A699E8DE97}"/>
              </a:ext>
            </a:extLst>
          </p:cNvPr>
          <p:cNvSpPr txBox="1"/>
          <p:nvPr/>
        </p:nvSpPr>
        <p:spPr>
          <a:xfrm>
            <a:off x="198047" y="889700"/>
            <a:ext cx="3342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solidFill>
                  <a:srgbClr val="C00000"/>
                </a:solidFill>
              </a:rPr>
              <a:t>AIaaS</a:t>
            </a:r>
            <a:r>
              <a:rPr lang="en-US" altLang="ko-KR" sz="2800"/>
              <a:t>(</a:t>
            </a:r>
            <a:r>
              <a:rPr lang="en-US" altLang="ko-KR" sz="2000"/>
              <a:t>AI as a Service</a:t>
            </a:r>
            <a:r>
              <a:rPr lang="en-US" altLang="ko-KR" sz="2800"/>
              <a:t>)</a:t>
            </a:r>
            <a:endParaRPr lang="ko-KR" altLang="en-US" sz="280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0EA2013-30ED-4FEA-ABFB-5BFC5FEA1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372" y="1019518"/>
            <a:ext cx="7490572" cy="359976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864D572-2AE6-410A-B5CC-5524BE883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448" y="5117120"/>
            <a:ext cx="1809750" cy="219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F7E7870-5099-4674-A946-60DBA9FA6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446" y="5336195"/>
            <a:ext cx="2772056" cy="857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F205287-8EAC-4C53-976E-9FC9D8CA18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256" y="1536031"/>
            <a:ext cx="2914650" cy="3048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422D774-B5A0-453E-A08F-5C1D1F4F4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744" y="5590832"/>
            <a:ext cx="2352675" cy="24765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FEC9123-E12D-4D21-B91A-5EF5BEEF7CF6}"/>
              </a:ext>
            </a:extLst>
          </p:cNvPr>
          <p:cNvCxnSpPr/>
          <p:nvPr/>
        </p:nvCxnSpPr>
        <p:spPr>
          <a:xfrm>
            <a:off x="7529536" y="5714657"/>
            <a:ext cx="66616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058A486-18BB-4093-924D-CD462F2555DE}"/>
              </a:ext>
            </a:extLst>
          </p:cNvPr>
          <p:cNvCxnSpPr>
            <a:cxnSpLocks/>
          </p:cNvCxnSpPr>
          <p:nvPr/>
        </p:nvCxnSpPr>
        <p:spPr>
          <a:xfrm flipH="1" flipV="1">
            <a:off x="9090211" y="3876257"/>
            <a:ext cx="107576" cy="165922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A9F29B6-EF44-4D33-90D3-DC6340232924}"/>
              </a:ext>
            </a:extLst>
          </p:cNvPr>
          <p:cNvSpPr/>
          <p:nvPr/>
        </p:nvSpPr>
        <p:spPr>
          <a:xfrm>
            <a:off x="6018246" y="1940767"/>
            <a:ext cx="2052735" cy="2603241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AA31E0-B730-4B8D-B537-B0B65BBE00C5}"/>
              </a:ext>
            </a:extLst>
          </p:cNvPr>
          <p:cNvSpPr txBox="1"/>
          <p:nvPr/>
        </p:nvSpPr>
        <p:spPr>
          <a:xfrm>
            <a:off x="7318542" y="11975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사용자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E51CEBF-0F3D-4A43-90ED-63B0FE715D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256" y="2967417"/>
            <a:ext cx="1809750" cy="2149703"/>
          </a:xfrm>
          <a:prstGeom prst="rect">
            <a:avLst/>
          </a:prstGeom>
        </p:spPr>
      </p:pic>
      <p:sp>
        <p:nvSpPr>
          <p:cNvPr id="48" name="화살표: 위쪽/아래쪽 47">
            <a:extLst>
              <a:ext uri="{FF2B5EF4-FFF2-40B4-BE49-F238E27FC236}">
                <a16:creationId xmlns:a16="http://schemas.microsoft.com/office/drawing/2014/main" id="{CC74FB96-984F-4F2A-A34C-049FE48C9A49}"/>
              </a:ext>
            </a:extLst>
          </p:cNvPr>
          <p:cNvSpPr/>
          <p:nvPr/>
        </p:nvSpPr>
        <p:spPr>
          <a:xfrm>
            <a:off x="6848667" y="1688841"/>
            <a:ext cx="326573" cy="457200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화살표: 위쪽/아래쪽 48">
            <a:extLst>
              <a:ext uri="{FF2B5EF4-FFF2-40B4-BE49-F238E27FC236}">
                <a16:creationId xmlns:a16="http://schemas.microsoft.com/office/drawing/2014/main" id="{5D4F2C5B-7841-4CD0-BBFE-C47834C0023D}"/>
              </a:ext>
            </a:extLst>
          </p:cNvPr>
          <p:cNvSpPr/>
          <p:nvPr/>
        </p:nvSpPr>
        <p:spPr>
          <a:xfrm rot="16200000" flipH="1">
            <a:off x="5854960" y="2171173"/>
            <a:ext cx="326573" cy="457200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화살표: 위쪽/아래쪽 49">
            <a:extLst>
              <a:ext uri="{FF2B5EF4-FFF2-40B4-BE49-F238E27FC236}">
                <a16:creationId xmlns:a16="http://schemas.microsoft.com/office/drawing/2014/main" id="{05AA851A-9E49-4827-BFC3-94DCDD0B3EE7}"/>
              </a:ext>
            </a:extLst>
          </p:cNvPr>
          <p:cNvSpPr/>
          <p:nvPr/>
        </p:nvSpPr>
        <p:spPr>
          <a:xfrm>
            <a:off x="6881326" y="2785187"/>
            <a:ext cx="326573" cy="457200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636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1A5AB10-F1F7-4CF0-AF62-38A699E8DE97}"/>
              </a:ext>
            </a:extLst>
          </p:cNvPr>
          <p:cNvSpPr txBox="1"/>
          <p:nvPr/>
        </p:nvSpPr>
        <p:spPr>
          <a:xfrm>
            <a:off x="198047" y="889700"/>
            <a:ext cx="3342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solidFill>
                  <a:srgbClr val="C00000"/>
                </a:solidFill>
              </a:rPr>
              <a:t>AIaaS</a:t>
            </a:r>
            <a:r>
              <a:rPr lang="en-US" altLang="ko-KR" sz="2800"/>
              <a:t>(</a:t>
            </a:r>
            <a:r>
              <a:rPr lang="en-US" altLang="ko-KR" sz="2000"/>
              <a:t>AI as a Service</a:t>
            </a:r>
            <a:r>
              <a:rPr lang="en-US" altLang="ko-KR" sz="2800"/>
              <a:t>)</a:t>
            </a:r>
            <a:endParaRPr lang="ko-KR" altLang="en-US" sz="280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0EA2013-30ED-4FEA-ABFB-5BFC5FEA1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372" y="1019518"/>
            <a:ext cx="7490572" cy="359976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F205287-8EAC-4C53-976E-9FC9D8CA1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56" y="1536031"/>
            <a:ext cx="2914650" cy="30480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9A9F29B6-EF44-4D33-90D3-DC6340232924}"/>
              </a:ext>
            </a:extLst>
          </p:cNvPr>
          <p:cNvSpPr/>
          <p:nvPr/>
        </p:nvSpPr>
        <p:spPr>
          <a:xfrm>
            <a:off x="6018246" y="1940767"/>
            <a:ext cx="2052735" cy="2603241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AA31E0-B730-4B8D-B537-B0B65BBE00C5}"/>
              </a:ext>
            </a:extLst>
          </p:cNvPr>
          <p:cNvSpPr txBox="1"/>
          <p:nvPr/>
        </p:nvSpPr>
        <p:spPr>
          <a:xfrm>
            <a:off x="7318542" y="11975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사용자</a:t>
            </a:r>
          </a:p>
        </p:txBody>
      </p:sp>
      <p:sp>
        <p:nvSpPr>
          <p:cNvPr id="15" name="화살표: 위쪽/아래쪽 14">
            <a:extLst>
              <a:ext uri="{FF2B5EF4-FFF2-40B4-BE49-F238E27FC236}">
                <a16:creationId xmlns:a16="http://schemas.microsoft.com/office/drawing/2014/main" id="{ED560712-01D3-4011-8FFA-CF8823945B0E}"/>
              </a:ext>
            </a:extLst>
          </p:cNvPr>
          <p:cNvSpPr/>
          <p:nvPr/>
        </p:nvSpPr>
        <p:spPr>
          <a:xfrm>
            <a:off x="6848667" y="1688841"/>
            <a:ext cx="326573" cy="457200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ECCAB1-06CF-437E-A7B8-86E6C5E67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661" y="1631529"/>
            <a:ext cx="4062605" cy="6049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E96AEBC-844D-4C2D-8451-652463297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5661" y="2260630"/>
            <a:ext cx="3480579" cy="2477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화살표: 위쪽/아래쪽 17">
            <a:extLst>
              <a:ext uri="{FF2B5EF4-FFF2-40B4-BE49-F238E27FC236}">
                <a16:creationId xmlns:a16="http://schemas.microsoft.com/office/drawing/2014/main" id="{9C36BDB1-0F1F-46A9-8A30-B55113A721B5}"/>
              </a:ext>
            </a:extLst>
          </p:cNvPr>
          <p:cNvSpPr/>
          <p:nvPr/>
        </p:nvSpPr>
        <p:spPr>
          <a:xfrm>
            <a:off x="6881326" y="2785187"/>
            <a:ext cx="326573" cy="457200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위쪽/아래쪽 18">
            <a:extLst>
              <a:ext uri="{FF2B5EF4-FFF2-40B4-BE49-F238E27FC236}">
                <a16:creationId xmlns:a16="http://schemas.microsoft.com/office/drawing/2014/main" id="{F9D29382-CEE6-4005-9936-C3530FC46E29}"/>
              </a:ext>
            </a:extLst>
          </p:cNvPr>
          <p:cNvSpPr/>
          <p:nvPr/>
        </p:nvSpPr>
        <p:spPr>
          <a:xfrm rot="16200000" flipH="1">
            <a:off x="5854960" y="2171173"/>
            <a:ext cx="326573" cy="457200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758B69-680A-401D-B690-63F7415FB8C1}"/>
              </a:ext>
            </a:extLst>
          </p:cNvPr>
          <p:cNvSpPr txBox="1"/>
          <p:nvPr/>
        </p:nvSpPr>
        <p:spPr>
          <a:xfrm>
            <a:off x="4773446" y="115170"/>
            <a:ext cx="3191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AIaaS </a:t>
            </a:r>
            <a:r>
              <a:rPr lang="ko-KR" altLang="en-US" sz="3200" b="1">
                <a:solidFill>
                  <a:schemeClr val="bg1"/>
                </a:solidFill>
              </a:rPr>
              <a:t>구조</a:t>
            </a:r>
            <a:r>
              <a:rPr lang="en-US" altLang="ko-KR" sz="3200" b="1">
                <a:solidFill>
                  <a:schemeClr val="bg1"/>
                </a:solidFill>
              </a:rPr>
              <a:t>(2/2)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0002FD-3D10-4B44-951E-F4580BAFF4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8" y="3242387"/>
            <a:ext cx="2390775" cy="295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F4FC34-2080-4C5E-AD55-3866E1031D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8" y="3537662"/>
            <a:ext cx="3981450" cy="2276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1F513F-B93D-4EB6-81A7-150C7C6451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6965" y="5067336"/>
            <a:ext cx="2898275" cy="10420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8357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614296E-3677-4D86-A391-07116CAE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405" y="1014059"/>
            <a:ext cx="6476483" cy="52127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E1867C-3616-4FAD-9A14-A2DECFFF7251}"/>
              </a:ext>
            </a:extLst>
          </p:cNvPr>
          <p:cNvSpPr txBox="1"/>
          <p:nvPr/>
        </p:nvSpPr>
        <p:spPr>
          <a:xfrm>
            <a:off x="1676401" y="134470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(1/4)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39FE7E-975F-4394-881B-F6377D55D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848" y="1901917"/>
            <a:ext cx="2293515" cy="3459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87BBA87-C07D-4995-A976-5D55549EB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5848" y="3090022"/>
            <a:ext cx="3734863" cy="3302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264DBB-FD32-4941-A950-67A00B7E1751}"/>
              </a:ext>
            </a:extLst>
          </p:cNvPr>
          <p:cNvSpPr txBox="1"/>
          <p:nvPr/>
        </p:nvSpPr>
        <p:spPr>
          <a:xfrm>
            <a:off x="8633012" y="520849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대기업 영역</a:t>
            </a:r>
          </a:p>
        </p:txBody>
      </p:sp>
    </p:spTree>
    <p:extLst>
      <p:ext uri="{BB962C8B-B14F-4D97-AF65-F5344CB8AC3E}">
        <p14:creationId xmlns:p14="http://schemas.microsoft.com/office/powerpoint/2010/main" val="1724090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1676401" y="134470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(2/4)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251A0B-EC62-4270-A815-00D8199C5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73" y="1364876"/>
            <a:ext cx="5553075" cy="3733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3F07B3-A704-42CF-810C-70379CE6E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64876"/>
            <a:ext cx="5921915" cy="35430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A4E9EA-54E4-4738-B628-4FAD050C90E9}"/>
              </a:ext>
            </a:extLst>
          </p:cNvPr>
          <p:cNvSpPr txBox="1"/>
          <p:nvPr/>
        </p:nvSpPr>
        <p:spPr>
          <a:xfrm>
            <a:off x="370073" y="1364876"/>
            <a:ext cx="456554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종합지원형</a:t>
            </a:r>
            <a:r>
              <a:rPr lang="en-US" altLang="ko-KR" b="1">
                <a:solidFill>
                  <a:srgbClr val="0070C0"/>
                </a:solidFill>
              </a:rPr>
              <a:t>(Supply-driven, </a:t>
            </a:r>
            <a:r>
              <a:rPr lang="ko-KR" altLang="en-US" b="1">
                <a:solidFill>
                  <a:srgbClr val="0070C0"/>
                </a:solidFill>
              </a:rPr>
              <a:t>공급중심지원</a:t>
            </a:r>
            <a:r>
              <a:rPr lang="en-US" altLang="ko-KR" b="1">
                <a:solidFill>
                  <a:srgbClr val="0070C0"/>
                </a:solidFill>
              </a:rPr>
              <a:t>)</a:t>
            </a:r>
            <a:endParaRPr lang="ko-KR" altLang="en-US" b="1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D05EE-A3CD-4902-8E8E-78EB0D805927}"/>
              </a:ext>
            </a:extLst>
          </p:cNvPr>
          <p:cNvSpPr txBox="1"/>
          <p:nvPr/>
        </p:nvSpPr>
        <p:spPr>
          <a:xfrm>
            <a:off x="6147551" y="1395653"/>
            <a:ext cx="586102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0070C0"/>
                </a:solidFill>
              </a:rPr>
              <a:t>수요연계형</a:t>
            </a:r>
            <a:r>
              <a:rPr lang="en-US" altLang="ko-KR" sz="1600" b="1">
                <a:solidFill>
                  <a:srgbClr val="0070C0"/>
                </a:solidFill>
              </a:rPr>
              <a:t>(Demandy-driven, </a:t>
            </a:r>
            <a:r>
              <a:rPr lang="ko-KR" altLang="en-US" sz="1600" b="1">
                <a:solidFill>
                  <a:srgbClr val="0070C0"/>
                </a:solidFill>
              </a:rPr>
              <a:t>수요자 중심 서비스 개발 지원</a:t>
            </a:r>
            <a:r>
              <a:rPr lang="en-US" altLang="ko-KR" sz="1600" b="1">
                <a:solidFill>
                  <a:srgbClr val="0070C0"/>
                </a:solidFill>
              </a:rPr>
              <a:t>)</a:t>
            </a:r>
            <a:endParaRPr lang="ko-KR" altLang="en-US" sz="16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574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1810872" y="152399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(3/4)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AB8FBD-AFD5-4E27-A347-A7BEBFE0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386" y="1353911"/>
            <a:ext cx="9548833" cy="25969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C5C817-DB53-40C8-81ED-7E87BA86C85F}"/>
              </a:ext>
            </a:extLst>
          </p:cNvPr>
          <p:cNvSpPr txBox="1"/>
          <p:nvPr/>
        </p:nvSpPr>
        <p:spPr>
          <a:xfrm>
            <a:off x="1401386" y="1381904"/>
            <a:ext cx="784060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0070C0"/>
                </a:solidFill>
              </a:rPr>
              <a:t>구분                                 종합지원형                                        수요연계형</a:t>
            </a:r>
          </a:p>
        </p:txBody>
      </p:sp>
    </p:spTree>
    <p:extLst>
      <p:ext uri="{BB962C8B-B14F-4D97-AF65-F5344CB8AC3E}">
        <p14:creationId xmlns:p14="http://schemas.microsoft.com/office/powerpoint/2010/main" val="4198414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1676401" y="134470"/>
            <a:ext cx="8980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</a:rPr>
              <a:t>AI </a:t>
            </a:r>
            <a:r>
              <a:rPr lang="ko-KR" altLang="en-US" sz="3200" b="1">
                <a:solidFill>
                  <a:schemeClr val="bg1"/>
                </a:solidFill>
              </a:rPr>
              <a:t>응용 스타트업 육성과 대기업 협업 방안</a:t>
            </a:r>
            <a:r>
              <a:rPr lang="en-US" altLang="ko-KR" sz="3200" b="1">
                <a:solidFill>
                  <a:schemeClr val="bg1"/>
                </a:solidFill>
              </a:rPr>
              <a:t>(4/4)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46240-D1EA-4586-BBEC-8E2DE12FF2D5}"/>
              </a:ext>
            </a:extLst>
          </p:cNvPr>
          <p:cNvSpPr txBox="1"/>
          <p:nvPr/>
        </p:nvSpPr>
        <p:spPr>
          <a:xfrm>
            <a:off x="3101790" y="959223"/>
            <a:ext cx="586250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0070C0"/>
                </a:solidFill>
              </a:rPr>
              <a:t>과학기술정보통신부</a:t>
            </a:r>
            <a:r>
              <a:rPr lang="en-US" altLang="ko-KR" sz="1600" b="1">
                <a:solidFill>
                  <a:srgbClr val="0070C0"/>
                </a:solidFill>
              </a:rPr>
              <a:t>/</a:t>
            </a:r>
            <a:r>
              <a:rPr lang="ko-KR" altLang="en-US" sz="1600" b="1">
                <a:solidFill>
                  <a:srgbClr val="0070C0"/>
                </a:solidFill>
              </a:rPr>
              <a:t>한국지능정보사회진흥원</a:t>
            </a:r>
            <a:r>
              <a:rPr lang="en-US" altLang="ko-KR" sz="1600" b="1">
                <a:solidFill>
                  <a:srgbClr val="0070C0"/>
                </a:solidFill>
              </a:rPr>
              <a:t>(NIA)</a:t>
            </a:r>
            <a:r>
              <a:rPr lang="ko-KR" altLang="en-US" sz="1600" b="1">
                <a:solidFill>
                  <a:srgbClr val="0070C0"/>
                </a:solidFill>
              </a:rPr>
              <a:t> 중심 사업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C848B9-269E-4302-9FB0-5E2933C50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077" y="1350432"/>
            <a:ext cx="8870668" cy="46806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792894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(1/4)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FE3B4D-47FC-40F0-BA71-4E43AB967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214" y="1307291"/>
            <a:ext cx="9677685" cy="21963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3FE3A7-AD07-4CDD-A699-4B445A518402}"/>
              </a:ext>
            </a:extLst>
          </p:cNvPr>
          <p:cNvSpPr txBox="1"/>
          <p:nvPr/>
        </p:nvSpPr>
        <p:spPr>
          <a:xfrm>
            <a:off x="1266101" y="1316622"/>
            <a:ext cx="226554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0070C0"/>
                </a:solidFill>
              </a:rPr>
              <a:t> 수익모델</a:t>
            </a:r>
          </a:p>
        </p:txBody>
      </p:sp>
    </p:spTree>
    <p:extLst>
      <p:ext uri="{BB962C8B-B14F-4D97-AF65-F5344CB8AC3E}">
        <p14:creationId xmlns:p14="http://schemas.microsoft.com/office/powerpoint/2010/main" val="1184768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(2/4)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Picture 0">
            <a:extLst>
              <a:ext uri="{FF2B5EF4-FFF2-40B4-BE49-F238E27FC236}">
                <a16:creationId xmlns:a16="http://schemas.microsoft.com/office/drawing/2014/main" id="{5E97600F-E178-471D-AD82-5A0D1EEAC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0056" y="1881598"/>
            <a:ext cx="5892459" cy="391989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F7E36-D5DB-46AD-B55F-6AC8187C9076}"/>
              </a:ext>
            </a:extLst>
          </p:cNvPr>
          <p:cNvSpPr txBox="1"/>
          <p:nvPr/>
        </p:nvSpPr>
        <p:spPr>
          <a:xfrm>
            <a:off x="594296" y="989046"/>
            <a:ext cx="5182359" cy="892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C00000"/>
                </a:solidFill>
              </a:rPr>
              <a:t> </a:t>
            </a:r>
            <a:r>
              <a:rPr lang="en-US" altLang="ko-KR" sz="2400" b="1">
                <a:solidFill>
                  <a:srgbClr val="0070C0"/>
                </a:solidFill>
              </a:rPr>
              <a:t>Ron Meyer</a:t>
            </a:r>
            <a:r>
              <a:rPr lang="ko-KR" altLang="en-US" sz="2400" b="1">
                <a:solidFill>
                  <a:srgbClr val="0070C0"/>
                </a:solidFill>
              </a:rPr>
              <a:t>의</a:t>
            </a:r>
            <a:r>
              <a:rPr lang="ko-KR" altLang="en-US" sz="2400" b="1">
                <a:solidFill>
                  <a:srgbClr val="C00000"/>
                </a:solidFill>
              </a:rPr>
              <a:t> </a:t>
            </a:r>
            <a:endParaRPr lang="en-US" altLang="ko-KR" sz="2400" b="1">
              <a:solidFill>
                <a:srgbClr val="C00000"/>
              </a:solidFill>
            </a:endParaRPr>
          </a:p>
          <a:p>
            <a:pPr algn="ctr"/>
            <a:r>
              <a:rPr lang="ko-KR" altLang="en-US" sz="2800" b="1">
                <a:solidFill>
                  <a:srgbClr val="C00000"/>
                </a:solidFill>
              </a:rPr>
              <a:t>수익모델 프레임워크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1E9D8F-D089-47C1-BDA1-48103075A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872" y="877079"/>
            <a:ext cx="4006897" cy="53831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C614EFE5-8323-4831-8AC7-D5C9E5D2896B}"/>
              </a:ext>
            </a:extLst>
          </p:cNvPr>
          <p:cNvSpPr/>
          <p:nvPr/>
        </p:nvSpPr>
        <p:spPr>
          <a:xfrm flipH="1">
            <a:off x="6282515" y="3324229"/>
            <a:ext cx="578498" cy="584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36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(3/4)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503244-DA07-4F42-804B-817707ED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004" y="1077425"/>
            <a:ext cx="7381875" cy="35242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E6798B-EEE5-4577-8DF3-D0178FF77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123" y="4818249"/>
            <a:ext cx="3626846" cy="53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35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4285130" y="143434"/>
            <a:ext cx="4971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수익모델 프레임워크</a:t>
            </a:r>
            <a:r>
              <a:rPr lang="en-US" altLang="ko-KR" sz="3200" b="1">
                <a:solidFill>
                  <a:schemeClr val="bg1"/>
                </a:solidFill>
              </a:rPr>
              <a:t>(4/4)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42285A-65F6-4AD7-9B8B-17A70DDD3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961" y="1207433"/>
            <a:ext cx="8162925" cy="39052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7C606E-5472-4F2F-9388-9D5CA1698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420" y="5239573"/>
            <a:ext cx="6023588" cy="27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11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(1/7)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B8E8B-D413-45F6-B7B4-D12FE29137C9}"/>
              </a:ext>
            </a:extLst>
          </p:cNvPr>
          <p:cNvSpPr txBox="1"/>
          <p:nvPr/>
        </p:nvSpPr>
        <p:spPr>
          <a:xfrm>
            <a:off x="4225204" y="1117046"/>
            <a:ext cx="444544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70C0"/>
                </a:solidFill>
              </a:rPr>
              <a:t>FUS </a:t>
            </a:r>
            <a:r>
              <a:rPr lang="ko-KR" altLang="en-US" sz="2400" b="1">
                <a:solidFill>
                  <a:srgbClr val="0070C0"/>
                </a:solidFill>
              </a:rPr>
              <a:t>수익모델 전략              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36CFC4-CECA-4BBC-B025-1CF21E0B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275" y="1578711"/>
            <a:ext cx="9487672" cy="33700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280077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(2/7)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97A2326-0853-41D9-B200-03E208FAD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598" y="981635"/>
            <a:ext cx="21717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63D4C-ADC9-4EDA-A030-CBA04754B042}"/>
              </a:ext>
            </a:extLst>
          </p:cNvPr>
          <p:cNvSpPr txBox="1"/>
          <p:nvPr/>
        </p:nvSpPr>
        <p:spPr>
          <a:xfrm>
            <a:off x="3880598" y="900970"/>
            <a:ext cx="330834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B050"/>
                </a:solidFill>
              </a:rPr>
              <a:t>F</a:t>
            </a:r>
            <a:r>
              <a:rPr lang="en-US" altLang="ko-KR" sz="2400" b="1">
                <a:solidFill>
                  <a:srgbClr val="C00000"/>
                </a:solidFill>
              </a:rPr>
              <a:t>: Friction(</a:t>
            </a:r>
            <a:r>
              <a:rPr lang="ko-KR" altLang="en-US" sz="2400" b="1">
                <a:solidFill>
                  <a:srgbClr val="C00000"/>
                </a:solidFill>
              </a:rPr>
              <a:t>마찰</a:t>
            </a:r>
            <a:r>
              <a:rPr lang="en-US" altLang="ko-KR" sz="2400" b="1">
                <a:solidFill>
                  <a:srgbClr val="C00000"/>
                </a:solidFill>
              </a:rPr>
              <a:t>) </a:t>
            </a:r>
            <a:r>
              <a:rPr lang="ko-KR" altLang="en-US" sz="2400" b="1">
                <a:solidFill>
                  <a:srgbClr val="C00000"/>
                </a:solidFill>
              </a:rPr>
              <a:t>개념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09F5B1-8210-45B4-BD9A-4EB0EC214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611" y="1362635"/>
            <a:ext cx="5638836" cy="48576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871473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(3/7)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AC8195A-F0E7-4F0C-9E6E-221304750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64" y="1088091"/>
            <a:ext cx="31242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05639-0D63-4DE7-8FA0-E5879861D427}"/>
              </a:ext>
            </a:extLst>
          </p:cNvPr>
          <p:cNvSpPr txBox="1"/>
          <p:nvPr/>
        </p:nvSpPr>
        <p:spPr>
          <a:xfrm>
            <a:off x="3109633" y="1028708"/>
            <a:ext cx="484780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B050"/>
                </a:solidFill>
              </a:rPr>
              <a:t>U</a:t>
            </a:r>
            <a:r>
              <a:rPr lang="en-US" altLang="ko-KR" sz="2400" b="1">
                <a:solidFill>
                  <a:srgbClr val="C00000"/>
                </a:solidFill>
              </a:rPr>
              <a:t>: Unit Economics(</a:t>
            </a:r>
            <a:r>
              <a:rPr lang="ko-KR" altLang="en-US" sz="2400" b="1">
                <a:solidFill>
                  <a:srgbClr val="C00000"/>
                </a:solidFill>
              </a:rPr>
              <a:t>단위경제학</a:t>
            </a:r>
            <a:r>
              <a:rPr lang="en-US" altLang="ko-KR" sz="2400" b="1">
                <a:solidFill>
                  <a:srgbClr val="C00000"/>
                </a:solidFill>
              </a:rPr>
              <a:t>) </a:t>
            </a:r>
            <a:r>
              <a:rPr lang="ko-KR" altLang="en-US" sz="2400" b="1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BB11CC-682D-4812-86BE-686265F3A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558" y="1549756"/>
            <a:ext cx="6573371" cy="45245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821587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(4/7)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AC8195A-F0E7-4F0C-9E6E-221304750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64" y="1088091"/>
            <a:ext cx="31242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05639-0D63-4DE7-8FA0-E5879861D427}"/>
              </a:ext>
            </a:extLst>
          </p:cNvPr>
          <p:cNvSpPr txBox="1"/>
          <p:nvPr/>
        </p:nvSpPr>
        <p:spPr>
          <a:xfrm>
            <a:off x="3109633" y="1028708"/>
            <a:ext cx="393889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B050"/>
                </a:solidFill>
              </a:rPr>
              <a:t>S</a:t>
            </a:r>
            <a:r>
              <a:rPr lang="en-US" altLang="ko-KR" sz="2400" b="1">
                <a:solidFill>
                  <a:srgbClr val="C00000"/>
                </a:solidFill>
              </a:rPr>
              <a:t>: Sellability(</a:t>
            </a:r>
            <a:r>
              <a:rPr lang="ko-KR" altLang="en-US" sz="2400" b="1">
                <a:solidFill>
                  <a:srgbClr val="C00000"/>
                </a:solidFill>
              </a:rPr>
              <a:t>판매가능성</a:t>
            </a:r>
            <a:r>
              <a:rPr lang="en-US" altLang="ko-KR" sz="2400" b="1">
                <a:solidFill>
                  <a:srgbClr val="C00000"/>
                </a:solidFill>
              </a:rPr>
              <a:t>) </a:t>
            </a:r>
            <a:r>
              <a:rPr lang="ko-KR" altLang="en-US" sz="2400" b="1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1B21B2-6E58-4DE7-A552-42DF291B1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856" y="1490373"/>
            <a:ext cx="5828179" cy="41552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589517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(5/7)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12A5D2-AAD0-4E19-8D1B-50ED32EF6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852" y="1554439"/>
            <a:ext cx="8466884" cy="44469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05A7B2-1DB0-4E82-A6BD-7ADA4D521F91}"/>
              </a:ext>
            </a:extLst>
          </p:cNvPr>
          <p:cNvSpPr txBox="1"/>
          <p:nvPr/>
        </p:nvSpPr>
        <p:spPr>
          <a:xfrm>
            <a:off x="3001999" y="1092774"/>
            <a:ext cx="548259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70C0"/>
                </a:solidFill>
              </a:rPr>
              <a:t>FUS </a:t>
            </a:r>
            <a:r>
              <a:rPr lang="ko-KR" altLang="en-US" sz="2400" b="1">
                <a:solidFill>
                  <a:srgbClr val="0070C0"/>
                </a:solidFill>
              </a:rPr>
              <a:t>수익모델 프레임워크 전체 구조</a:t>
            </a:r>
            <a:r>
              <a:rPr lang="en-US" altLang="ko-KR" sz="2400" b="1">
                <a:solidFill>
                  <a:srgbClr val="0070C0"/>
                </a:solidFill>
              </a:rPr>
              <a:t> </a:t>
            </a:r>
            <a:r>
              <a:rPr lang="ko-KR" altLang="en-US" sz="2400" b="1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4421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(6/7)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DC7E55-7337-40FA-868B-CA29ED36D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642" y="1559281"/>
            <a:ext cx="4632301" cy="42011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D38BD5-8CBD-4D71-9521-8BADB5038612}"/>
              </a:ext>
            </a:extLst>
          </p:cNvPr>
          <p:cNvSpPr txBox="1"/>
          <p:nvPr/>
        </p:nvSpPr>
        <p:spPr>
          <a:xfrm>
            <a:off x="3514664" y="1097616"/>
            <a:ext cx="400622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70C0"/>
                </a:solidFill>
              </a:rPr>
              <a:t>수익모델 점검 체크리스트</a:t>
            </a:r>
            <a:r>
              <a:rPr lang="en-US" altLang="ko-KR" sz="2400" b="1">
                <a:solidFill>
                  <a:srgbClr val="0070C0"/>
                </a:solidFill>
              </a:rPr>
              <a:t> </a:t>
            </a:r>
            <a:r>
              <a:rPr lang="ko-KR" altLang="en-US" sz="2400" b="1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5768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3361766" y="152399"/>
            <a:ext cx="5936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스타트업의 수익모델 전략</a:t>
            </a:r>
            <a:r>
              <a:rPr lang="en-US" altLang="ko-KR" sz="3200" b="1">
                <a:solidFill>
                  <a:schemeClr val="bg1"/>
                </a:solidFill>
              </a:rPr>
              <a:t>(7/7)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FB1698-8003-4459-BD84-3B514940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424" y="1575644"/>
            <a:ext cx="6162967" cy="37067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05C4A8-3096-4A4E-BA3C-B89D041FB5EC}"/>
              </a:ext>
            </a:extLst>
          </p:cNvPr>
          <p:cNvSpPr txBox="1"/>
          <p:nvPr/>
        </p:nvSpPr>
        <p:spPr>
          <a:xfrm>
            <a:off x="5420663" y="1030722"/>
            <a:ext cx="9092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70C0"/>
                </a:solidFill>
              </a:rPr>
              <a:t>제 언</a:t>
            </a:r>
          </a:p>
        </p:txBody>
      </p:sp>
    </p:spTree>
    <p:extLst>
      <p:ext uri="{BB962C8B-B14F-4D97-AF65-F5344CB8AC3E}">
        <p14:creationId xmlns:p14="http://schemas.microsoft.com/office/powerpoint/2010/main" val="2694209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7AE04-5CEE-403C-85B3-C1A825A02C93}"/>
              </a:ext>
            </a:extLst>
          </p:cNvPr>
          <p:cNvSpPr txBox="1"/>
          <p:nvPr/>
        </p:nvSpPr>
        <p:spPr>
          <a:xfrm>
            <a:off x="5011272" y="17032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참고자료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1A37D-0575-4304-9CE0-74F6502F0E7B}"/>
              </a:ext>
            </a:extLst>
          </p:cNvPr>
          <p:cNvSpPr txBox="1"/>
          <p:nvPr/>
        </p:nvSpPr>
        <p:spPr>
          <a:xfrm>
            <a:off x="421341" y="986118"/>
            <a:ext cx="10484345" cy="27741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/>
              <a:t>• </a:t>
            </a:r>
            <a:r>
              <a:rPr lang="ko-KR" altLang="en-US"/>
              <a:t>이재명정부 국정과제</a:t>
            </a:r>
            <a:r>
              <a:rPr lang="en-US" altLang="ko-KR"/>
              <a:t>: </a:t>
            </a:r>
            <a:r>
              <a:rPr lang="en-US" altLang="ko-KR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https://www.korea.kr/govVision/</a:t>
            </a:r>
            <a:endParaRPr lang="ko-KR" altLang="en-US"/>
          </a:p>
          <a:p>
            <a:pPr>
              <a:lnSpc>
                <a:spcPct val="200000"/>
              </a:lnSpc>
            </a:pPr>
            <a:r>
              <a:rPr lang="en-US" altLang="ko-KR"/>
              <a:t>• </a:t>
            </a:r>
            <a:r>
              <a:rPr lang="ko-KR" altLang="en-US"/>
              <a:t>수익모델 프레임워크</a:t>
            </a:r>
            <a:r>
              <a:rPr lang="en-US" altLang="ko-KR"/>
              <a:t>: </a:t>
            </a:r>
            <a:r>
              <a:rPr lang="en-US" altLang="ko-KR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https://acquiredentrepreneur.tistory.com/42</a:t>
            </a:r>
            <a:endParaRPr lang="ko-KR" altLang="en-US"/>
          </a:p>
          <a:p>
            <a:pPr>
              <a:lnSpc>
                <a:spcPct val="200000"/>
              </a:lnSpc>
            </a:pPr>
            <a:r>
              <a:rPr lang="en-US" altLang="ko-KR"/>
              <a:t>• </a:t>
            </a:r>
            <a:r>
              <a:rPr lang="ko-KR" altLang="en-US"/>
              <a:t>스타트업의 수익모델</a:t>
            </a:r>
            <a:r>
              <a:rPr lang="en-US" altLang="ko-KR"/>
              <a:t>: </a:t>
            </a:r>
            <a:r>
              <a:rPr lang="en-US" altLang="ko-KR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https://maily.so/mystartup/posts/72qzp32wr4x</a:t>
            </a:r>
            <a:endParaRPr lang="ko-KR" altLang="en-US"/>
          </a:p>
          <a:p>
            <a:r>
              <a:rPr lang="en-US" altLang="ko-KR"/>
              <a:t>• </a:t>
            </a:r>
            <a:r>
              <a:rPr lang="ko-KR" altLang="en-US"/>
              <a:t>민간의 첨단 초거대 인공지능 활용지원 사업 </a:t>
            </a:r>
            <a:r>
              <a:rPr lang="en-US" altLang="ko-KR"/>
              <a:t>:</a:t>
            </a:r>
          </a:p>
          <a:p>
            <a:r>
              <a:rPr lang="en-US" altLang="ko-KR"/>
              <a:t> </a:t>
            </a:r>
            <a:r>
              <a:rPr lang="en-US" altLang="ko-KR" sz="1600"/>
              <a:t>https://www.msit.go.kr/bbs/view.do?sCode=user&amp;nttSeqNo=3178371&amp;bbsSeqNo=100&amp;mId=129&amp;mPid=224</a:t>
            </a:r>
          </a:p>
          <a:p>
            <a:pPr>
              <a:lnSpc>
                <a:spcPct val="200000"/>
              </a:lnSpc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424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">
            <a:extLst>
              <a:ext uri="{FF2B5EF4-FFF2-40B4-BE49-F238E27FC236}">
                <a16:creationId xmlns:a16="http://schemas.microsoft.com/office/drawing/2014/main" id="{2DB29A70-DB06-4203-9F65-D6C3B13B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65388"/>
            <a:ext cx="4233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6000" b="1">
                <a:solidFill>
                  <a:srgbClr val="0070C0"/>
                </a:solidFill>
              </a:rPr>
              <a:t>감사합니다</a:t>
            </a:r>
            <a:r>
              <a:rPr lang="en-US" altLang="ko-KR" sz="6000" b="1">
                <a:solidFill>
                  <a:srgbClr val="0070C0"/>
                </a:solidFill>
              </a:rPr>
              <a:t>.</a:t>
            </a:r>
            <a:endParaRPr lang="ko-KR" altLang="en-US" sz="60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3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9218</TotalTime>
  <Words>575</Words>
  <Application>Microsoft Office PowerPoint</Application>
  <PresentationFormat>와이드스크린</PresentationFormat>
  <Paragraphs>123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나눔고딕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1050</cp:revision>
  <dcterms:created xsi:type="dcterms:W3CDTF">2024-09-09T09:01:14Z</dcterms:created>
  <dcterms:modified xsi:type="dcterms:W3CDTF">2025-12-12T04:24:02Z</dcterms:modified>
</cp:coreProperties>
</file>